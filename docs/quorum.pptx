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B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8138160" y="-822960"/>
            <a:ext cx="5120640" cy="5120640"/>
          </a:xfrm>
          <a:prstGeom prst="ellipse">
            <a:avLst/>
          </a:prstGeom>
          <a:solidFill>
            <a:srgbClr val="222C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9692640" y="3566160"/>
            <a:ext cx="3108960" cy="3108960"/>
          </a:xfrm>
          <a:prstGeom prst="ellipse">
            <a:avLst/>
          </a:prstGeom>
          <a:solidFill>
            <a:srgbClr val="2C2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1051560"/>
            <a:ext cx="7132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300" b="1">
                <a:solidFill>
                  <a:srgbClr val="14B8A6"/>
                </a:solidFill>
                <a:latin typeface="Segoe UI"/>
              </a:rPr>
              <a:t>BIODREAM LLC  ·  FINAL OVERVIEW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1463040"/>
            <a:ext cx="713232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6600" b="1">
                <a:solidFill>
                  <a:srgbClr val="FFFFFF"/>
                </a:solidFill>
                <a:latin typeface="Segoe UI"/>
              </a:rPr>
              <a:t>quorum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2606040"/>
            <a:ext cx="694944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1">
                <a:solidFill>
                  <a:srgbClr val="E4E9F2"/>
                </a:solidFill>
                <a:latin typeface="Segoe UI"/>
              </a:rPr>
              <a:t>A tiny, honest judge for machines.</a:t>
            </a:r>
          </a:p>
          <a:p>
            <a:pPr algn="l">
              <a:lnSpc>
                <a:spcPct val="115000"/>
              </a:lnSpc>
              <a:spcBef>
                <a:spcPts val="1000"/>
              </a:spcBef>
            </a:pPr>
            <a:r>
              <a:rPr sz="1500" b="0">
                <a:solidFill>
                  <a:srgbClr val="94A3B8"/>
                </a:solidFill>
                <a:latin typeface="Segoe UI"/>
              </a:rPr>
              <a:t>It reads a machine's sensors, weighs the evidence like a courtroom, gives one clear answer with its reasons, and was checked against every situation before it was allowed to run.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" y="4617720"/>
            <a:ext cx="1645920" cy="402336"/>
          </a:xfrm>
          <a:prstGeom prst="round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96112" y="4713732"/>
            <a:ext cx="1499616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Segoe UI"/>
              </a:rPr>
              <a:t>Plain-English rules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606040" y="4617720"/>
            <a:ext cx="1645920" cy="402336"/>
          </a:xfrm>
          <a:prstGeom prst="roundRect">
            <a:avLst/>
          </a:prstGeom>
          <a:solidFill>
            <a:srgbClr val="6C4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679192" y="4713732"/>
            <a:ext cx="1499616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Segoe UI"/>
              </a:rPr>
              <a:t>Checks every case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389120" y="4617720"/>
            <a:ext cx="1645920" cy="402336"/>
          </a:xfrm>
          <a:prstGeom prst="round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462272" y="4713732"/>
            <a:ext cx="1499616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Segoe UI"/>
              </a:rPr>
              <a:t>Explains itself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72200" y="4617720"/>
            <a:ext cx="1645920" cy="402336"/>
          </a:xfrm>
          <a:prstGeom prst="roundRect">
            <a:avLst/>
          </a:prstGeom>
          <a:solidFill>
            <a:srgbClr val="2E8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245352" y="4713732"/>
            <a:ext cx="1499616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Segoe UI"/>
              </a:rPr>
              <a:t>Runs on an $11 chip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" y="5806440"/>
            <a:ext cx="7315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200" b="0">
                <a:solidFill>
                  <a:srgbClr val="94A3B8"/>
                </a:solidFill>
                <a:latin typeface="Segoe UI"/>
              </a:rPr>
              <a:t>What it is  ·  what it does  ·  the problems it solves  ·  where else it fits  ·  where it stands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298744" y="2221992"/>
            <a:ext cx="109024" cy="109728"/>
          </a:xfrm>
          <a:prstGeom prst="rect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9298744" y="3749040"/>
            <a:ext cx="109024" cy="109728"/>
          </a:xfrm>
          <a:prstGeom prst="rect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9516793" y="2221992"/>
            <a:ext cx="109024" cy="109728"/>
          </a:xfrm>
          <a:prstGeom prst="rect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9516793" y="3749040"/>
            <a:ext cx="109024" cy="109728"/>
          </a:xfrm>
          <a:prstGeom prst="rect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9734843" y="2221992"/>
            <a:ext cx="109024" cy="109728"/>
          </a:xfrm>
          <a:prstGeom prst="rect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9734843" y="3749040"/>
            <a:ext cx="109024" cy="109728"/>
          </a:xfrm>
          <a:prstGeom prst="rect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9952892" y="2221992"/>
            <a:ext cx="109024" cy="109728"/>
          </a:xfrm>
          <a:prstGeom prst="rect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9952892" y="3749040"/>
            <a:ext cx="109024" cy="109728"/>
          </a:xfrm>
          <a:prstGeom prst="rect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10170941" y="2221992"/>
            <a:ext cx="109024" cy="109728"/>
          </a:xfrm>
          <a:prstGeom prst="rect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10170941" y="3749040"/>
            <a:ext cx="109024" cy="109728"/>
          </a:xfrm>
          <a:prstGeom prst="rect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10388990" y="2221992"/>
            <a:ext cx="109024" cy="109728"/>
          </a:xfrm>
          <a:prstGeom prst="rect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10388990" y="3749040"/>
            <a:ext cx="109024" cy="109728"/>
          </a:xfrm>
          <a:prstGeom prst="rect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9079992" y="2440744"/>
            <a:ext cx="109728" cy="109024"/>
          </a:xfrm>
          <a:prstGeom prst="rect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10607040" y="2440744"/>
            <a:ext cx="109728" cy="109024"/>
          </a:xfrm>
          <a:prstGeom prst="rect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9079992" y="2658793"/>
            <a:ext cx="109728" cy="109024"/>
          </a:xfrm>
          <a:prstGeom prst="rect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10607040" y="2658793"/>
            <a:ext cx="109728" cy="109024"/>
          </a:xfrm>
          <a:prstGeom prst="rect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9079992" y="2876843"/>
            <a:ext cx="109728" cy="109024"/>
          </a:xfrm>
          <a:prstGeom prst="rect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10607040" y="2876843"/>
            <a:ext cx="109728" cy="109024"/>
          </a:xfrm>
          <a:prstGeom prst="rect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9079992" y="3094892"/>
            <a:ext cx="109728" cy="109024"/>
          </a:xfrm>
          <a:prstGeom prst="rect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10607040" y="3094892"/>
            <a:ext cx="109728" cy="109024"/>
          </a:xfrm>
          <a:prstGeom prst="rect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9079992" y="3312941"/>
            <a:ext cx="109728" cy="109024"/>
          </a:xfrm>
          <a:prstGeom prst="rect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10607040" y="3312941"/>
            <a:ext cx="109728" cy="109024"/>
          </a:xfrm>
          <a:prstGeom prst="rect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9079992" y="3530990"/>
            <a:ext cx="109728" cy="109024"/>
          </a:xfrm>
          <a:prstGeom prst="rect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10607040" y="3530990"/>
            <a:ext cx="109728" cy="109024"/>
          </a:xfrm>
          <a:prstGeom prst="rect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2" name="Rounded Rectangle 41"/>
          <p:cNvSpPr/>
          <p:nvPr/>
        </p:nvSpPr>
        <p:spPr>
          <a:xfrm>
            <a:off x="9189720" y="2331720"/>
            <a:ext cx="1417320" cy="1417320"/>
          </a:xfrm>
          <a:prstGeom prst="roundRect">
            <a:avLst/>
          </a:prstGeom>
          <a:solidFill>
            <a:srgbClr val="1F29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3" name="Oval 42"/>
          <p:cNvSpPr/>
          <p:nvPr/>
        </p:nvSpPr>
        <p:spPr>
          <a:xfrm>
            <a:off x="9272016" y="2414016"/>
            <a:ext cx="100584" cy="100584"/>
          </a:xfrm>
          <a:prstGeom prst="ellipse">
            <a:avLst/>
          </a:prstGeom>
          <a:solidFill>
            <a:srgbClr val="3741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9189720" y="2686050"/>
            <a:ext cx="1417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</a:pPr>
            <a:r>
              <a:rPr sz="1500" b="1">
                <a:solidFill>
                  <a:srgbClr val="FFFFFF"/>
                </a:solidFill>
                <a:latin typeface="Segoe UI"/>
              </a:rPr>
              <a:t>quorum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189720" y="3153765"/>
            <a:ext cx="1417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</a:pPr>
            <a:r>
              <a:rPr sz="950" b="0">
                <a:solidFill>
                  <a:srgbClr val="E4E9F2"/>
                </a:solidFill>
                <a:latin typeface="Segoe UI"/>
              </a:rPr>
              <a:t>on a chip</a:t>
            </a:r>
          </a:p>
        </p:txBody>
      </p:sp>
      <p:sp>
        <p:nvSpPr>
          <p:cNvPr id="46" name="Oval 45"/>
          <p:cNvSpPr/>
          <p:nvPr/>
        </p:nvSpPr>
        <p:spPr>
          <a:xfrm>
            <a:off x="8001000" y="1325880"/>
            <a:ext cx="530352" cy="530352"/>
          </a:xfrm>
          <a:prstGeom prst="ellipse">
            <a:avLst/>
          </a:prstGeom>
          <a:solidFill>
            <a:srgbClr val="2E8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7" name="Oval 46"/>
          <p:cNvSpPr/>
          <p:nvPr/>
        </p:nvSpPr>
        <p:spPr>
          <a:xfrm>
            <a:off x="8165592" y="1490472"/>
            <a:ext cx="201168" cy="201168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cxnSp>
        <p:nvCxnSpPr>
          <p:cNvPr id="48" name="Connector 47"/>
          <p:cNvCxnSpPr/>
          <p:nvPr/>
        </p:nvCxnSpPr>
        <p:spPr>
          <a:xfrm>
            <a:off x="8549640" y="1591056"/>
            <a:ext cx="502920" cy="1444752"/>
          </a:xfrm>
          <a:prstGeom prst="line">
            <a:avLst/>
          </a:prstGeom>
          <a:ln w="25400">
            <a:solidFill>
              <a:srgbClr val="94A3B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Oval 48"/>
          <p:cNvSpPr/>
          <p:nvPr/>
        </p:nvSpPr>
        <p:spPr>
          <a:xfrm>
            <a:off x="8001000" y="2697480"/>
            <a:ext cx="530352" cy="530352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0" name="Oval 49"/>
          <p:cNvSpPr/>
          <p:nvPr/>
        </p:nvSpPr>
        <p:spPr>
          <a:xfrm>
            <a:off x="8165592" y="2862072"/>
            <a:ext cx="201168" cy="201168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cxnSp>
        <p:nvCxnSpPr>
          <p:cNvPr id="51" name="Connector 50"/>
          <p:cNvCxnSpPr/>
          <p:nvPr/>
        </p:nvCxnSpPr>
        <p:spPr>
          <a:xfrm>
            <a:off x="8549640" y="2962656"/>
            <a:ext cx="502920" cy="73152"/>
          </a:xfrm>
          <a:prstGeom prst="line">
            <a:avLst/>
          </a:prstGeom>
          <a:ln w="25400">
            <a:solidFill>
              <a:srgbClr val="94A3B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2" name="Oval 51"/>
          <p:cNvSpPr/>
          <p:nvPr/>
        </p:nvSpPr>
        <p:spPr>
          <a:xfrm>
            <a:off x="8001000" y="4069080"/>
            <a:ext cx="530352" cy="530352"/>
          </a:xfrm>
          <a:prstGeom prst="ellipse">
            <a:avLst/>
          </a:prstGeom>
          <a:solidFill>
            <a:srgbClr val="6C4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3" name="Oval 52"/>
          <p:cNvSpPr/>
          <p:nvPr/>
        </p:nvSpPr>
        <p:spPr>
          <a:xfrm>
            <a:off x="8165592" y="4233672"/>
            <a:ext cx="201168" cy="201168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cxnSp>
        <p:nvCxnSpPr>
          <p:cNvPr id="54" name="Connector 53"/>
          <p:cNvCxnSpPr/>
          <p:nvPr/>
        </p:nvCxnSpPr>
        <p:spPr>
          <a:xfrm flipV="1">
            <a:off x="8549640" y="3035808"/>
            <a:ext cx="502920" cy="1298448"/>
          </a:xfrm>
          <a:prstGeom prst="line">
            <a:avLst/>
          </a:prstGeom>
          <a:ln w="25400">
            <a:solidFill>
              <a:srgbClr val="94A3B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5" name="Rounded Rectangular Callout 54"/>
          <p:cNvSpPr/>
          <p:nvPr/>
        </p:nvSpPr>
        <p:spPr>
          <a:xfrm>
            <a:off x="9144000" y="4251960"/>
            <a:ext cx="2377440" cy="960120"/>
          </a:xfrm>
          <a:prstGeom prst="wedgeRoundRectCallou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050" b="1">
                <a:solidFill>
                  <a:srgbClr val="FFFFFF"/>
                </a:solidFill>
                <a:latin typeface="Segoe UI"/>
              </a:rPr>
              <a:t>ANSWER</a:t>
            </a:r>
          </a:p>
          <a:p>
            <a:pPr algn="ctr"/>
            <a:r>
              <a:rPr sz="1200">
                <a:solidFill>
                  <a:srgbClr val="FFFFFF"/>
                </a:solidFill>
                <a:latin typeface="Segoe UI"/>
              </a:rPr>
              <a:t>"Stop the pump: bearing wear."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98448"/>
          </a:xfrm>
          <a:prstGeom prst="rect">
            <a:avLst/>
          </a:prstGeom>
          <a:solidFill>
            <a:srgbClr val="141B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298448"/>
            <a:ext cx="12191695" cy="50292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237744"/>
            <a:ext cx="108813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4B8A6"/>
                </a:solidFill>
                <a:latin typeface="Segoe UI"/>
              </a:rPr>
              <a:t>AT A GLANCE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12064"/>
            <a:ext cx="10881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FFFFFF"/>
                </a:solidFill>
                <a:latin typeface="Segoe UI"/>
              </a:rPr>
              <a:t>quorum in six pictures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463040"/>
            <a:ext cx="10881360" cy="475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0">
                <a:solidFill>
                  <a:srgbClr val="5B677D"/>
                </a:solidFill>
                <a:latin typeface="Segoe UI"/>
              </a:rPr>
              <a:t>The whole idea on one page. Each of these gets its own slide.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B677D"/>
                </a:solidFill>
                <a:latin typeface="Segoe UI"/>
              </a:rPr>
              <a:t>quorum  ·  BioDream LLC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64240" y="6419088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1">
                <a:solidFill>
                  <a:srgbClr val="5B677D"/>
                </a:solidFill>
                <a:latin typeface="Segoe UI"/>
              </a:rPr>
              <a:t>2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2011680"/>
            <a:ext cx="3520440" cy="201168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E4E9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0080" y="2011680"/>
            <a:ext cx="3520440" cy="64008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943100" y="2212848"/>
            <a:ext cx="914400" cy="914400"/>
          </a:xfrm>
          <a:prstGeom prst="ellipse">
            <a:avLst/>
          </a:prstGeom>
          <a:solidFill>
            <a:srgbClr val="D5F5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Folded Corner 12"/>
          <p:cNvSpPr/>
          <p:nvPr/>
        </p:nvSpPr>
        <p:spPr>
          <a:xfrm>
            <a:off x="2180844" y="2340864"/>
            <a:ext cx="438912" cy="603504"/>
          </a:xfrm>
          <a:prstGeom prst="foldedCorner">
            <a:avLst/>
          </a:prstGeom>
          <a:solidFill>
            <a:srgbClr val="FFFFFF"/>
          </a:solidFill>
          <a:ln w="25400">
            <a:solidFill>
              <a:srgbClr val="14B8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2263140" y="2468880"/>
            <a:ext cx="274320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2263140" y="2578608"/>
            <a:ext cx="274320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2263140" y="2688336"/>
            <a:ext cx="274320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2263140" y="2798064"/>
            <a:ext cx="274320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77240" y="3218688"/>
            <a:ext cx="324612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</a:pPr>
            <a:r>
              <a:rPr sz="1350" b="1">
                <a:solidFill>
                  <a:srgbClr val="1E293B"/>
                </a:solidFill>
                <a:latin typeface="Segoe UI"/>
              </a:rPr>
              <a:t>Rules in plain words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2960" y="3566160"/>
            <a:ext cx="3154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6000"/>
              </a:lnSpc>
            </a:pPr>
            <a:r>
              <a:rPr sz="1050" b="0">
                <a:solidFill>
                  <a:srgbClr val="5B677D"/>
                </a:solidFill>
                <a:latin typeface="Segoe UI"/>
              </a:rPr>
              <a:t>Engineers write what they already know. No programming.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343400" y="2011680"/>
            <a:ext cx="3520440" cy="201168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E4E9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343400" y="2011680"/>
            <a:ext cx="3520440" cy="64008"/>
          </a:xfrm>
          <a:prstGeom prst="rect">
            <a:avLst/>
          </a:prstGeom>
          <a:solidFill>
            <a:srgbClr val="6C4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5646420" y="2212848"/>
            <a:ext cx="914400" cy="914400"/>
          </a:xfrm>
          <a:prstGeom prst="ellipse">
            <a:avLst/>
          </a:prstGeom>
          <a:solidFill>
            <a:srgbClr val="EAE4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076188" y="2359152"/>
            <a:ext cx="54864" cy="566928"/>
          </a:xfrm>
          <a:prstGeom prst="rect">
            <a:avLst/>
          </a:prstGeom>
          <a:solidFill>
            <a:srgbClr val="6C4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5774436" y="2395728"/>
            <a:ext cx="658368" cy="45720"/>
          </a:xfrm>
          <a:prstGeom prst="rect">
            <a:avLst/>
          </a:prstGeom>
          <a:solidFill>
            <a:srgbClr val="6C4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Chord 24"/>
          <p:cNvSpPr/>
          <p:nvPr/>
        </p:nvSpPr>
        <p:spPr>
          <a:xfrm rot="10800000">
            <a:off x="5719572" y="2505456"/>
            <a:ext cx="237744" cy="182880"/>
          </a:xfrm>
          <a:prstGeom prst="chord">
            <a:avLst/>
          </a:prstGeom>
          <a:solidFill>
            <a:srgbClr val="6C4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Chord 25"/>
          <p:cNvSpPr/>
          <p:nvPr/>
        </p:nvSpPr>
        <p:spPr>
          <a:xfrm rot="10800000">
            <a:off x="6249924" y="2505456"/>
            <a:ext cx="237744" cy="182880"/>
          </a:xfrm>
          <a:prstGeom prst="chord">
            <a:avLst/>
          </a:prstGeom>
          <a:solidFill>
            <a:srgbClr val="6C4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5939028" y="2907792"/>
            <a:ext cx="329184" cy="64008"/>
          </a:xfrm>
          <a:prstGeom prst="rect">
            <a:avLst/>
          </a:prstGeom>
          <a:solidFill>
            <a:srgbClr val="6C4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480560" y="3218688"/>
            <a:ext cx="324612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</a:pPr>
            <a:r>
              <a:rPr sz="1350" b="1">
                <a:solidFill>
                  <a:srgbClr val="1E293B"/>
                </a:solidFill>
                <a:latin typeface="Segoe UI"/>
              </a:rPr>
              <a:t>Rules argue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526280" y="3566160"/>
            <a:ext cx="3154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6000"/>
              </a:lnSpc>
            </a:pPr>
            <a:r>
              <a:rPr sz="1050" b="0">
                <a:solidFill>
                  <a:srgbClr val="5B677D"/>
                </a:solidFill>
                <a:latin typeface="Segoe UI"/>
              </a:rPr>
              <a:t>Like a courtroom: evidence, excuses and doubts knock each other down.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046719" y="2011680"/>
            <a:ext cx="3520440" cy="201168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E4E9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8046719" y="2011680"/>
            <a:ext cx="3520440" cy="6400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9349739" y="2212848"/>
            <a:ext cx="914400" cy="914400"/>
          </a:xfrm>
          <a:prstGeom prst="ellipse">
            <a:avLst/>
          </a:prstGeom>
          <a:solidFill>
            <a:srgbClr val="FEF3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Gear 6 32"/>
          <p:cNvSpPr/>
          <p:nvPr/>
        </p:nvSpPr>
        <p:spPr>
          <a:xfrm>
            <a:off x="9514331" y="2377440"/>
            <a:ext cx="585216" cy="585216"/>
          </a:xfrm>
          <a:prstGeom prst="gear6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9715499" y="2578608"/>
            <a:ext cx="182880" cy="18288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183879" y="3218688"/>
            <a:ext cx="324612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</a:pPr>
            <a:r>
              <a:rPr sz="1350" b="1">
                <a:solidFill>
                  <a:srgbClr val="1E293B"/>
                </a:solidFill>
                <a:latin typeface="Segoe UI"/>
              </a:rPr>
              <a:t>Every case checked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229599" y="3566160"/>
            <a:ext cx="3154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6000"/>
              </a:lnSpc>
            </a:pPr>
            <a:r>
              <a:rPr sz="1050" b="0">
                <a:solidFill>
                  <a:srgbClr val="5B677D"/>
                </a:solidFill>
                <a:latin typeface="Segoe UI"/>
              </a:rPr>
              <a:t>Every possible combination of readings is tried before it runs.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640080" y="4206240"/>
            <a:ext cx="3520440" cy="201168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E4E9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640080" y="4206240"/>
            <a:ext cx="3520440" cy="64008"/>
          </a:xfrm>
          <a:prstGeom prst="rect">
            <a:avLst/>
          </a:prstGeom>
          <a:solidFill>
            <a:srgbClr val="2E8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1943100" y="4407408"/>
            <a:ext cx="914400" cy="914400"/>
          </a:xfrm>
          <a:prstGeom prst="ellipse">
            <a:avLst/>
          </a:prstGeom>
          <a:solidFill>
            <a:srgbClr val="DBEA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Rounded Rectangle 39"/>
          <p:cNvSpPr/>
          <p:nvPr/>
        </p:nvSpPr>
        <p:spPr>
          <a:xfrm>
            <a:off x="2071116" y="4681728"/>
            <a:ext cx="603504" cy="365760"/>
          </a:xfrm>
          <a:prstGeom prst="roundRect">
            <a:avLst/>
          </a:prstGeom>
          <a:solidFill>
            <a:srgbClr val="FFFFFF"/>
          </a:solidFill>
          <a:ln w="38100">
            <a:solidFill>
              <a:srgbClr val="2E8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2674620" y="4791456"/>
            <a:ext cx="64008" cy="146304"/>
          </a:xfrm>
          <a:prstGeom prst="rect">
            <a:avLst/>
          </a:prstGeom>
          <a:solidFill>
            <a:srgbClr val="2E8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2" name="Lightning Bolt 41"/>
          <p:cNvSpPr/>
          <p:nvPr/>
        </p:nvSpPr>
        <p:spPr>
          <a:xfrm>
            <a:off x="2253996" y="4709160"/>
            <a:ext cx="274320" cy="310896"/>
          </a:xfrm>
          <a:prstGeom prst="lightningBol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777240" y="5413248"/>
            <a:ext cx="324612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</a:pPr>
            <a:r>
              <a:rPr sz="1350" b="1">
                <a:solidFill>
                  <a:srgbClr val="1E293B"/>
                </a:solidFill>
                <a:latin typeface="Segoe UI"/>
              </a:rPr>
              <a:t>Tiny and on time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22960" y="5760720"/>
            <a:ext cx="3154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6000"/>
              </a:lnSpc>
            </a:pPr>
            <a:r>
              <a:rPr sz="1050" b="0">
                <a:solidFill>
                  <a:srgbClr val="5B677D"/>
                </a:solidFill>
                <a:latin typeface="Segoe UI"/>
              </a:rPr>
              <a:t>Fits an $11 chip and always answers within a proven time.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4343400" y="4206240"/>
            <a:ext cx="3520440" cy="201168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E4E9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4343400" y="4206240"/>
            <a:ext cx="3520440" cy="64008"/>
          </a:xfrm>
          <a:prstGeom prst="rect">
            <a:avLst/>
          </a:prstGeom>
          <a:solidFill>
            <a:srgbClr val="E11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7" name="Oval 46"/>
          <p:cNvSpPr/>
          <p:nvPr/>
        </p:nvSpPr>
        <p:spPr>
          <a:xfrm>
            <a:off x="5646420" y="4407408"/>
            <a:ext cx="914400" cy="914400"/>
          </a:xfrm>
          <a:prstGeom prst="ellipse">
            <a:avLst/>
          </a:prstGeom>
          <a:solidFill>
            <a:srgbClr val="FCE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8" name="Chord 47"/>
          <p:cNvSpPr/>
          <p:nvPr/>
        </p:nvSpPr>
        <p:spPr>
          <a:xfrm rot="10800000">
            <a:off x="5847588" y="4553712"/>
            <a:ext cx="512064" cy="585216"/>
          </a:xfrm>
          <a:prstGeom prst="chord">
            <a:avLst/>
          </a:prstGeom>
          <a:solidFill>
            <a:srgbClr val="E11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5801868" y="4956048"/>
            <a:ext cx="603504" cy="73152"/>
          </a:xfrm>
          <a:prstGeom prst="rect">
            <a:avLst/>
          </a:prstGeom>
          <a:solidFill>
            <a:srgbClr val="E11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0" name="Oval 49"/>
          <p:cNvSpPr/>
          <p:nvPr/>
        </p:nvSpPr>
        <p:spPr>
          <a:xfrm>
            <a:off x="6039612" y="5029200"/>
            <a:ext cx="128016" cy="109728"/>
          </a:xfrm>
          <a:prstGeom prst="ellipse">
            <a:avLst/>
          </a:prstGeom>
          <a:solidFill>
            <a:srgbClr val="E11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4480560" y="5413248"/>
            <a:ext cx="324612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</a:pPr>
            <a:r>
              <a:rPr sz="1350" b="1">
                <a:solidFill>
                  <a:srgbClr val="1E293B"/>
                </a:solidFill>
                <a:latin typeface="Segoe UI"/>
              </a:rPr>
              <a:t>Says why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526280" y="5760720"/>
            <a:ext cx="3154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6000"/>
              </a:lnSpc>
            </a:pPr>
            <a:r>
              <a:rPr sz="1050" b="0">
                <a:solidFill>
                  <a:srgbClr val="5B677D"/>
                </a:solidFill>
                <a:latin typeface="Segoe UI"/>
              </a:rPr>
              <a:t>Every answer lists what it relied on, and what it had to assume.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8046719" y="4206240"/>
            <a:ext cx="3520440" cy="201168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E4E9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8046719" y="4206240"/>
            <a:ext cx="3520440" cy="64008"/>
          </a:xfrm>
          <a:prstGeom prst="rect">
            <a:avLst/>
          </a:prstGeom>
          <a:solidFill>
            <a:srgbClr val="22A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5" name="Oval 54"/>
          <p:cNvSpPr/>
          <p:nvPr/>
        </p:nvSpPr>
        <p:spPr>
          <a:xfrm>
            <a:off x="9349739" y="4407408"/>
            <a:ext cx="914400" cy="914400"/>
          </a:xfrm>
          <a:prstGeom prst="ellipse">
            <a:avLst/>
          </a:prstGeom>
          <a:solidFill>
            <a:srgbClr val="DCF5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6" name="Off-page Connector 55"/>
          <p:cNvSpPr/>
          <p:nvPr/>
        </p:nvSpPr>
        <p:spPr>
          <a:xfrm>
            <a:off x="9550907" y="4553712"/>
            <a:ext cx="512064" cy="621792"/>
          </a:xfrm>
          <a:prstGeom prst="flowChartOffpageConnector">
            <a:avLst/>
          </a:prstGeom>
          <a:solidFill>
            <a:srgbClr val="22A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9550907" y="4681728"/>
            <a:ext cx="51206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</a:pPr>
            <a:r>
              <a:rPr sz="2000" b="1">
                <a:solidFill>
                  <a:srgbClr val="FFFFFF"/>
                </a:solidFill>
                <a:latin typeface="Segoe UI"/>
              </a:rPr>
              <a:t>✓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8183879" y="5413248"/>
            <a:ext cx="324612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</a:pPr>
            <a:r>
              <a:rPr sz="1350" b="1">
                <a:solidFill>
                  <a:srgbClr val="1E293B"/>
                </a:solidFill>
                <a:latin typeface="Segoe UI"/>
              </a:rPr>
              <a:t>Refuses bad input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8229599" y="5760720"/>
            <a:ext cx="3154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6000"/>
              </a:lnSpc>
            </a:pPr>
            <a:r>
              <a:rPr sz="1050" b="0">
                <a:solidFill>
                  <a:srgbClr val="5B677D"/>
                </a:solidFill>
                <a:latin typeface="Segoe UI"/>
              </a:rPr>
              <a:t>A rulebook with a hole, or a damaged file, is rejected outright.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98448"/>
          </a:xfrm>
          <a:prstGeom prst="rect">
            <a:avLst/>
          </a:prstGeom>
          <a:solidFill>
            <a:srgbClr val="141B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298448"/>
            <a:ext cx="12191695" cy="50292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237744"/>
            <a:ext cx="108813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4B8A6"/>
                </a:solidFill>
                <a:latin typeface="Segoe UI"/>
              </a:rPr>
              <a:t>THE PROBLEM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12064"/>
            <a:ext cx="10881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FFFFFF"/>
                </a:solidFill>
                <a:latin typeface="Segoe UI"/>
              </a:rPr>
              <a:t>Machines cry wolf, and people stop listening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463040"/>
            <a:ext cx="10881360" cy="475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0">
                <a:solidFill>
                  <a:srgbClr val="5B677D"/>
                </a:solidFill>
                <a:latin typeface="Segoe UI"/>
              </a:rPr>
              <a:t>Plants, buildings and utilities are full of alarms. Most are noise, and none of them explain themselves.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B677D"/>
                </a:solidFill>
                <a:latin typeface="Segoe UI"/>
              </a:rPr>
              <a:t>quorum  ·  BioDream LLC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64240" y="6419088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1">
                <a:solidFill>
                  <a:srgbClr val="5B677D"/>
                </a:solidFill>
                <a:latin typeface="Segoe UI"/>
              </a:rPr>
              <a:t>3</a:t>
            </a:r>
          </a:p>
        </p:txBody>
      </p:sp>
      <p:sp>
        <p:nvSpPr>
          <p:cNvPr id="10" name="Chord 9"/>
          <p:cNvSpPr/>
          <p:nvPr/>
        </p:nvSpPr>
        <p:spPr>
          <a:xfrm rot="10800000">
            <a:off x="841248" y="2066544"/>
            <a:ext cx="512064" cy="585216"/>
          </a:xfrm>
          <a:prstGeom prst="chord">
            <a:avLst/>
          </a:prstGeom>
          <a:solidFill>
            <a:srgbClr val="F8B4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95528" y="2468880"/>
            <a:ext cx="603504" cy="73152"/>
          </a:xfrm>
          <a:prstGeom prst="rect">
            <a:avLst/>
          </a:prstGeom>
          <a:solidFill>
            <a:srgbClr val="F8B4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33272" y="2542032"/>
            <a:ext cx="128016" cy="109728"/>
          </a:xfrm>
          <a:prstGeom prst="ellipse">
            <a:avLst/>
          </a:prstGeom>
          <a:solidFill>
            <a:srgbClr val="F8B4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Chord 12"/>
          <p:cNvSpPr/>
          <p:nvPr/>
        </p:nvSpPr>
        <p:spPr>
          <a:xfrm rot="10800000">
            <a:off x="1499616" y="2066544"/>
            <a:ext cx="512064" cy="585216"/>
          </a:xfrm>
          <a:prstGeom prst="chord">
            <a:avLst/>
          </a:prstGeom>
          <a:solidFill>
            <a:srgbClr val="F8B4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453896" y="2468880"/>
            <a:ext cx="603504" cy="73152"/>
          </a:xfrm>
          <a:prstGeom prst="rect">
            <a:avLst/>
          </a:prstGeom>
          <a:solidFill>
            <a:srgbClr val="F8B4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1691640" y="2542032"/>
            <a:ext cx="128016" cy="109728"/>
          </a:xfrm>
          <a:prstGeom prst="ellipse">
            <a:avLst/>
          </a:prstGeom>
          <a:solidFill>
            <a:srgbClr val="F8B4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Chord 15"/>
          <p:cNvSpPr/>
          <p:nvPr/>
        </p:nvSpPr>
        <p:spPr>
          <a:xfrm rot="10800000">
            <a:off x="2157984" y="2066544"/>
            <a:ext cx="512064" cy="585216"/>
          </a:xfrm>
          <a:prstGeom prst="chord">
            <a:avLst/>
          </a:prstGeom>
          <a:solidFill>
            <a:srgbClr val="F8B4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2112264" y="2468880"/>
            <a:ext cx="603504" cy="73152"/>
          </a:xfrm>
          <a:prstGeom prst="rect">
            <a:avLst/>
          </a:prstGeom>
          <a:solidFill>
            <a:srgbClr val="F8B4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2350008" y="2542032"/>
            <a:ext cx="128016" cy="109728"/>
          </a:xfrm>
          <a:prstGeom prst="ellipse">
            <a:avLst/>
          </a:prstGeom>
          <a:solidFill>
            <a:srgbClr val="F8B4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Chord 18"/>
          <p:cNvSpPr/>
          <p:nvPr/>
        </p:nvSpPr>
        <p:spPr>
          <a:xfrm rot="10800000">
            <a:off x="2816352" y="2066544"/>
            <a:ext cx="512064" cy="585216"/>
          </a:xfrm>
          <a:prstGeom prst="chord">
            <a:avLst/>
          </a:prstGeom>
          <a:solidFill>
            <a:srgbClr val="F8B4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2770632" y="2468880"/>
            <a:ext cx="603504" cy="73152"/>
          </a:xfrm>
          <a:prstGeom prst="rect">
            <a:avLst/>
          </a:prstGeom>
          <a:solidFill>
            <a:srgbClr val="F8B4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3008376" y="2542032"/>
            <a:ext cx="128016" cy="109728"/>
          </a:xfrm>
          <a:prstGeom prst="ellipse">
            <a:avLst/>
          </a:prstGeom>
          <a:solidFill>
            <a:srgbClr val="F8B4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Chord 21"/>
          <p:cNvSpPr/>
          <p:nvPr/>
        </p:nvSpPr>
        <p:spPr>
          <a:xfrm rot="10800000">
            <a:off x="3474720" y="2066544"/>
            <a:ext cx="512064" cy="585216"/>
          </a:xfrm>
          <a:prstGeom prst="chord">
            <a:avLst/>
          </a:prstGeom>
          <a:solidFill>
            <a:srgbClr val="F8B4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3429000" y="2468880"/>
            <a:ext cx="603504" cy="73152"/>
          </a:xfrm>
          <a:prstGeom prst="rect">
            <a:avLst/>
          </a:prstGeom>
          <a:solidFill>
            <a:srgbClr val="F8B4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3666744" y="2542032"/>
            <a:ext cx="128016" cy="109728"/>
          </a:xfrm>
          <a:prstGeom prst="ellipse">
            <a:avLst/>
          </a:prstGeom>
          <a:solidFill>
            <a:srgbClr val="F8B4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Chord 24"/>
          <p:cNvSpPr/>
          <p:nvPr/>
        </p:nvSpPr>
        <p:spPr>
          <a:xfrm rot="10800000">
            <a:off x="4133088" y="2066544"/>
            <a:ext cx="512064" cy="585216"/>
          </a:xfrm>
          <a:prstGeom prst="chord">
            <a:avLst/>
          </a:prstGeom>
          <a:solidFill>
            <a:srgbClr val="F8B4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087368" y="2468880"/>
            <a:ext cx="603504" cy="73152"/>
          </a:xfrm>
          <a:prstGeom prst="rect">
            <a:avLst/>
          </a:prstGeom>
          <a:solidFill>
            <a:srgbClr val="F8B4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4325112" y="2542032"/>
            <a:ext cx="128016" cy="109728"/>
          </a:xfrm>
          <a:prstGeom prst="ellipse">
            <a:avLst/>
          </a:prstGeom>
          <a:solidFill>
            <a:srgbClr val="F8B4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Chord 27"/>
          <p:cNvSpPr/>
          <p:nvPr/>
        </p:nvSpPr>
        <p:spPr>
          <a:xfrm rot="10800000">
            <a:off x="4791456" y="2066544"/>
            <a:ext cx="512064" cy="585216"/>
          </a:xfrm>
          <a:prstGeom prst="chord">
            <a:avLst/>
          </a:prstGeom>
          <a:solidFill>
            <a:srgbClr val="F8B4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4745736" y="2468880"/>
            <a:ext cx="603504" cy="73152"/>
          </a:xfrm>
          <a:prstGeom prst="rect">
            <a:avLst/>
          </a:prstGeom>
          <a:solidFill>
            <a:srgbClr val="F8B4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4983480" y="2542032"/>
            <a:ext cx="128016" cy="109728"/>
          </a:xfrm>
          <a:prstGeom prst="ellipse">
            <a:avLst/>
          </a:prstGeom>
          <a:solidFill>
            <a:srgbClr val="F8B4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Chord 30"/>
          <p:cNvSpPr/>
          <p:nvPr/>
        </p:nvSpPr>
        <p:spPr>
          <a:xfrm rot="10800000">
            <a:off x="5449824" y="2066544"/>
            <a:ext cx="512064" cy="585216"/>
          </a:xfrm>
          <a:prstGeom prst="chord">
            <a:avLst/>
          </a:prstGeom>
          <a:solidFill>
            <a:srgbClr val="F8B4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5404104" y="2468880"/>
            <a:ext cx="603504" cy="73152"/>
          </a:xfrm>
          <a:prstGeom prst="rect">
            <a:avLst/>
          </a:prstGeom>
          <a:solidFill>
            <a:srgbClr val="F8B4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5641848" y="2542032"/>
            <a:ext cx="128016" cy="109728"/>
          </a:xfrm>
          <a:prstGeom prst="ellipse">
            <a:avLst/>
          </a:prstGeom>
          <a:solidFill>
            <a:srgbClr val="F8B4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Chord 33"/>
          <p:cNvSpPr/>
          <p:nvPr/>
        </p:nvSpPr>
        <p:spPr>
          <a:xfrm rot="10800000">
            <a:off x="6108192" y="2066544"/>
            <a:ext cx="512064" cy="585216"/>
          </a:xfrm>
          <a:prstGeom prst="chord">
            <a:avLst/>
          </a:prstGeom>
          <a:solidFill>
            <a:srgbClr val="F8B4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6062472" y="2468880"/>
            <a:ext cx="603504" cy="73152"/>
          </a:xfrm>
          <a:prstGeom prst="rect">
            <a:avLst/>
          </a:prstGeom>
          <a:solidFill>
            <a:srgbClr val="F8B4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6300216" y="2542032"/>
            <a:ext cx="128016" cy="109728"/>
          </a:xfrm>
          <a:prstGeom prst="ellipse">
            <a:avLst/>
          </a:prstGeom>
          <a:solidFill>
            <a:srgbClr val="F8B4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Chord 36"/>
          <p:cNvSpPr/>
          <p:nvPr/>
        </p:nvSpPr>
        <p:spPr>
          <a:xfrm rot="10800000">
            <a:off x="841248" y="2615184"/>
            <a:ext cx="512064" cy="585216"/>
          </a:xfrm>
          <a:prstGeom prst="chord">
            <a:avLst/>
          </a:prstGeom>
          <a:solidFill>
            <a:srgbClr val="F8B4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795528" y="3017520"/>
            <a:ext cx="603504" cy="73152"/>
          </a:xfrm>
          <a:prstGeom prst="rect">
            <a:avLst/>
          </a:prstGeom>
          <a:solidFill>
            <a:srgbClr val="F8B4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1033272" y="3090672"/>
            <a:ext cx="128016" cy="109728"/>
          </a:xfrm>
          <a:prstGeom prst="ellipse">
            <a:avLst/>
          </a:prstGeom>
          <a:solidFill>
            <a:srgbClr val="F8B4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Chord 39"/>
          <p:cNvSpPr/>
          <p:nvPr/>
        </p:nvSpPr>
        <p:spPr>
          <a:xfrm rot="10800000">
            <a:off x="1499616" y="2615184"/>
            <a:ext cx="512064" cy="585216"/>
          </a:xfrm>
          <a:prstGeom prst="chord">
            <a:avLst/>
          </a:prstGeom>
          <a:solidFill>
            <a:srgbClr val="F8B4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1453896" y="3017520"/>
            <a:ext cx="603504" cy="73152"/>
          </a:xfrm>
          <a:prstGeom prst="rect">
            <a:avLst/>
          </a:prstGeom>
          <a:solidFill>
            <a:srgbClr val="F8B4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2" name="Oval 41"/>
          <p:cNvSpPr/>
          <p:nvPr/>
        </p:nvSpPr>
        <p:spPr>
          <a:xfrm>
            <a:off x="1691640" y="3090672"/>
            <a:ext cx="128016" cy="109728"/>
          </a:xfrm>
          <a:prstGeom prst="ellipse">
            <a:avLst/>
          </a:prstGeom>
          <a:solidFill>
            <a:srgbClr val="F8B4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3" name="Chord 42"/>
          <p:cNvSpPr/>
          <p:nvPr/>
        </p:nvSpPr>
        <p:spPr>
          <a:xfrm rot="10800000">
            <a:off x="2157984" y="2615184"/>
            <a:ext cx="512064" cy="585216"/>
          </a:xfrm>
          <a:prstGeom prst="chord">
            <a:avLst/>
          </a:prstGeom>
          <a:solidFill>
            <a:srgbClr val="F8B4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2112264" y="3017520"/>
            <a:ext cx="603504" cy="73152"/>
          </a:xfrm>
          <a:prstGeom prst="rect">
            <a:avLst/>
          </a:prstGeom>
          <a:solidFill>
            <a:srgbClr val="F8B4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>
            <a:off x="2350008" y="3090672"/>
            <a:ext cx="128016" cy="109728"/>
          </a:xfrm>
          <a:prstGeom prst="ellipse">
            <a:avLst/>
          </a:prstGeom>
          <a:solidFill>
            <a:srgbClr val="F8B4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6" name="Chord 45"/>
          <p:cNvSpPr/>
          <p:nvPr/>
        </p:nvSpPr>
        <p:spPr>
          <a:xfrm rot="10800000">
            <a:off x="2816352" y="2615184"/>
            <a:ext cx="512064" cy="585216"/>
          </a:xfrm>
          <a:prstGeom prst="chord">
            <a:avLst/>
          </a:prstGeom>
          <a:solidFill>
            <a:srgbClr val="F8B4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2770632" y="3017520"/>
            <a:ext cx="603504" cy="73152"/>
          </a:xfrm>
          <a:prstGeom prst="rect">
            <a:avLst/>
          </a:prstGeom>
          <a:solidFill>
            <a:srgbClr val="F8B4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8" name="Oval 47"/>
          <p:cNvSpPr/>
          <p:nvPr/>
        </p:nvSpPr>
        <p:spPr>
          <a:xfrm>
            <a:off x="3008376" y="3090672"/>
            <a:ext cx="128016" cy="109728"/>
          </a:xfrm>
          <a:prstGeom prst="ellipse">
            <a:avLst/>
          </a:prstGeom>
          <a:solidFill>
            <a:srgbClr val="F8B4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9" name="Chord 48"/>
          <p:cNvSpPr/>
          <p:nvPr/>
        </p:nvSpPr>
        <p:spPr>
          <a:xfrm rot="10800000">
            <a:off x="3474720" y="2615184"/>
            <a:ext cx="512064" cy="585216"/>
          </a:xfrm>
          <a:prstGeom prst="chord">
            <a:avLst/>
          </a:prstGeom>
          <a:solidFill>
            <a:srgbClr val="F8B4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3429000" y="3017520"/>
            <a:ext cx="603504" cy="73152"/>
          </a:xfrm>
          <a:prstGeom prst="rect">
            <a:avLst/>
          </a:prstGeom>
          <a:solidFill>
            <a:srgbClr val="F8B4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1" name="Oval 50"/>
          <p:cNvSpPr/>
          <p:nvPr/>
        </p:nvSpPr>
        <p:spPr>
          <a:xfrm>
            <a:off x="3666744" y="3090672"/>
            <a:ext cx="128016" cy="109728"/>
          </a:xfrm>
          <a:prstGeom prst="ellipse">
            <a:avLst/>
          </a:prstGeom>
          <a:solidFill>
            <a:srgbClr val="F8B4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2" name="Chord 51"/>
          <p:cNvSpPr/>
          <p:nvPr/>
        </p:nvSpPr>
        <p:spPr>
          <a:xfrm rot="10800000">
            <a:off x="4133088" y="2615184"/>
            <a:ext cx="512064" cy="585216"/>
          </a:xfrm>
          <a:prstGeom prst="chord">
            <a:avLst/>
          </a:prstGeom>
          <a:solidFill>
            <a:srgbClr val="F8B4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4087368" y="3017520"/>
            <a:ext cx="603504" cy="73152"/>
          </a:xfrm>
          <a:prstGeom prst="rect">
            <a:avLst/>
          </a:prstGeom>
          <a:solidFill>
            <a:srgbClr val="F8B4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4" name="Oval 53"/>
          <p:cNvSpPr/>
          <p:nvPr/>
        </p:nvSpPr>
        <p:spPr>
          <a:xfrm>
            <a:off x="4325112" y="3090672"/>
            <a:ext cx="128016" cy="109728"/>
          </a:xfrm>
          <a:prstGeom prst="ellipse">
            <a:avLst/>
          </a:prstGeom>
          <a:solidFill>
            <a:srgbClr val="F8B4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5" name="Chord 54"/>
          <p:cNvSpPr/>
          <p:nvPr/>
        </p:nvSpPr>
        <p:spPr>
          <a:xfrm rot="10800000">
            <a:off x="4791456" y="2615184"/>
            <a:ext cx="512064" cy="585216"/>
          </a:xfrm>
          <a:prstGeom prst="chord">
            <a:avLst/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4745736" y="3017520"/>
            <a:ext cx="603504" cy="73152"/>
          </a:xfrm>
          <a:prstGeom prst="rect">
            <a:avLst/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7" name="Oval 56"/>
          <p:cNvSpPr/>
          <p:nvPr/>
        </p:nvSpPr>
        <p:spPr>
          <a:xfrm>
            <a:off x="4983480" y="3090672"/>
            <a:ext cx="128016" cy="109728"/>
          </a:xfrm>
          <a:prstGeom prst="ellipse">
            <a:avLst/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8" name="Chord 57"/>
          <p:cNvSpPr/>
          <p:nvPr/>
        </p:nvSpPr>
        <p:spPr>
          <a:xfrm rot="10800000">
            <a:off x="5449824" y="2615184"/>
            <a:ext cx="512064" cy="585216"/>
          </a:xfrm>
          <a:prstGeom prst="chord">
            <a:avLst/>
          </a:prstGeom>
          <a:solidFill>
            <a:srgbClr val="F8B4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5404104" y="3017520"/>
            <a:ext cx="603504" cy="73152"/>
          </a:xfrm>
          <a:prstGeom prst="rect">
            <a:avLst/>
          </a:prstGeom>
          <a:solidFill>
            <a:srgbClr val="F8B4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0" name="Oval 59"/>
          <p:cNvSpPr/>
          <p:nvPr/>
        </p:nvSpPr>
        <p:spPr>
          <a:xfrm>
            <a:off x="5641848" y="3090672"/>
            <a:ext cx="128016" cy="109728"/>
          </a:xfrm>
          <a:prstGeom prst="ellipse">
            <a:avLst/>
          </a:prstGeom>
          <a:solidFill>
            <a:srgbClr val="F8B4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1" name="Chord 60"/>
          <p:cNvSpPr/>
          <p:nvPr/>
        </p:nvSpPr>
        <p:spPr>
          <a:xfrm rot="10800000">
            <a:off x="6108192" y="2615184"/>
            <a:ext cx="512064" cy="585216"/>
          </a:xfrm>
          <a:prstGeom prst="chord">
            <a:avLst/>
          </a:prstGeom>
          <a:solidFill>
            <a:srgbClr val="F8B4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6062472" y="3017520"/>
            <a:ext cx="603504" cy="73152"/>
          </a:xfrm>
          <a:prstGeom prst="rect">
            <a:avLst/>
          </a:prstGeom>
          <a:solidFill>
            <a:srgbClr val="F8B4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3" name="Oval 62"/>
          <p:cNvSpPr/>
          <p:nvPr/>
        </p:nvSpPr>
        <p:spPr>
          <a:xfrm>
            <a:off x="6300216" y="3090672"/>
            <a:ext cx="128016" cy="109728"/>
          </a:xfrm>
          <a:prstGeom prst="ellipse">
            <a:avLst/>
          </a:prstGeom>
          <a:solidFill>
            <a:srgbClr val="F8B4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4" name="Chord 63"/>
          <p:cNvSpPr/>
          <p:nvPr/>
        </p:nvSpPr>
        <p:spPr>
          <a:xfrm rot="10800000">
            <a:off x="841248" y="3163824"/>
            <a:ext cx="512064" cy="585216"/>
          </a:xfrm>
          <a:prstGeom prst="chord">
            <a:avLst/>
          </a:prstGeom>
          <a:solidFill>
            <a:srgbClr val="F8B4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795528" y="3566160"/>
            <a:ext cx="603504" cy="73152"/>
          </a:xfrm>
          <a:prstGeom prst="rect">
            <a:avLst/>
          </a:prstGeom>
          <a:solidFill>
            <a:srgbClr val="F8B4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6" name="Oval 65"/>
          <p:cNvSpPr/>
          <p:nvPr/>
        </p:nvSpPr>
        <p:spPr>
          <a:xfrm>
            <a:off x="1033272" y="3639312"/>
            <a:ext cx="128016" cy="109728"/>
          </a:xfrm>
          <a:prstGeom prst="ellipse">
            <a:avLst/>
          </a:prstGeom>
          <a:solidFill>
            <a:srgbClr val="F8B4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7" name="Chord 66"/>
          <p:cNvSpPr/>
          <p:nvPr/>
        </p:nvSpPr>
        <p:spPr>
          <a:xfrm rot="10800000">
            <a:off x="1499616" y="3163824"/>
            <a:ext cx="512064" cy="585216"/>
          </a:xfrm>
          <a:prstGeom prst="chord">
            <a:avLst/>
          </a:prstGeom>
          <a:solidFill>
            <a:srgbClr val="F8B4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>
            <a:off x="1453896" y="3566160"/>
            <a:ext cx="603504" cy="73152"/>
          </a:xfrm>
          <a:prstGeom prst="rect">
            <a:avLst/>
          </a:prstGeom>
          <a:solidFill>
            <a:srgbClr val="F8B4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9" name="Oval 68"/>
          <p:cNvSpPr/>
          <p:nvPr/>
        </p:nvSpPr>
        <p:spPr>
          <a:xfrm>
            <a:off x="1691640" y="3639312"/>
            <a:ext cx="128016" cy="109728"/>
          </a:xfrm>
          <a:prstGeom prst="ellipse">
            <a:avLst/>
          </a:prstGeom>
          <a:solidFill>
            <a:srgbClr val="F8B4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0" name="Chord 69"/>
          <p:cNvSpPr/>
          <p:nvPr/>
        </p:nvSpPr>
        <p:spPr>
          <a:xfrm rot="10800000">
            <a:off x="2157984" y="3163824"/>
            <a:ext cx="512064" cy="585216"/>
          </a:xfrm>
          <a:prstGeom prst="chord">
            <a:avLst/>
          </a:prstGeom>
          <a:solidFill>
            <a:srgbClr val="F8B4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2112264" y="3566160"/>
            <a:ext cx="603504" cy="73152"/>
          </a:xfrm>
          <a:prstGeom prst="rect">
            <a:avLst/>
          </a:prstGeom>
          <a:solidFill>
            <a:srgbClr val="F8B4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2" name="Oval 71"/>
          <p:cNvSpPr/>
          <p:nvPr/>
        </p:nvSpPr>
        <p:spPr>
          <a:xfrm>
            <a:off x="2350008" y="3639312"/>
            <a:ext cx="128016" cy="109728"/>
          </a:xfrm>
          <a:prstGeom prst="ellipse">
            <a:avLst/>
          </a:prstGeom>
          <a:solidFill>
            <a:srgbClr val="F8B4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3" name="Chord 72"/>
          <p:cNvSpPr/>
          <p:nvPr/>
        </p:nvSpPr>
        <p:spPr>
          <a:xfrm rot="10800000">
            <a:off x="2816352" y="3163824"/>
            <a:ext cx="512064" cy="585216"/>
          </a:xfrm>
          <a:prstGeom prst="chord">
            <a:avLst/>
          </a:prstGeom>
          <a:solidFill>
            <a:srgbClr val="F8B4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4" name="Rectangle 73"/>
          <p:cNvSpPr/>
          <p:nvPr/>
        </p:nvSpPr>
        <p:spPr>
          <a:xfrm>
            <a:off x="2770632" y="3566160"/>
            <a:ext cx="603504" cy="73152"/>
          </a:xfrm>
          <a:prstGeom prst="rect">
            <a:avLst/>
          </a:prstGeom>
          <a:solidFill>
            <a:srgbClr val="F8B4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5" name="Oval 74"/>
          <p:cNvSpPr/>
          <p:nvPr/>
        </p:nvSpPr>
        <p:spPr>
          <a:xfrm>
            <a:off x="3008376" y="3639312"/>
            <a:ext cx="128016" cy="109728"/>
          </a:xfrm>
          <a:prstGeom prst="ellipse">
            <a:avLst/>
          </a:prstGeom>
          <a:solidFill>
            <a:srgbClr val="F8B4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6" name="Chord 75"/>
          <p:cNvSpPr/>
          <p:nvPr/>
        </p:nvSpPr>
        <p:spPr>
          <a:xfrm rot="10800000">
            <a:off x="3474720" y="3163824"/>
            <a:ext cx="512064" cy="585216"/>
          </a:xfrm>
          <a:prstGeom prst="chord">
            <a:avLst/>
          </a:prstGeom>
          <a:solidFill>
            <a:srgbClr val="F8B4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7" name="Rectangle 76"/>
          <p:cNvSpPr/>
          <p:nvPr/>
        </p:nvSpPr>
        <p:spPr>
          <a:xfrm>
            <a:off x="3429000" y="3566160"/>
            <a:ext cx="603504" cy="73152"/>
          </a:xfrm>
          <a:prstGeom prst="rect">
            <a:avLst/>
          </a:prstGeom>
          <a:solidFill>
            <a:srgbClr val="F8B4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8" name="Oval 77"/>
          <p:cNvSpPr/>
          <p:nvPr/>
        </p:nvSpPr>
        <p:spPr>
          <a:xfrm>
            <a:off x="3666744" y="3639312"/>
            <a:ext cx="128016" cy="109728"/>
          </a:xfrm>
          <a:prstGeom prst="ellipse">
            <a:avLst/>
          </a:prstGeom>
          <a:solidFill>
            <a:srgbClr val="F8B4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9" name="Chord 78"/>
          <p:cNvSpPr/>
          <p:nvPr/>
        </p:nvSpPr>
        <p:spPr>
          <a:xfrm rot="10800000">
            <a:off x="4133088" y="3163824"/>
            <a:ext cx="512064" cy="585216"/>
          </a:xfrm>
          <a:prstGeom prst="chord">
            <a:avLst/>
          </a:prstGeom>
          <a:solidFill>
            <a:srgbClr val="F8B4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0" name="Rectangle 79"/>
          <p:cNvSpPr/>
          <p:nvPr/>
        </p:nvSpPr>
        <p:spPr>
          <a:xfrm>
            <a:off x="4087368" y="3566160"/>
            <a:ext cx="603504" cy="73152"/>
          </a:xfrm>
          <a:prstGeom prst="rect">
            <a:avLst/>
          </a:prstGeom>
          <a:solidFill>
            <a:srgbClr val="F8B4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1" name="Oval 80"/>
          <p:cNvSpPr/>
          <p:nvPr/>
        </p:nvSpPr>
        <p:spPr>
          <a:xfrm>
            <a:off x="4325112" y="3639312"/>
            <a:ext cx="128016" cy="109728"/>
          </a:xfrm>
          <a:prstGeom prst="ellipse">
            <a:avLst/>
          </a:prstGeom>
          <a:solidFill>
            <a:srgbClr val="F8B4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2" name="Chord 81"/>
          <p:cNvSpPr/>
          <p:nvPr/>
        </p:nvSpPr>
        <p:spPr>
          <a:xfrm rot="10800000">
            <a:off x="4791456" y="3163824"/>
            <a:ext cx="512064" cy="585216"/>
          </a:xfrm>
          <a:prstGeom prst="chord">
            <a:avLst/>
          </a:prstGeom>
          <a:solidFill>
            <a:srgbClr val="F8B4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4745736" y="3566160"/>
            <a:ext cx="603504" cy="73152"/>
          </a:xfrm>
          <a:prstGeom prst="rect">
            <a:avLst/>
          </a:prstGeom>
          <a:solidFill>
            <a:srgbClr val="F8B4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4" name="Oval 83"/>
          <p:cNvSpPr/>
          <p:nvPr/>
        </p:nvSpPr>
        <p:spPr>
          <a:xfrm>
            <a:off x="4983480" y="3639312"/>
            <a:ext cx="128016" cy="109728"/>
          </a:xfrm>
          <a:prstGeom prst="ellipse">
            <a:avLst/>
          </a:prstGeom>
          <a:solidFill>
            <a:srgbClr val="F8B4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5" name="Chord 84"/>
          <p:cNvSpPr/>
          <p:nvPr/>
        </p:nvSpPr>
        <p:spPr>
          <a:xfrm rot="10800000">
            <a:off x="5449824" y="3163824"/>
            <a:ext cx="512064" cy="585216"/>
          </a:xfrm>
          <a:prstGeom prst="chord">
            <a:avLst/>
          </a:prstGeom>
          <a:solidFill>
            <a:srgbClr val="F8B4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6" name="Rectangle 85"/>
          <p:cNvSpPr/>
          <p:nvPr/>
        </p:nvSpPr>
        <p:spPr>
          <a:xfrm>
            <a:off x="5404104" y="3566160"/>
            <a:ext cx="603504" cy="73152"/>
          </a:xfrm>
          <a:prstGeom prst="rect">
            <a:avLst/>
          </a:prstGeom>
          <a:solidFill>
            <a:srgbClr val="F8B4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7" name="Oval 86"/>
          <p:cNvSpPr/>
          <p:nvPr/>
        </p:nvSpPr>
        <p:spPr>
          <a:xfrm>
            <a:off x="5641848" y="3639312"/>
            <a:ext cx="128016" cy="109728"/>
          </a:xfrm>
          <a:prstGeom prst="ellipse">
            <a:avLst/>
          </a:prstGeom>
          <a:solidFill>
            <a:srgbClr val="F8B4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8" name="Chord 87"/>
          <p:cNvSpPr/>
          <p:nvPr/>
        </p:nvSpPr>
        <p:spPr>
          <a:xfrm rot="10800000">
            <a:off x="6108192" y="3163824"/>
            <a:ext cx="512064" cy="585216"/>
          </a:xfrm>
          <a:prstGeom prst="chord">
            <a:avLst/>
          </a:prstGeom>
          <a:solidFill>
            <a:srgbClr val="F8B4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9" name="Rectangle 88"/>
          <p:cNvSpPr/>
          <p:nvPr/>
        </p:nvSpPr>
        <p:spPr>
          <a:xfrm>
            <a:off x="6062472" y="3566160"/>
            <a:ext cx="603504" cy="73152"/>
          </a:xfrm>
          <a:prstGeom prst="rect">
            <a:avLst/>
          </a:prstGeom>
          <a:solidFill>
            <a:srgbClr val="F8B4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0" name="Oval 89"/>
          <p:cNvSpPr/>
          <p:nvPr/>
        </p:nvSpPr>
        <p:spPr>
          <a:xfrm>
            <a:off x="6300216" y="3639312"/>
            <a:ext cx="128016" cy="109728"/>
          </a:xfrm>
          <a:prstGeom prst="ellipse">
            <a:avLst/>
          </a:prstGeom>
          <a:solidFill>
            <a:srgbClr val="F8B4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1" name="Chord 90"/>
          <p:cNvSpPr/>
          <p:nvPr/>
        </p:nvSpPr>
        <p:spPr>
          <a:xfrm rot="10800000">
            <a:off x="841248" y="3712464"/>
            <a:ext cx="512064" cy="585216"/>
          </a:xfrm>
          <a:prstGeom prst="chord">
            <a:avLst/>
          </a:prstGeom>
          <a:solidFill>
            <a:srgbClr val="F8B4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2" name="Rectangle 91"/>
          <p:cNvSpPr/>
          <p:nvPr/>
        </p:nvSpPr>
        <p:spPr>
          <a:xfrm>
            <a:off x="795528" y="4114800"/>
            <a:ext cx="603504" cy="73152"/>
          </a:xfrm>
          <a:prstGeom prst="rect">
            <a:avLst/>
          </a:prstGeom>
          <a:solidFill>
            <a:srgbClr val="F8B4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3" name="Oval 92"/>
          <p:cNvSpPr/>
          <p:nvPr/>
        </p:nvSpPr>
        <p:spPr>
          <a:xfrm>
            <a:off x="1033272" y="4187952"/>
            <a:ext cx="128016" cy="109728"/>
          </a:xfrm>
          <a:prstGeom prst="ellipse">
            <a:avLst/>
          </a:prstGeom>
          <a:solidFill>
            <a:srgbClr val="F8B4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4" name="Chord 93"/>
          <p:cNvSpPr/>
          <p:nvPr/>
        </p:nvSpPr>
        <p:spPr>
          <a:xfrm rot="10800000">
            <a:off x="1499616" y="3712464"/>
            <a:ext cx="512064" cy="585216"/>
          </a:xfrm>
          <a:prstGeom prst="chord">
            <a:avLst/>
          </a:prstGeom>
          <a:solidFill>
            <a:srgbClr val="F8B4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5" name="Rectangle 94"/>
          <p:cNvSpPr/>
          <p:nvPr/>
        </p:nvSpPr>
        <p:spPr>
          <a:xfrm>
            <a:off x="1453896" y="4114800"/>
            <a:ext cx="603504" cy="73152"/>
          </a:xfrm>
          <a:prstGeom prst="rect">
            <a:avLst/>
          </a:prstGeom>
          <a:solidFill>
            <a:srgbClr val="F8B4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6" name="Oval 95"/>
          <p:cNvSpPr/>
          <p:nvPr/>
        </p:nvSpPr>
        <p:spPr>
          <a:xfrm>
            <a:off x="1691640" y="4187952"/>
            <a:ext cx="128016" cy="109728"/>
          </a:xfrm>
          <a:prstGeom prst="ellipse">
            <a:avLst/>
          </a:prstGeom>
          <a:solidFill>
            <a:srgbClr val="F8B4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7" name="Chord 96"/>
          <p:cNvSpPr/>
          <p:nvPr/>
        </p:nvSpPr>
        <p:spPr>
          <a:xfrm rot="10800000">
            <a:off x="2157984" y="3712464"/>
            <a:ext cx="512064" cy="585216"/>
          </a:xfrm>
          <a:prstGeom prst="chord">
            <a:avLst/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8" name="Rectangle 97"/>
          <p:cNvSpPr/>
          <p:nvPr/>
        </p:nvSpPr>
        <p:spPr>
          <a:xfrm>
            <a:off x="2112264" y="4114800"/>
            <a:ext cx="603504" cy="73152"/>
          </a:xfrm>
          <a:prstGeom prst="rect">
            <a:avLst/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9" name="Oval 98"/>
          <p:cNvSpPr/>
          <p:nvPr/>
        </p:nvSpPr>
        <p:spPr>
          <a:xfrm>
            <a:off x="2350008" y="4187952"/>
            <a:ext cx="128016" cy="109728"/>
          </a:xfrm>
          <a:prstGeom prst="ellipse">
            <a:avLst/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0" name="Chord 99"/>
          <p:cNvSpPr/>
          <p:nvPr/>
        </p:nvSpPr>
        <p:spPr>
          <a:xfrm rot="10800000">
            <a:off x="2816352" y="3712464"/>
            <a:ext cx="512064" cy="585216"/>
          </a:xfrm>
          <a:prstGeom prst="chord">
            <a:avLst/>
          </a:prstGeom>
          <a:solidFill>
            <a:srgbClr val="F8B4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1" name="Rectangle 100"/>
          <p:cNvSpPr/>
          <p:nvPr/>
        </p:nvSpPr>
        <p:spPr>
          <a:xfrm>
            <a:off x="2770632" y="4114800"/>
            <a:ext cx="603504" cy="73152"/>
          </a:xfrm>
          <a:prstGeom prst="rect">
            <a:avLst/>
          </a:prstGeom>
          <a:solidFill>
            <a:srgbClr val="F8B4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2" name="Oval 101"/>
          <p:cNvSpPr/>
          <p:nvPr/>
        </p:nvSpPr>
        <p:spPr>
          <a:xfrm>
            <a:off x="3008376" y="4187952"/>
            <a:ext cx="128016" cy="109728"/>
          </a:xfrm>
          <a:prstGeom prst="ellipse">
            <a:avLst/>
          </a:prstGeom>
          <a:solidFill>
            <a:srgbClr val="F8B4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3" name="Chord 102"/>
          <p:cNvSpPr/>
          <p:nvPr/>
        </p:nvSpPr>
        <p:spPr>
          <a:xfrm rot="10800000">
            <a:off x="3474720" y="3712464"/>
            <a:ext cx="512064" cy="585216"/>
          </a:xfrm>
          <a:prstGeom prst="chord">
            <a:avLst/>
          </a:prstGeom>
          <a:solidFill>
            <a:srgbClr val="F8B4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4" name="Rectangle 103"/>
          <p:cNvSpPr/>
          <p:nvPr/>
        </p:nvSpPr>
        <p:spPr>
          <a:xfrm>
            <a:off x="3429000" y="4114800"/>
            <a:ext cx="603504" cy="73152"/>
          </a:xfrm>
          <a:prstGeom prst="rect">
            <a:avLst/>
          </a:prstGeom>
          <a:solidFill>
            <a:srgbClr val="F8B4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5" name="Oval 104"/>
          <p:cNvSpPr/>
          <p:nvPr/>
        </p:nvSpPr>
        <p:spPr>
          <a:xfrm>
            <a:off x="3666744" y="4187952"/>
            <a:ext cx="128016" cy="109728"/>
          </a:xfrm>
          <a:prstGeom prst="ellipse">
            <a:avLst/>
          </a:prstGeom>
          <a:solidFill>
            <a:srgbClr val="F8B4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6" name="Chord 105"/>
          <p:cNvSpPr/>
          <p:nvPr/>
        </p:nvSpPr>
        <p:spPr>
          <a:xfrm rot="10800000">
            <a:off x="4133088" y="3712464"/>
            <a:ext cx="512064" cy="585216"/>
          </a:xfrm>
          <a:prstGeom prst="chord">
            <a:avLst/>
          </a:prstGeom>
          <a:solidFill>
            <a:srgbClr val="F8B4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7" name="Rectangle 106"/>
          <p:cNvSpPr/>
          <p:nvPr/>
        </p:nvSpPr>
        <p:spPr>
          <a:xfrm>
            <a:off x="4087368" y="4114800"/>
            <a:ext cx="603504" cy="73152"/>
          </a:xfrm>
          <a:prstGeom prst="rect">
            <a:avLst/>
          </a:prstGeom>
          <a:solidFill>
            <a:srgbClr val="F8B4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8" name="Oval 107"/>
          <p:cNvSpPr/>
          <p:nvPr/>
        </p:nvSpPr>
        <p:spPr>
          <a:xfrm>
            <a:off x="4325112" y="4187952"/>
            <a:ext cx="128016" cy="109728"/>
          </a:xfrm>
          <a:prstGeom prst="ellipse">
            <a:avLst/>
          </a:prstGeom>
          <a:solidFill>
            <a:srgbClr val="F8B4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9" name="Chord 108"/>
          <p:cNvSpPr/>
          <p:nvPr/>
        </p:nvSpPr>
        <p:spPr>
          <a:xfrm rot="10800000">
            <a:off x="4791456" y="3712464"/>
            <a:ext cx="512064" cy="585216"/>
          </a:xfrm>
          <a:prstGeom prst="chord">
            <a:avLst/>
          </a:prstGeom>
          <a:solidFill>
            <a:srgbClr val="F8B4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0" name="Rectangle 109"/>
          <p:cNvSpPr/>
          <p:nvPr/>
        </p:nvSpPr>
        <p:spPr>
          <a:xfrm>
            <a:off x="4745736" y="4114800"/>
            <a:ext cx="603504" cy="73152"/>
          </a:xfrm>
          <a:prstGeom prst="rect">
            <a:avLst/>
          </a:prstGeom>
          <a:solidFill>
            <a:srgbClr val="F8B4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1" name="Oval 110"/>
          <p:cNvSpPr/>
          <p:nvPr/>
        </p:nvSpPr>
        <p:spPr>
          <a:xfrm>
            <a:off x="4983480" y="4187952"/>
            <a:ext cx="128016" cy="109728"/>
          </a:xfrm>
          <a:prstGeom prst="ellipse">
            <a:avLst/>
          </a:prstGeom>
          <a:solidFill>
            <a:srgbClr val="F8B4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2" name="Chord 111"/>
          <p:cNvSpPr/>
          <p:nvPr/>
        </p:nvSpPr>
        <p:spPr>
          <a:xfrm rot="10800000">
            <a:off x="5449824" y="3712464"/>
            <a:ext cx="512064" cy="585216"/>
          </a:xfrm>
          <a:prstGeom prst="chord">
            <a:avLst/>
          </a:prstGeom>
          <a:solidFill>
            <a:srgbClr val="F8B4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3" name="Rectangle 112"/>
          <p:cNvSpPr/>
          <p:nvPr/>
        </p:nvSpPr>
        <p:spPr>
          <a:xfrm>
            <a:off x="5404104" y="4114800"/>
            <a:ext cx="603504" cy="73152"/>
          </a:xfrm>
          <a:prstGeom prst="rect">
            <a:avLst/>
          </a:prstGeom>
          <a:solidFill>
            <a:srgbClr val="F8B4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4" name="Oval 113"/>
          <p:cNvSpPr/>
          <p:nvPr/>
        </p:nvSpPr>
        <p:spPr>
          <a:xfrm>
            <a:off x="5641848" y="4187952"/>
            <a:ext cx="128016" cy="109728"/>
          </a:xfrm>
          <a:prstGeom prst="ellipse">
            <a:avLst/>
          </a:prstGeom>
          <a:solidFill>
            <a:srgbClr val="F8B4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5" name="Chord 114"/>
          <p:cNvSpPr/>
          <p:nvPr/>
        </p:nvSpPr>
        <p:spPr>
          <a:xfrm rot="10800000">
            <a:off x="6108192" y="3712464"/>
            <a:ext cx="512064" cy="585216"/>
          </a:xfrm>
          <a:prstGeom prst="chord">
            <a:avLst/>
          </a:prstGeom>
          <a:solidFill>
            <a:srgbClr val="F8B4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6" name="Rectangle 115"/>
          <p:cNvSpPr/>
          <p:nvPr/>
        </p:nvSpPr>
        <p:spPr>
          <a:xfrm>
            <a:off x="6062472" y="4114800"/>
            <a:ext cx="603504" cy="73152"/>
          </a:xfrm>
          <a:prstGeom prst="rect">
            <a:avLst/>
          </a:prstGeom>
          <a:solidFill>
            <a:srgbClr val="F8B4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7" name="Oval 116"/>
          <p:cNvSpPr/>
          <p:nvPr/>
        </p:nvSpPr>
        <p:spPr>
          <a:xfrm>
            <a:off x="6300216" y="4187952"/>
            <a:ext cx="128016" cy="109728"/>
          </a:xfrm>
          <a:prstGeom prst="ellipse">
            <a:avLst/>
          </a:prstGeom>
          <a:solidFill>
            <a:srgbClr val="F8B4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8" name="TextBox 117"/>
          <p:cNvSpPr txBox="1"/>
          <p:nvPr/>
        </p:nvSpPr>
        <p:spPr>
          <a:xfrm>
            <a:off x="822960" y="4434840"/>
            <a:ext cx="6035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200" b="1">
                <a:solidFill>
                  <a:srgbClr val="1E293B"/>
                </a:solidFill>
                <a:latin typeface="Segoe UI"/>
              </a:rPr>
              <a:t>Pale: nuisance alarms.  Dark: the two that mattered.</a:t>
            </a:r>
          </a:p>
        </p:txBody>
      </p:sp>
      <p:sp>
        <p:nvSpPr>
          <p:cNvPr id="119" name="Rounded Rectangle 118"/>
          <p:cNvSpPr/>
          <p:nvPr/>
        </p:nvSpPr>
        <p:spPr>
          <a:xfrm>
            <a:off x="7086600" y="2057400"/>
            <a:ext cx="4480560" cy="141732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E4E9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0" name="Rectangle 119"/>
          <p:cNvSpPr/>
          <p:nvPr/>
        </p:nvSpPr>
        <p:spPr>
          <a:xfrm>
            <a:off x="7086600" y="2057400"/>
            <a:ext cx="68580" cy="1417320"/>
          </a:xfrm>
          <a:prstGeom prst="rect">
            <a:avLst/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1" name="Rounded Rectangle 120"/>
          <p:cNvSpPr/>
          <p:nvPr/>
        </p:nvSpPr>
        <p:spPr>
          <a:xfrm>
            <a:off x="7360920" y="2313432"/>
            <a:ext cx="475488" cy="475488"/>
          </a:xfrm>
          <a:prstGeom prst="roundRect">
            <a:avLst/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2" name="TextBox 121"/>
          <p:cNvSpPr txBox="1"/>
          <p:nvPr/>
        </p:nvSpPr>
        <p:spPr>
          <a:xfrm>
            <a:off x="7360920" y="2377440"/>
            <a:ext cx="47548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700" b="1">
                <a:solidFill>
                  <a:srgbClr val="FFFFFF"/>
                </a:solidFill>
                <a:latin typeface="Segoe UI"/>
              </a:rPr>
              <a:t>!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7982712" y="2313432"/>
            <a:ext cx="329184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>
                <a:solidFill>
                  <a:srgbClr val="1E293B"/>
                </a:solidFill>
                <a:latin typeface="Segoe UI"/>
              </a:rPr>
              <a:t>Alarm fatigue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7379208" y="2971800"/>
            <a:ext cx="3877056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200" b="0">
                <a:solidFill>
                  <a:srgbClr val="5B677D"/>
                </a:solidFill>
                <a:latin typeface="Segoe UI"/>
              </a:rPr>
              <a:t>When most alarms are wrong, people learn to ignore them, including the one that is right.</a:t>
            </a:r>
          </a:p>
        </p:txBody>
      </p:sp>
      <p:sp>
        <p:nvSpPr>
          <p:cNvPr id="125" name="Rounded Rectangle 124"/>
          <p:cNvSpPr/>
          <p:nvPr/>
        </p:nvSpPr>
        <p:spPr>
          <a:xfrm>
            <a:off x="7086600" y="3611880"/>
            <a:ext cx="4480560" cy="141732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E4E9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6" name="Rectangle 125"/>
          <p:cNvSpPr/>
          <p:nvPr/>
        </p:nvSpPr>
        <p:spPr>
          <a:xfrm>
            <a:off x="7086600" y="3611880"/>
            <a:ext cx="68580" cy="1417320"/>
          </a:xfrm>
          <a:prstGeom prst="rect">
            <a:avLst/>
          </a:prstGeom>
          <a:solidFill>
            <a:srgbClr val="6C4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7" name="Rounded Rectangle 126"/>
          <p:cNvSpPr/>
          <p:nvPr/>
        </p:nvSpPr>
        <p:spPr>
          <a:xfrm>
            <a:off x="7360920" y="3867912"/>
            <a:ext cx="475488" cy="475488"/>
          </a:xfrm>
          <a:prstGeom prst="roundRect">
            <a:avLst/>
          </a:prstGeom>
          <a:solidFill>
            <a:srgbClr val="6C4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8" name="TextBox 127"/>
          <p:cNvSpPr txBox="1"/>
          <p:nvPr/>
        </p:nvSpPr>
        <p:spPr>
          <a:xfrm>
            <a:off x="7360920" y="3931920"/>
            <a:ext cx="47548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700" b="1">
                <a:solidFill>
                  <a:srgbClr val="FFFFFF"/>
                </a:solidFill>
                <a:latin typeface="Segoe UI"/>
              </a:rPr>
              <a:t>?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7982712" y="3867912"/>
            <a:ext cx="329184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>
                <a:solidFill>
                  <a:srgbClr val="1E293B"/>
                </a:solidFill>
                <a:latin typeface="Segoe UI"/>
              </a:rPr>
              <a:t>No reasons given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379208" y="4526280"/>
            <a:ext cx="3877056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200" b="0">
                <a:solidFill>
                  <a:srgbClr val="5B677D"/>
                </a:solidFill>
                <a:latin typeface="Segoe UI"/>
              </a:rPr>
              <a:t>"The model scored 0.83" tells an operator nothing they can check or argue with.</a:t>
            </a:r>
          </a:p>
        </p:txBody>
      </p:sp>
      <p:sp>
        <p:nvSpPr>
          <p:cNvPr id="131" name="Rounded Rectangle 130"/>
          <p:cNvSpPr/>
          <p:nvPr/>
        </p:nvSpPr>
        <p:spPr>
          <a:xfrm>
            <a:off x="640080" y="5074920"/>
            <a:ext cx="10908792" cy="1051560"/>
          </a:xfrm>
          <a:prstGeom prst="roundRect">
            <a:avLst/>
          </a:prstGeom>
          <a:solidFill>
            <a:srgbClr val="141B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2" name="Rectangle 131"/>
          <p:cNvSpPr/>
          <p:nvPr/>
        </p:nvSpPr>
        <p:spPr>
          <a:xfrm>
            <a:off x="640080" y="5074920"/>
            <a:ext cx="82296" cy="105156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3" name="TextBox 132"/>
          <p:cNvSpPr txBox="1"/>
          <p:nvPr/>
        </p:nvSpPr>
        <p:spPr>
          <a:xfrm>
            <a:off x="987552" y="5239512"/>
            <a:ext cx="10241280" cy="8138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250" b="1">
                <a:solidFill>
                  <a:srgbClr val="14B8A6"/>
                </a:solidFill>
                <a:latin typeface="Segoe UI"/>
              </a:rPr>
              <a:t>What people actually need</a:t>
            </a:r>
          </a:p>
          <a:p>
            <a:pPr algn="l">
              <a:lnSpc>
                <a:spcPct val="118000"/>
              </a:lnSpc>
              <a:spcBef>
                <a:spcPts val="500"/>
              </a:spcBef>
            </a:pPr>
            <a:r>
              <a:rPr sz="1250" b="0">
                <a:solidFill>
                  <a:srgbClr val="FFFFFF"/>
                </a:solidFill>
                <a:latin typeface="Segoe UI"/>
              </a:rPr>
              <a:t>One clear answer, the reasons behind it, and an honest note of anything it could not see. That is what quorum is built to give.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98448"/>
          </a:xfrm>
          <a:prstGeom prst="rect">
            <a:avLst/>
          </a:prstGeom>
          <a:solidFill>
            <a:srgbClr val="141B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298448"/>
            <a:ext cx="12191695" cy="50292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237744"/>
            <a:ext cx="108813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4B8A6"/>
                </a:solidFill>
                <a:latin typeface="Segoe UI"/>
              </a:rPr>
              <a:t>THE TRAP NOBODY SEES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12064"/>
            <a:ext cx="10881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FFFFFF"/>
                </a:solidFill>
                <a:latin typeface="Segoe UI"/>
              </a:rPr>
              <a:t>A dead sensor looks exactly like a healthy one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463040"/>
            <a:ext cx="10881360" cy="475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0">
                <a:solidFill>
                  <a:srgbClr val="5B677D"/>
                </a:solidFill>
                <a:latin typeface="Segoe UI"/>
              </a:rPr>
              <a:t>Silence from a broken gauge reads as "all is well". Most systems cannot tell the difference.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B677D"/>
                </a:solidFill>
                <a:latin typeface="Segoe UI"/>
              </a:rPr>
              <a:t>quorum  ·  BioDream LLC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64240" y="6419088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1">
                <a:solidFill>
                  <a:srgbClr val="5B677D"/>
                </a:solidFill>
                <a:latin typeface="Segoe UI"/>
              </a:rPr>
              <a:t>4</a:t>
            </a:r>
          </a:p>
        </p:txBody>
      </p:sp>
      <p:sp>
        <p:nvSpPr>
          <p:cNvPr id="10" name="Can 9"/>
          <p:cNvSpPr/>
          <p:nvPr/>
        </p:nvSpPr>
        <p:spPr>
          <a:xfrm>
            <a:off x="822960" y="2194560"/>
            <a:ext cx="1920240" cy="2468880"/>
          </a:xfrm>
          <a:prstGeom prst="can">
            <a:avLst/>
          </a:prstGeom>
          <a:solidFill>
            <a:srgbClr val="94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77824" y="2606040"/>
            <a:ext cx="1810512" cy="1920240"/>
          </a:xfrm>
          <a:prstGeom prst="rect">
            <a:avLst/>
          </a:prstGeom>
          <a:solidFill>
            <a:srgbClr val="60A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Wave 11"/>
          <p:cNvSpPr/>
          <p:nvPr/>
        </p:nvSpPr>
        <p:spPr>
          <a:xfrm>
            <a:off x="731520" y="2029968"/>
            <a:ext cx="2103120" cy="274320"/>
          </a:xfrm>
          <a:prstGeom prst="wave">
            <a:avLst/>
          </a:prstGeom>
          <a:solidFill>
            <a:srgbClr val="60A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7200" y="4754880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</a:pPr>
            <a:r>
              <a:rPr sz="1200" b="1">
                <a:solidFill>
                  <a:srgbClr val="DC2626"/>
                </a:solidFill>
                <a:latin typeface="Segoe UI"/>
              </a:rPr>
              <a:t>Tank: actually FULL, overflowing</a:t>
            </a:r>
          </a:p>
        </p:txBody>
      </p:sp>
      <p:sp>
        <p:nvSpPr>
          <p:cNvPr id="14" name="Oval 13"/>
          <p:cNvSpPr/>
          <p:nvPr/>
        </p:nvSpPr>
        <p:spPr>
          <a:xfrm>
            <a:off x="3017520" y="2468880"/>
            <a:ext cx="530352" cy="530352"/>
          </a:xfrm>
          <a:prstGeom prst="ellipse">
            <a:avLst/>
          </a:prstGeom>
          <a:solidFill>
            <a:srgbClr val="94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3182112" y="2633472"/>
            <a:ext cx="201168" cy="201168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788920" y="3063240"/>
            <a:ext cx="10515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</a:pPr>
            <a:r>
              <a:rPr sz="1050" b="1">
                <a:solidFill>
                  <a:srgbClr val="DC2626"/>
                </a:solidFill>
                <a:latin typeface="Segoe UI"/>
              </a:rPr>
              <a:t>gauge:
DEAD</a:t>
            </a:r>
          </a:p>
        </p:txBody>
      </p:sp>
      <p:sp>
        <p:nvSpPr>
          <p:cNvPr id="17" name="Oval 16"/>
          <p:cNvSpPr/>
          <p:nvPr/>
        </p:nvSpPr>
        <p:spPr>
          <a:xfrm>
            <a:off x="3429000" y="2286000"/>
            <a:ext cx="274320" cy="274320"/>
          </a:xfrm>
          <a:prstGeom prst="ellipse">
            <a:avLst/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latin typeface="Segoe UI"/>
              </a:rPr>
              <a:t>✕</a:t>
            </a:r>
          </a:p>
        </p:txBody>
      </p:sp>
      <p:cxnSp>
        <p:nvCxnSpPr>
          <p:cNvPr id="18" name="Connector 17"/>
          <p:cNvCxnSpPr/>
          <p:nvPr/>
        </p:nvCxnSpPr>
        <p:spPr>
          <a:xfrm flipV="1">
            <a:off x="3931920" y="2743200"/>
            <a:ext cx="914400" cy="548640"/>
          </a:xfrm>
          <a:prstGeom prst="line">
            <a:avLst/>
          </a:prstGeom>
          <a:ln w="25400">
            <a:solidFill>
              <a:srgbClr val="94A3B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3931920" y="3291840"/>
            <a:ext cx="914400" cy="914400"/>
          </a:xfrm>
          <a:prstGeom prst="line">
            <a:avLst/>
          </a:prstGeom>
          <a:ln w="25400">
            <a:solidFill>
              <a:srgbClr val="94A3B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ounded Rectangular Callout 19"/>
          <p:cNvSpPr/>
          <p:nvPr/>
        </p:nvSpPr>
        <p:spPr>
          <a:xfrm>
            <a:off x="4937760" y="2148840"/>
            <a:ext cx="3108960" cy="1143000"/>
          </a:xfrm>
          <a:prstGeom prst="wedgeRoundRectCallout">
            <a:avLst/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050" b="1">
                <a:solidFill>
                  <a:srgbClr val="FFFFFF"/>
                </a:solidFill>
                <a:latin typeface="Segoe UI"/>
              </a:rPr>
              <a:t>ORDINARY SYSTEM</a:t>
            </a:r>
          </a:p>
          <a:p>
            <a:pPr algn="ctr"/>
            <a:r>
              <a:rPr sz="1200">
                <a:solidFill>
                  <a:srgbClr val="FFFFFF"/>
                </a:solidFill>
                <a:latin typeface="Segoe UI"/>
              </a:rPr>
              <a:t>"No high-level signal. Tank is fine."</a:t>
            </a:r>
          </a:p>
        </p:txBody>
      </p:sp>
      <p:sp>
        <p:nvSpPr>
          <p:cNvPr id="21" name="Rounded Rectangular Callout 20"/>
          <p:cNvSpPr/>
          <p:nvPr/>
        </p:nvSpPr>
        <p:spPr>
          <a:xfrm>
            <a:off x="4937760" y="3611880"/>
            <a:ext cx="3108960" cy="1325880"/>
          </a:xfrm>
          <a:prstGeom prst="wedgeRoundRectCallou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050" b="1">
                <a:solidFill>
                  <a:srgbClr val="FFFFFF"/>
                </a:solidFill>
                <a:latin typeface="Segoe UI"/>
              </a:rPr>
              <a:t>QUORUM</a:t>
            </a:r>
          </a:p>
          <a:p>
            <a:pPr algn="ctr"/>
            <a:r>
              <a:rPr sz="1200">
                <a:solidFill>
                  <a:srgbClr val="FFFFFF"/>
                </a:solidFill>
                <a:latin typeface="Segoe UI"/>
              </a:rPr>
              <a:t>"I am ASSUMING the level is not high, because the gauge said nothing. Check it."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366760" y="2148840"/>
            <a:ext cx="3200400" cy="278892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E4E9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366760" y="2148840"/>
            <a:ext cx="68580" cy="278892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8641080" y="2404872"/>
            <a:ext cx="475488" cy="475488"/>
          </a:xfrm>
          <a:prstGeom prst="round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641080" y="2468880"/>
            <a:ext cx="47548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700" b="1">
                <a:solidFill>
                  <a:srgbClr val="FFFFFF"/>
                </a:solidFill>
                <a:latin typeface="Segoe UI"/>
              </a:rPr>
              <a:t>⚠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262872" y="2404872"/>
            <a:ext cx="201168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>
                <a:solidFill>
                  <a:srgbClr val="1E293B"/>
                </a:solidFill>
                <a:latin typeface="Segoe UI"/>
              </a:rPr>
              <a:t>Real history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659368" y="3063240"/>
            <a:ext cx="2596896" cy="1691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200" b="0">
                <a:solidFill>
                  <a:srgbClr val="5B677D"/>
                </a:solidFill>
                <a:latin typeface="Segoe UI"/>
              </a:rPr>
              <a:t>The 2009 CAPECO tank-farm explosion in Puerto Rico began with a tank overfilling while its level gauge was not working. quorum names what it assumed, so a dead gauge shows up in the explanation.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40080" y="5349240"/>
            <a:ext cx="10908792" cy="777240"/>
          </a:xfrm>
          <a:prstGeom prst="roundRect">
            <a:avLst/>
          </a:prstGeom>
          <a:solidFill>
            <a:srgbClr val="141B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40080" y="5349240"/>
            <a:ext cx="82296" cy="7772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87552" y="5513832"/>
            <a:ext cx="10241280" cy="5394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250" b="0">
                <a:solidFill>
                  <a:srgbClr val="FFFFFF"/>
                </a:solidFill>
                <a:latin typeface="Segoe UI"/>
              </a:rPr>
              <a:t>quorum also checks the rulebook itself: it warns when nothing in it can tell a dead sensor from a quiet one, before it ever goes near a machine.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98448"/>
          </a:xfrm>
          <a:prstGeom prst="rect">
            <a:avLst/>
          </a:prstGeom>
          <a:solidFill>
            <a:srgbClr val="141B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298448"/>
            <a:ext cx="12191695" cy="50292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237744"/>
            <a:ext cx="108813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4B8A6"/>
                </a:solidFill>
                <a:latin typeface="Segoe UI"/>
              </a:rPr>
              <a:t>IN ONE SENTENCE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12064"/>
            <a:ext cx="10881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FFFFFF"/>
                </a:solidFill>
                <a:latin typeface="Segoe UI"/>
              </a:rPr>
              <a:t>What quorum is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B677D"/>
                </a:solidFill>
                <a:latin typeface="Segoe UI"/>
              </a:rPr>
              <a:t>quorum  ·  BioDream LLC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64240" y="6419088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1">
                <a:solidFill>
                  <a:srgbClr val="5B677D"/>
                </a:solidFill>
                <a:latin typeface="Segoe UI"/>
              </a:rPr>
              <a:t>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600200"/>
            <a:ext cx="108813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100" b="1">
                <a:solidFill>
                  <a:srgbClr val="1E293B"/>
                </a:solidFill>
                <a:latin typeface="Segoe UI"/>
              </a:rPr>
              <a:t>A rulebook for a machine that is allowed to argue with itself, checked against every situation that could ever happen, small enough to run on a chip that costs less than lunch.</a:t>
            </a:r>
          </a:p>
        </p:txBody>
      </p:sp>
      <p:sp>
        <p:nvSpPr>
          <p:cNvPr id="10" name="Pentagon 9"/>
          <p:cNvSpPr/>
          <p:nvPr/>
        </p:nvSpPr>
        <p:spPr>
          <a:xfrm>
            <a:off x="640080" y="2971800"/>
            <a:ext cx="2697480" cy="731520"/>
          </a:xfrm>
          <a:prstGeom prst="homePlate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/>
            <a:r>
              <a:rPr sz="1700" b="1">
                <a:solidFill>
                  <a:srgbClr val="FFFFFF"/>
                </a:solidFill>
                <a:latin typeface="Segoe UI"/>
              </a:rPr>
              <a:t>1  Write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3840480"/>
            <a:ext cx="24231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200" b="0">
                <a:solidFill>
                  <a:srgbClr val="5B677D"/>
                </a:solidFill>
                <a:latin typeface="Segoe UI"/>
              </a:rPr>
              <a:t>An engineer writes rules in plain words, or imports a safety worksheet.</a:t>
            </a:r>
          </a:p>
        </p:txBody>
      </p:sp>
      <p:sp>
        <p:nvSpPr>
          <p:cNvPr id="12" name="Chevron 11"/>
          <p:cNvSpPr/>
          <p:nvPr/>
        </p:nvSpPr>
        <p:spPr>
          <a:xfrm>
            <a:off x="3474720" y="2971800"/>
            <a:ext cx="2697480" cy="731520"/>
          </a:xfrm>
          <a:prstGeom prst="chevron">
            <a:avLst/>
          </a:prstGeom>
          <a:solidFill>
            <a:srgbClr val="6C4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/>
            <a:r>
              <a:rPr sz="1700" b="1">
                <a:solidFill>
                  <a:srgbClr val="FFFFFF"/>
                </a:solidFill>
                <a:latin typeface="Segoe UI"/>
              </a:rPr>
              <a:t>2  Check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11880" y="3840480"/>
            <a:ext cx="24231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200" b="0">
                <a:solidFill>
                  <a:srgbClr val="5B677D"/>
                </a:solidFill>
                <a:latin typeface="Segoe UI"/>
              </a:rPr>
              <a:t>The computer tries every combination of readings and refuses if any fails.</a:t>
            </a:r>
          </a:p>
        </p:txBody>
      </p:sp>
      <p:sp>
        <p:nvSpPr>
          <p:cNvPr id="14" name="Chevron 13"/>
          <p:cNvSpPr/>
          <p:nvPr/>
        </p:nvSpPr>
        <p:spPr>
          <a:xfrm>
            <a:off x="6309360" y="2971800"/>
            <a:ext cx="2697480" cy="731520"/>
          </a:xfrm>
          <a:prstGeom prst="chevron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/>
            <a:r>
              <a:rPr sz="1700" b="1">
                <a:solidFill>
                  <a:srgbClr val="FFFFFF"/>
                </a:solidFill>
                <a:latin typeface="Segoe UI"/>
              </a:rPr>
              <a:t>3  Load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46520" y="3840480"/>
            <a:ext cx="24231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200" b="0">
                <a:solidFill>
                  <a:srgbClr val="5B677D"/>
                </a:solidFill>
                <a:latin typeface="Segoe UI"/>
              </a:rPr>
              <a:t>One click turns the checked rulebook into a file for the chip.</a:t>
            </a:r>
          </a:p>
        </p:txBody>
      </p:sp>
      <p:sp>
        <p:nvSpPr>
          <p:cNvPr id="16" name="Chevron 15"/>
          <p:cNvSpPr/>
          <p:nvPr/>
        </p:nvSpPr>
        <p:spPr>
          <a:xfrm>
            <a:off x="9144000" y="2971800"/>
            <a:ext cx="2697480" cy="731520"/>
          </a:xfrm>
          <a:prstGeom prst="chevron">
            <a:avLst/>
          </a:prstGeom>
          <a:solidFill>
            <a:srgbClr val="2E8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/>
            <a:r>
              <a:rPr sz="1700" b="1">
                <a:solidFill>
                  <a:srgbClr val="FFFFFF"/>
                </a:solidFill>
                <a:latin typeface="Segoe UI"/>
              </a:rPr>
              <a:t>4  Decide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281160" y="3840480"/>
            <a:ext cx="24231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200" b="0">
                <a:solidFill>
                  <a:srgbClr val="5B677D"/>
                </a:solidFill>
                <a:latin typeface="Segoe UI"/>
              </a:rPr>
              <a:t>The chip answers in well under a millisecond, with its reasons.</a:t>
            </a:r>
          </a:p>
        </p:txBody>
      </p:sp>
      <p:sp>
        <p:nvSpPr>
          <p:cNvPr id="18" name="Folded Corner 17"/>
          <p:cNvSpPr/>
          <p:nvPr/>
        </p:nvSpPr>
        <p:spPr>
          <a:xfrm>
            <a:off x="868680" y="4800600"/>
            <a:ext cx="685800" cy="868680"/>
          </a:xfrm>
          <a:prstGeom prst="foldedCorner">
            <a:avLst/>
          </a:prstGeom>
          <a:solidFill>
            <a:srgbClr val="FFFFFF"/>
          </a:solidFill>
          <a:ln w="15875">
            <a:solidFill>
              <a:srgbClr val="E4E9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005840" y="4946904"/>
            <a:ext cx="308610" cy="64008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1005840" y="5148072"/>
            <a:ext cx="288036" cy="41148"/>
          </a:xfrm>
          <a:prstGeom prst="rect">
            <a:avLst/>
          </a:prstGeom>
          <a:solidFill>
            <a:srgbClr val="E4E9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1005840" y="5201412"/>
            <a:ext cx="390906" cy="41148"/>
          </a:xfrm>
          <a:prstGeom prst="rect">
            <a:avLst/>
          </a:prstGeom>
          <a:solidFill>
            <a:srgbClr val="E4E9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1005840" y="5254752"/>
            <a:ext cx="390906" cy="41148"/>
          </a:xfrm>
          <a:prstGeom prst="rect">
            <a:avLst/>
          </a:prstGeom>
          <a:solidFill>
            <a:srgbClr val="E4E9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1005840" y="5308092"/>
            <a:ext cx="288036" cy="41148"/>
          </a:xfrm>
          <a:prstGeom prst="rect">
            <a:avLst/>
          </a:prstGeom>
          <a:solidFill>
            <a:srgbClr val="E4E9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1005840" y="5361432"/>
            <a:ext cx="390906" cy="41148"/>
          </a:xfrm>
          <a:prstGeom prst="rect">
            <a:avLst/>
          </a:prstGeom>
          <a:solidFill>
            <a:srgbClr val="E4E9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1005840" y="5414772"/>
            <a:ext cx="390906" cy="41148"/>
          </a:xfrm>
          <a:prstGeom prst="rect">
            <a:avLst/>
          </a:prstGeom>
          <a:solidFill>
            <a:srgbClr val="E4E9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3703320" y="4983480"/>
            <a:ext cx="548640" cy="548640"/>
          </a:xfrm>
          <a:prstGeom prst="ellipse">
            <a:avLst/>
          </a:prstGeom>
          <a:solidFill>
            <a:srgbClr val="22A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/>
            <a:r>
              <a:rPr sz="2300" b="1">
                <a:solidFill>
                  <a:srgbClr val="FFFFFF"/>
                </a:solidFill>
                <a:latin typeface="Segoe UI"/>
              </a:rPr>
              <a:t>✓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464104" y="4736592"/>
            <a:ext cx="63304" cy="109728"/>
          </a:xfrm>
          <a:prstGeom prst="rect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464104" y="5577840"/>
            <a:ext cx="63304" cy="109728"/>
          </a:xfrm>
          <a:prstGeom prst="rect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590713" y="4736592"/>
            <a:ext cx="63304" cy="109728"/>
          </a:xfrm>
          <a:prstGeom prst="rect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6590713" y="5577840"/>
            <a:ext cx="63304" cy="109728"/>
          </a:xfrm>
          <a:prstGeom prst="rect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6717323" y="4736592"/>
            <a:ext cx="63304" cy="109728"/>
          </a:xfrm>
          <a:prstGeom prst="rect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6717323" y="5577840"/>
            <a:ext cx="63304" cy="109728"/>
          </a:xfrm>
          <a:prstGeom prst="rect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843932" y="4736592"/>
            <a:ext cx="63304" cy="109728"/>
          </a:xfrm>
          <a:prstGeom prst="rect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6843932" y="5577840"/>
            <a:ext cx="63304" cy="109728"/>
          </a:xfrm>
          <a:prstGeom prst="rect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6970541" y="4736592"/>
            <a:ext cx="63304" cy="109728"/>
          </a:xfrm>
          <a:prstGeom prst="rect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6970541" y="5577840"/>
            <a:ext cx="63304" cy="109728"/>
          </a:xfrm>
          <a:prstGeom prst="rect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7097150" y="4736592"/>
            <a:ext cx="63304" cy="109728"/>
          </a:xfrm>
          <a:prstGeom prst="rect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7097150" y="5577840"/>
            <a:ext cx="63304" cy="109728"/>
          </a:xfrm>
          <a:prstGeom prst="rect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6291072" y="4902590"/>
            <a:ext cx="109728" cy="56270"/>
          </a:xfrm>
          <a:prstGeom prst="rect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7223760" y="4902590"/>
            <a:ext cx="109728" cy="56270"/>
          </a:xfrm>
          <a:prstGeom prst="rect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6291072" y="5015132"/>
            <a:ext cx="109728" cy="56270"/>
          </a:xfrm>
          <a:prstGeom prst="rect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7223760" y="5015132"/>
            <a:ext cx="109728" cy="56270"/>
          </a:xfrm>
          <a:prstGeom prst="rect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6291072" y="5127673"/>
            <a:ext cx="109728" cy="56270"/>
          </a:xfrm>
          <a:prstGeom prst="rect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7223760" y="5127673"/>
            <a:ext cx="109728" cy="56270"/>
          </a:xfrm>
          <a:prstGeom prst="rect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6291072" y="5240215"/>
            <a:ext cx="109728" cy="56270"/>
          </a:xfrm>
          <a:prstGeom prst="rect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7223760" y="5240215"/>
            <a:ext cx="109728" cy="56270"/>
          </a:xfrm>
          <a:prstGeom prst="rect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6291072" y="5352756"/>
            <a:ext cx="109728" cy="56270"/>
          </a:xfrm>
          <a:prstGeom prst="rect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7223760" y="5352756"/>
            <a:ext cx="109728" cy="56270"/>
          </a:xfrm>
          <a:prstGeom prst="rect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6291072" y="5465298"/>
            <a:ext cx="109728" cy="56270"/>
          </a:xfrm>
          <a:prstGeom prst="rect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7223760" y="5465298"/>
            <a:ext cx="109728" cy="56270"/>
          </a:xfrm>
          <a:prstGeom prst="rect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1" name="Rounded Rectangle 50"/>
          <p:cNvSpPr/>
          <p:nvPr/>
        </p:nvSpPr>
        <p:spPr>
          <a:xfrm>
            <a:off x="6400800" y="4846320"/>
            <a:ext cx="822960" cy="731520"/>
          </a:xfrm>
          <a:prstGeom prst="roundRect">
            <a:avLst/>
          </a:prstGeom>
          <a:solidFill>
            <a:srgbClr val="1F29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2" name="Oval 51"/>
          <p:cNvSpPr/>
          <p:nvPr/>
        </p:nvSpPr>
        <p:spPr>
          <a:xfrm>
            <a:off x="6483096" y="4928616"/>
            <a:ext cx="100584" cy="100584"/>
          </a:xfrm>
          <a:prstGeom prst="ellipse">
            <a:avLst/>
          </a:prstGeom>
          <a:solidFill>
            <a:srgbClr val="3741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3" name="Rounded Rectangular Callout 52"/>
          <p:cNvSpPr/>
          <p:nvPr/>
        </p:nvSpPr>
        <p:spPr>
          <a:xfrm>
            <a:off x="9052560" y="4709160"/>
            <a:ext cx="2377440" cy="868680"/>
          </a:xfrm>
          <a:prstGeom prst="wedgeRoundRectCallout">
            <a:avLst/>
          </a:prstGeom>
          <a:solidFill>
            <a:srgbClr val="2E8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050" b="1">
                <a:solidFill>
                  <a:srgbClr val="FFFFFF"/>
                </a:solidFill>
                <a:latin typeface="Segoe UI"/>
              </a:rPr>
              <a:t>CHIP</a:t>
            </a:r>
          </a:p>
          <a:p>
            <a:pPr algn="ctr"/>
            <a:r>
              <a:rPr sz="1200">
                <a:solidFill>
                  <a:srgbClr val="FFFFFF"/>
                </a:solidFill>
                <a:latin typeface="Segoe UI"/>
              </a:rPr>
              <a:t>"Carry on: maintenance today."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783080" y="5029200"/>
            <a:ext cx="1737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E293B"/>
                </a:solidFill>
                <a:latin typeface="Segoe UI"/>
              </a:rPr>
              <a:t>the rulebook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4389120" y="5074920"/>
            <a:ext cx="1737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E293B"/>
                </a:solidFill>
                <a:latin typeface="Segoe UI"/>
              </a:rPr>
              <a:t>every case passed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7406640" y="5074920"/>
            <a:ext cx="1463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E293B"/>
                </a:solidFill>
                <a:latin typeface="Segoe UI"/>
              </a:rPr>
              <a:t>loaded on a chip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98448"/>
          </a:xfrm>
          <a:prstGeom prst="rect">
            <a:avLst/>
          </a:prstGeom>
          <a:solidFill>
            <a:srgbClr val="141B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298448"/>
            <a:ext cx="12191695" cy="50292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237744"/>
            <a:ext cx="108813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4B8A6"/>
                </a:solidFill>
                <a:latin typeface="Segoe UI"/>
              </a:rPr>
              <a:t>HOW IT THINKS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12064"/>
            <a:ext cx="10881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FFFFFF"/>
                </a:solidFill>
                <a:latin typeface="Segoe UI"/>
              </a:rPr>
              <a:t>Like a courtroom, not a calculator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463040"/>
            <a:ext cx="10881360" cy="475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0">
                <a:solidFill>
                  <a:srgbClr val="5B677D"/>
                </a:solidFill>
                <a:latin typeface="Segoe UI"/>
              </a:rPr>
              <a:t>Every rule is an argument. Arguments can knock each other down. Whatever survives decides.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B677D"/>
                </a:solidFill>
                <a:latin typeface="Segoe UI"/>
              </a:rPr>
              <a:t>quorum  ·  BioDream LLC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64240" y="6419088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1">
                <a:solidFill>
                  <a:srgbClr val="5B677D"/>
                </a:solidFill>
                <a:latin typeface="Segoe UI"/>
              </a:rPr>
              <a:t>6</a:t>
            </a:r>
          </a:p>
        </p:txBody>
      </p:sp>
      <p:sp>
        <p:nvSpPr>
          <p:cNvPr id="10" name="Rounded Rectangular Callout 9"/>
          <p:cNvSpPr/>
          <p:nvPr/>
        </p:nvSpPr>
        <p:spPr>
          <a:xfrm>
            <a:off x="731520" y="2103120"/>
            <a:ext cx="3291840" cy="914400"/>
          </a:xfrm>
          <a:prstGeom prst="wedgeRoundRectCallout">
            <a:avLst/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050" b="1">
                <a:solidFill>
                  <a:srgbClr val="FFFFFF"/>
                </a:solidFill>
                <a:latin typeface="Segoe UI"/>
              </a:rPr>
              <a:t>THE ACCUSATION</a:t>
            </a:r>
          </a:p>
          <a:p>
            <a:pPr algn="ctr"/>
            <a:r>
              <a:rPr sz="1200">
                <a:solidFill>
                  <a:srgbClr val="FFFFFF"/>
                </a:solidFill>
                <a:latin typeface="Segoe UI"/>
              </a:rPr>
              <a:t>"Vibration is high: bearing wear!"</a:t>
            </a:r>
          </a:p>
        </p:txBody>
      </p:sp>
      <p:sp>
        <p:nvSpPr>
          <p:cNvPr id="11" name="Rounded Rectangular Callout 10"/>
          <p:cNvSpPr/>
          <p:nvPr/>
        </p:nvSpPr>
        <p:spPr>
          <a:xfrm>
            <a:off x="731520" y="3337560"/>
            <a:ext cx="3291840" cy="914400"/>
          </a:xfrm>
          <a:prstGeom prst="wedgeRoundRectCallou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050" b="1">
                <a:solidFill>
                  <a:srgbClr val="FFFFFF"/>
                </a:solidFill>
                <a:latin typeface="Segoe UI"/>
              </a:rPr>
              <a:t>THE EXCUSE</a:t>
            </a:r>
          </a:p>
          <a:p>
            <a:pPr algn="ctr"/>
            <a:r>
              <a:rPr sz="1200">
                <a:solidFill>
                  <a:srgbClr val="FFFFFF"/>
                </a:solidFill>
                <a:latin typeface="Segoe UI"/>
              </a:rPr>
              <a:t>"No: it's from today's maintenance."</a:t>
            </a:r>
          </a:p>
        </p:txBody>
      </p:sp>
      <p:sp>
        <p:nvSpPr>
          <p:cNvPr id="12" name="Rounded Rectangular Callout 11"/>
          <p:cNvSpPr/>
          <p:nvPr/>
        </p:nvSpPr>
        <p:spPr>
          <a:xfrm>
            <a:off x="731520" y="4572000"/>
            <a:ext cx="3291840" cy="914400"/>
          </a:xfrm>
          <a:prstGeom prst="wedgeRoundRectCallout">
            <a:avLst/>
          </a:prstGeom>
          <a:solidFill>
            <a:srgbClr val="6C4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050" b="1">
                <a:solidFill>
                  <a:srgbClr val="FFFFFF"/>
                </a:solidFill>
                <a:latin typeface="Segoe UI"/>
              </a:rPr>
              <a:t>THE DOUBT</a:t>
            </a:r>
          </a:p>
          <a:p>
            <a:pPr algn="ctr"/>
            <a:r>
              <a:rPr sz="1200">
                <a:solidFill>
                  <a:srgbClr val="FFFFFF"/>
                </a:solidFill>
                <a:latin typeface="Segoe UI"/>
              </a:rPr>
              <a:t>"Don't trust that vibration reading."</a:t>
            </a:r>
          </a:p>
        </p:txBody>
      </p:sp>
      <p:cxnSp>
        <p:nvCxnSpPr>
          <p:cNvPr id="13" name="Connector 12"/>
          <p:cNvCxnSpPr/>
          <p:nvPr/>
        </p:nvCxnSpPr>
        <p:spPr>
          <a:xfrm flipV="1">
            <a:off x="4114800" y="2743200"/>
            <a:ext cx="822960" cy="1051560"/>
          </a:xfrm>
          <a:prstGeom prst="line">
            <a:avLst/>
          </a:prstGeom>
          <a:ln w="38100">
            <a:solidFill>
              <a:srgbClr val="F59E0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V="1">
            <a:off x="4114800" y="2926080"/>
            <a:ext cx="822960" cy="2103120"/>
          </a:xfrm>
          <a:prstGeom prst="line">
            <a:avLst/>
          </a:prstGeom>
          <a:ln w="38100">
            <a:solidFill>
              <a:srgbClr val="6C4BE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ectangle 14"/>
          <p:cNvSpPr/>
          <p:nvPr/>
        </p:nvSpPr>
        <p:spPr>
          <a:xfrm>
            <a:off x="5596128" y="2386584"/>
            <a:ext cx="54864" cy="56692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294376" y="2423160"/>
            <a:ext cx="658368" cy="45720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Chord 16"/>
          <p:cNvSpPr/>
          <p:nvPr/>
        </p:nvSpPr>
        <p:spPr>
          <a:xfrm rot="10800000">
            <a:off x="5239512" y="2532888"/>
            <a:ext cx="237744" cy="182880"/>
          </a:xfrm>
          <a:prstGeom prst="chord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Chord 17"/>
          <p:cNvSpPr/>
          <p:nvPr/>
        </p:nvSpPr>
        <p:spPr>
          <a:xfrm rot="10800000">
            <a:off x="5769864" y="2532888"/>
            <a:ext cx="237744" cy="182880"/>
          </a:xfrm>
          <a:prstGeom prst="chord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458968" y="2935224"/>
            <a:ext cx="329184" cy="6400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846320" y="3246120"/>
            <a:ext cx="15544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</a:pPr>
            <a:r>
              <a:rPr sz="1100" b="1">
                <a:solidFill>
                  <a:srgbClr val="1E293B"/>
                </a:solidFill>
                <a:latin typeface="Segoe UI"/>
              </a:rPr>
              <a:t>the judge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766560" y="2103120"/>
            <a:ext cx="4754880" cy="3291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1E293B"/>
                </a:solidFill>
                <a:latin typeface="Segoe UI"/>
              </a:rPr>
              <a:t>How a case plays out</a:t>
            </a:r>
          </a:p>
          <a:p>
            <a:pPr algn="l">
              <a:lnSpc>
                <a:spcPct val="115000"/>
              </a:lnSpc>
              <a:spcBef>
                <a:spcPts val="1000"/>
              </a:spcBef>
            </a:pPr>
            <a:r>
              <a:rPr sz="1300" b="0">
                <a:solidFill>
                  <a:srgbClr val="1E293B"/>
                </a:solidFill>
                <a:latin typeface="Segoe UI"/>
              </a:rPr>
              <a:t>Vibration alone: the accusation stands. Stop the pump.</a:t>
            </a:r>
          </a:p>
          <a:p>
            <a:pPr algn="l">
              <a:lnSpc>
                <a:spcPct val="115000"/>
              </a:lnSpc>
              <a:spcBef>
                <a:spcPts val="800"/>
              </a:spcBef>
            </a:pPr>
            <a:r>
              <a:rPr sz="1300" b="0">
                <a:solidFill>
                  <a:srgbClr val="1E293B"/>
                </a:solidFill>
                <a:latin typeface="Segoe UI"/>
              </a:rPr>
              <a:t>Vibration + maintenance today: the excuse knocks it down. Carry on.</a:t>
            </a:r>
          </a:p>
          <a:p>
            <a:pPr algn="l">
              <a:lnSpc>
                <a:spcPct val="115000"/>
              </a:lnSpc>
              <a:spcBef>
                <a:spcPts val="800"/>
              </a:spcBef>
            </a:pPr>
            <a:r>
              <a:rPr sz="1300" b="0">
                <a:solidFill>
                  <a:srgbClr val="1E293B"/>
                </a:solidFill>
                <a:latin typeface="Segoe UI"/>
              </a:rPr>
              <a:t>Vibration + loose sensor mount: the reading itself is in doubt. Fix the sensor first.</a:t>
            </a:r>
          </a:p>
          <a:p>
            <a:pPr algn="l">
              <a:lnSpc>
                <a:spcPct val="115000"/>
              </a:lnSpc>
              <a:spcBef>
                <a:spcPts val="1200"/>
              </a:spcBef>
            </a:pPr>
            <a:r>
              <a:rPr sz="1300" b="1">
                <a:solidFill>
                  <a:srgbClr val="14B8A6"/>
                </a:solidFill>
                <a:latin typeface="Segoe UI"/>
              </a:rPr>
              <a:t>Exactly one answer every time, and the reason is the chain of arguments that survived.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40080" y="5715000"/>
            <a:ext cx="10908792" cy="685800"/>
          </a:xfrm>
          <a:prstGeom prst="roundRect">
            <a:avLst/>
          </a:prstGeom>
          <a:solidFill>
            <a:srgbClr val="141B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40080" y="5715000"/>
            <a:ext cx="82296" cy="6858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87552" y="5879592"/>
            <a:ext cx="10241280" cy="448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250" b="0">
                <a:solidFill>
                  <a:srgbClr val="FFFFFF"/>
                </a:solidFill>
                <a:latin typeface="Segoe UI"/>
              </a:rPr>
              <a:t>This style of reasoning ("argumentation") has decades of research behind it. quorum's contribution is making it small, checked and on time enough for real machines.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98448"/>
          </a:xfrm>
          <a:prstGeom prst="rect">
            <a:avLst/>
          </a:prstGeom>
          <a:solidFill>
            <a:srgbClr val="141B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298448"/>
            <a:ext cx="12191695" cy="50292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237744"/>
            <a:ext cx="108813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4B8A6"/>
                </a:solidFill>
                <a:latin typeface="Segoe UI"/>
              </a:rPr>
              <a:t>THE RULEBOOK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12064"/>
            <a:ext cx="10881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FFFFFF"/>
                </a:solidFill>
                <a:latin typeface="Segoe UI"/>
              </a:rPr>
              <a:t>Engineers write it in plain words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463040"/>
            <a:ext cx="10881360" cy="475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0">
                <a:solidFill>
                  <a:srgbClr val="5B677D"/>
                </a:solidFill>
                <a:latin typeface="Segoe UI"/>
              </a:rPr>
              <a:t>A short, readable file. An expert can read it, argue with it and sign it.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B677D"/>
                </a:solidFill>
                <a:latin typeface="Segoe UI"/>
              </a:rPr>
              <a:t>quorum  ·  BioDream LLC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64240" y="6419088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1">
                <a:solidFill>
                  <a:srgbClr val="5B677D"/>
                </a:solidFill>
                <a:latin typeface="Segoe UI"/>
              </a:rPr>
              <a:t>7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2011680"/>
            <a:ext cx="6035040" cy="3429000"/>
          </a:xfrm>
          <a:prstGeom prst="round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2240280"/>
            <a:ext cx="1463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14B8A6"/>
                </a:solidFill>
                <a:latin typeface="Segoe UI"/>
              </a:rPr>
              <a:t>casebook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377440" y="2240280"/>
            <a:ext cx="4206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300" b="0">
                <a:solidFill>
                  <a:srgbClr val="E4E9F2"/>
                </a:solidFill>
                <a:latin typeface="Segoe UI"/>
              </a:rPr>
              <a:t>centrifugal-pump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2679192"/>
            <a:ext cx="1463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2E8BE8"/>
                </a:solidFill>
                <a:latin typeface="Segoe UI"/>
              </a:rPr>
              <a:t>observe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377440" y="2679192"/>
            <a:ext cx="4206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300" b="0">
                <a:solidFill>
                  <a:srgbClr val="E4E9F2"/>
                </a:solidFill>
                <a:latin typeface="Segoe UI"/>
              </a:rPr>
              <a:t>vibration_high, bearing_temp_high, ...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3118104"/>
            <a:ext cx="1463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F59E0B"/>
                </a:solidFill>
                <a:latin typeface="Segoe UI"/>
              </a:rPr>
              <a:t>argument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377440" y="3118104"/>
            <a:ext cx="4206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300" b="0">
                <a:solidFill>
                  <a:srgbClr val="E4E9F2"/>
                </a:solidFill>
                <a:latin typeface="Segoe UI"/>
              </a:rPr>
              <a:t>bearing_wear  "wear in the bearing"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400" y="3557016"/>
            <a:ext cx="1463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E11D6B"/>
                </a:solidFill>
                <a:latin typeface="Segoe UI"/>
              </a:rPr>
              <a:t>attacks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377440" y="3557016"/>
            <a:ext cx="4206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300" b="0">
                <a:solidFill>
                  <a:srgbClr val="E4E9F2"/>
                </a:solidFill>
                <a:latin typeface="Segoe UI"/>
              </a:rPr>
              <a:t>maintenance_today -&gt; bearing_wear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4400" y="3995928"/>
            <a:ext cx="1463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22A55A"/>
                </a:solidFill>
                <a:latin typeface="Segoe UI"/>
              </a:rPr>
              <a:t>action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377440" y="3995928"/>
            <a:ext cx="4206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300" b="0">
                <a:solidFill>
                  <a:srgbClr val="E4E9F2"/>
                </a:solidFill>
                <a:latin typeface="Segoe UI"/>
              </a:rPr>
              <a:t>stop_pump  when bearing_wear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4400" y="4434840"/>
            <a:ext cx="1463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6C4BE8"/>
                </a:solidFill>
                <a:latin typeface="Segoe UI"/>
              </a:rPr>
              <a:t>safe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40" y="4434840"/>
            <a:ext cx="4206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300" b="0">
                <a:solidFill>
                  <a:srgbClr val="E4E9F2"/>
                </a:solidFill>
                <a:latin typeface="Segoe UI"/>
              </a:rPr>
              <a:t>stop_pump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14400" y="4873752"/>
            <a:ext cx="1463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94A3B8"/>
                </a:solidFill>
                <a:latin typeface="Segoe UI"/>
              </a:rPr>
              <a:t>source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377440" y="4873752"/>
            <a:ext cx="4206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300" b="0">
                <a:solidFill>
                  <a:srgbClr val="E4E9F2"/>
                </a:solidFill>
                <a:latin typeface="Segoe UI"/>
              </a:rPr>
              <a:t>FMEA-PUMP-001 rev C, J. Okafor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949440" y="2011680"/>
            <a:ext cx="4572000" cy="160020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E4E9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949440" y="2011680"/>
            <a:ext cx="68580" cy="16002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7223760" y="2267712"/>
            <a:ext cx="475488" cy="475488"/>
          </a:xfrm>
          <a:prstGeom prst="round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223760" y="2331720"/>
            <a:ext cx="47548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700" b="1">
                <a:solidFill>
                  <a:srgbClr val="FFFFFF"/>
                </a:solidFill>
                <a:latin typeface="Segoe UI"/>
              </a:rPr>
              <a:t>✎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845552" y="2267712"/>
            <a:ext cx="338328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>
                <a:solidFill>
                  <a:srgbClr val="1E293B"/>
                </a:solidFill>
                <a:latin typeface="Segoe UI"/>
              </a:rPr>
              <a:t>No programming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242048" y="2926080"/>
            <a:ext cx="3968496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200" b="0">
                <a:solidFill>
                  <a:srgbClr val="5B677D"/>
                </a:solidFill>
                <a:latin typeface="Segoe UI"/>
              </a:rPr>
              <a:t>A handful of keywords. The computer writes all the fiddly wiring for the chip itself.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949440" y="3749039"/>
            <a:ext cx="4572000" cy="169164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E4E9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6949440" y="3749039"/>
            <a:ext cx="68580" cy="1691640"/>
          </a:xfrm>
          <a:prstGeom prst="rect">
            <a:avLst/>
          </a:prstGeom>
          <a:solidFill>
            <a:srgbClr val="6C4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7223760" y="4005071"/>
            <a:ext cx="475488" cy="475488"/>
          </a:xfrm>
          <a:prstGeom prst="roundRect">
            <a:avLst/>
          </a:prstGeom>
          <a:solidFill>
            <a:srgbClr val="6C4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223760" y="4069079"/>
            <a:ext cx="47548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700" b="1">
                <a:solidFill>
                  <a:srgbClr val="FFFFFF"/>
                </a:solidFill>
                <a:latin typeface="Segoe UI"/>
              </a:rPr>
              <a:t>⇪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845552" y="4005071"/>
            <a:ext cx="338328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>
                <a:solidFill>
                  <a:srgbClr val="1E293B"/>
                </a:solidFill>
                <a:latin typeface="Segoe UI"/>
              </a:rPr>
              <a:t>Or start from paperwork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242048" y="4663439"/>
            <a:ext cx="3968496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200" b="0">
                <a:solidFill>
                  <a:srgbClr val="5B677D"/>
                </a:solidFill>
                <a:latin typeface="Segoe UI"/>
              </a:rPr>
              <a:t>Import the safety worksheets a plant already keeps (HAZOP, LOPA, FMEA) and get a draft rulebook to finish.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640080" y="5669280"/>
            <a:ext cx="10908792" cy="685800"/>
          </a:xfrm>
          <a:prstGeom prst="roundRect">
            <a:avLst/>
          </a:prstGeom>
          <a:solidFill>
            <a:srgbClr val="141B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640080" y="5669280"/>
            <a:ext cx="82296" cy="6858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987552" y="5833872"/>
            <a:ext cx="10241280" cy="448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250" b="0">
                <a:solidFill>
                  <a:srgbClr val="FFFFFF"/>
                </a:solidFill>
                <a:latin typeface="Segoe UI"/>
              </a:rPr>
              <a:t>Every rulebook carries its source: which document, which revision, who wrote it. The chip reports it back, so you always know which rules it is running.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98448"/>
          </a:xfrm>
          <a:prstGeom prst="rect">
            <a:avLst/>
          </a:prstGeom>
          <a:solidFill>
            <a:srgbClr val="141B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298448"/>
            <a:ext cx="12191695" cy="50292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237744"/>
            <a:ext cx="108813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4B8A6"/>
                </a:solidFill>
                <a:latin typeface="Segoe UI"/>
              </a:rPr>
              <a:t>THE SUPERPOWER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12064"/>
            <a:ext cx="10881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FFFFFF"/>
                </a:solidFill>
                <a:latin typeface="Segoe UI"/>
              </a:rPr>
              <a:t>It checks every situation that could ever happen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463040"/>
            <a:ext cx="10881360" cy="475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0">
                <a:solidFill>
                  <a:srgbClr val="5B677D"/>
                </a:solidFill>
                <a:latin typeface="Segoe UI"/>
              </a:rPr>
              <a:t>Not the scenarios someone thought of. All of them, before anything goes near a machine.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B677D"/>
                </a:solidFill>
                <a:latin typeface="Segoe UI"/>
              </a:rPr>
              <a:t>quorum  ·  BioDream LLC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64240" y="6419088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1">
                <a:solidFill>
                  <a:srgbClr val="5B677D"/>
                </a:solidFill>
                <a:latin typeface="Segoe UI"/>
              </a:rPr>
              <a:t>8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2103120"/>
            <a:ext cx="265176" cy="21945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124712" y="2103120"/>
            <a:ext cx="265176" cy="219456"/>
          </a:xfrm>
          <a:prstGeom prst="rect">
            <a:avLst/>
          </a:prstGeom>
          <a:solidFill>
            <a:srgbClr val="22A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426464" y="2103120"/>
            <a:ext cx="265176" cy="219456"/>
          </a:xfrm>
          <a:prstGeom prst="rect">
            <a:avLst/>
          </a:prstGeom>
          <a:solidFill>
            <a:srgbClr val="22A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728216" y="2103120"/>
            <a:ext cx="265176" cy="219456"/>
          </a:xfrm>
          <a:prstGeom prst="rect">
            <a:avLst/>
          </a:prstGeom>
          <a:solidFill>
            <a:srgbClr val="22A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2029968" y="2103120"/>
            <a:ext cx="265176" cy="219456"/>
          </a:xfrm>
          <a:prstGeom prst="rect">
            <a:avLst/>
          </a:prstGeom>
          <a:solidFill>
            <a:srgbClr val="22A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2331720" y="2103120"/>
            <a:ext cx="265176" cy="219456"/>
          </a:xfrm>
          <a:prstGeom prst="rect">
            <a:avLst/>
          </a:prstGeom>
          <a:solidFill>
            <a:srgbClr val="22A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2633472" y="2103120"/>
            <a:ext cx="265176" cy="219456"/>
          </a:xfrm>
          <a:prstGeom prst="rect">
            <a:avLst/>
          </a:prstGeom>
          <a:solidFill>
            <a:srgbClr val="22A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2935224" y="2103120"/>
            <a:ext cx="265176" cy="219456"/>
          </a:xfrm>
          <a:prstGeom prst="rect">
            <a:avLst/>
          </a:prstGeom>
          <a:solidFill>
            <a:srgbClr val="22A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236976" y="2103120"/>
            <a:ext cx="265176" cy="219456"/>
          </a:xfrm>
          <a:prstGeom prst="rect">
            <a:avLst/>
          </a:prstGeom>
          <a:solidFill>
            <a:srgbClr val="22A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3538728" y="2103120"/>
            <a:ext cx="265176" cy="219456"/>
          </a:xfrm>
          <a:prstGeom prst="rect">
            <a:avLst/>
          </a:prstGeom>
          <a:solidFill>
            <a:srgbClr val="22A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3840480" y="2103120"/>
            <a:ext cx="265176" cy="219456"/>
          </a:xfrm>
          <a:prstGeom prst="rect">
            <a:avLst/>
          </a:prstGeom>
          <a:solidFill>
            <a:srgbClr val="22A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142232" y="2103120"/>
            <a:ext cx="265176" cy="219456"/>
          </a:xfrm>
          <a:prstGeom prst="rect">
            <a:avLst/>
          </a:prstGeom>
          <a:solidFill>
            <a:srgbClr val="22A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443984" y="2103120"/>
            <a:ext cx="265176" cy="219456"/>
          </a:xfrm>
          <a:prstGeom prst="rect">
            <a:avLst/>
          </a:prstGeom>
          <a:solidFill>
            <a:srgbClr val="22A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745736" y="2103120"/>
            <a:ext cx="265176" cy="219456"/>
          </a:xfrm>
          <a:prstGeom prst="rect">
            <a:avLst/>
          </a:prstGeom>
          <a:solidFill>
            <a:srgbClr val="22A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5047488" y="2103120"/>
            <a:ext cx="265176" cy="219456"/>
          </a:xfrm>
          <a:prstGeom prst="rect">
            <a:avLst/>
          </a:prstGeom>
          <a:solidFill>
            <a:srgbClr val="22A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5349240" y="2103120"/>
            <a:ext cx="265176" cy="219456"/>
          </a:xfrm>
          <a:prstGeom prst="rect">
            <a:avLst/>
          </a:prstGeom>
          <a:solidFill>
            <a:srgbClr val="22A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5650992" y="2103120"/>
            <a:ext cx="265176" cy="219456"/>
          </a:xfrm>
          <a:prstGeom prst="rect">
            <a:avLst/>
          </a:prstGeom>
          <a:solidFill>
            <a:srgbClr val="22A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5952744" y="2103120"/>
            <a:ext cx="265176" cy="219456"/>
          </a:xfrm>
          <a:prstGeom prst="rect">
            <a:avLst/>
          </a:prstGeom>
          <a:solidFill>
            <a:srgbClr val="22A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822960" y="2359152"/>
            <a:ext cx="265176" cy="219456"/>
          </a:xfrm>
          <a:prstGeom prst="rect">
            <a:avLst/>
          </a:prstGeom>
          <a:solidFill>
            <a:srgbClr val="22A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1124712" y="2359152"/>
            <a:ext cx="265176" cy="219456"/>
          </a:xfrm>
          <a:prstGeom prst="rect">
            <a:avLst/>
          </a:prstGeom>
          <a:solidFill>
            <a:srgbClr val="22A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1426464" y="2359152"/>
            <a:ext cx="265176" cy="219456"/>
          </a:xfrm>
          <a:prstGeom prst="rect">
            <a:avLst/>
          </a:prstGeom>
          <a:solidFill>
            <a:srgbClr val="22A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1728216" y="2359152"/>
            <a:ext cx="265176" cy="219456"/>
          </a:xfrm>
          <a:prstGeom prst="rect">
            <a:avLst/>
          </a:prstGeom>
          <a:solidFill>
            <a:srgbClr val="22A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2029968" y="2359152"/>
            <a:ext cx="265176" cy="219456"/>
          </a:xfrm>
          <a:prstGeom prst="rect">
            <a:avLst/>
          </a:prstGeom>
          <a:solidFill>
            <a:srgbClr val="22A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2331720" y="2359152"/>
            <a:ext cx="265176" cy="21945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2633472" y="2359152"/>
            <a:ext cx="265176" cy="219456"/>
          </a:xfrm>
          <a:prstGeom prst="rect">
            <a:avLst/>
          </a:prstGeom>
          <a:solidFill>
            <a:srgbClr val="22A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2935224" y="2359152"/>
            <a:ext cx="265176" cy="219456"/>
          </a:xfrm>
          <a:prstGeom prst="rect">
            <a:avLst/>
          </a:prstGeom>
          <a:solidFill>
            <a:srgbClr val="22A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3236976" y="2359152"/>
            <a:ext cx="265176" cy="219456"/>
          </a:xfrm>
          <a:prstGeom prst="rect">
            <a:avLst/>
          </a:prstGeom>
          <a:solidFill>
            <a:srgbClr val="22A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3538728" y="2359152"/>
            <a:ext cx="265176" cy="219456"/>
          </a:xfrm>
          <a:prstGeom prst="rect">
            <a:avLst/>
          </a:prstGeom>
          <a:solidFill>
            <a:srgbClr val="22A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3840480" y="2359152"/>
            <a:ext cx="265176" cy="219456"/>
          </a:xfrm>
          <a:prstGeom prst="rect">
            <a:avLst/>
          </a:prstGeom>
          <a:solidFill>
            <a:srgbClr val="22A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4142232" y="2359152"/>
            <a:ext cx="265176" cy="219456"/>
          </a:xfrm>
          <a:prstGeom prst="rect">
            <a:avLst/>
          </a:prstGeom>
          <a:solidFill>
            <a:srgbClr val="22A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4443984" y="2359152"/>
            <a:ext cx="265176" cy="219456"/>
          </a:xfrm>
          <a:prstGeom prst="rect">
            <a:avLst/>
          </a:prstGeom>
          <a:solidFill>
            <a:srgbClr val="22A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4745736" y="2359152"/>
            <a:ext cx="265176" cy="219456"/>
          </a:xfrm>
          <a:prstGeom prst="rect">
            <a:avLst/>
          </a:prstGeom>
          <a:solidFill>
            <a:srgbClr val="22A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5047488" y="2359152"/>
            <a:ext cx="265176" cy="219456"/>
          </a:xfrm>
          <a:prstGeom prst="rect">
            <a:avLst/>
          </a:prstGeom>
          <a:solidFill>
            <a:srgbClr val="22A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5349240" y="2359152"/>
            <a:ext cx="265176" cy="219456"/>
          </a:xfrm>
          <a:prstGeom prst="rect">
            <a:avLst/>
          </a:prstGeom>
          <a:solidFill>
            <a:srgbClr val="22A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5650992" y="2359152"/>
            <a:ext cx="265176" cy="219456"/>
          </a:xfrm>
          <a:prstGeom prst="rect">
            <a:avLst/>
          </a:prstGeom>
          <a:solidFill>
            <a:srgbClr val="22A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5952744" y="2359152"/>
            <a:ext cx="265176" cy="219456"/>
          </a:xfrm>
          <a:prstGeom prst="rect">
            <a:avLst/>
          </a:prstGeom>
          <a:solidFill>
            <a:srgbClr val="22A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822960" y="2615184"/>
            <a:ext cx="265176" cy="219456"/>
          </a:xfrm>
          <a:prstGeom prst="rect">
            <a:avLst/>
          </a:prstGeom>
          <a:solidFill>
            <a:srgbClr val="22A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1124712" y="2615184"/>
            <a:ext cx="265176" cy="219456"/>
          </a:xfrm>
          <a:prstGeom prst="rect">
            <a:avLst/>
          </a:prstGeom>
          <a:solidFill>
            <a:srgbClr val="22A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1426464" y="2615184"/>
            <a:ext cx="265176" cy="219456"/>
          </a:xfrm>
          <a:prstGeom prst="rect">
            <a:avLst/>
          </a:prstGeom>
          <a:solidFill>
            <a:srgbClr val="22A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1728216" y="2615184"/>
            <a:ext cx="265176" cy="219456"/>
          </a:xfrm>
          <a:prstGeom prst="rect">
            <a:avLst/>
          </a:prstGeom>
          <a:solidFill>
            <a:srgbClr val="22A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2029968" y="2615184"/>
            <a:ext cx="265176" cy="219456"/>
          </a:xfrm>
          <a:prstGeom prst="rect">
            <a:avLst/>
          </a:prstGeom>
          <a:solidFill>
            <a:srgbClr val="22A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2331720" y="2615184"/>
            <a:ext cx="265176" cy="219456"/>
          </a:xfrm>
          <a:prstGeom prst="rect">
            <a:avLst/>
          </a:prstGeom>
          <a:solidFill>
            <a:srgbClr val="22A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2633472" y="2615184"/>
            <a:ext cx="265176" cy="219456"/>
          </a:xfrm>
          <a:prstGeom prst="rect">
            <a:avLst/>
          </a:prstGeom>
          <a:solidFill>
            <a:srgbClr val="22A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2935224" y="2615184"/>
            <a:ext cx="265176" cy="219456"/>
          </a:xfrm>
          <a:prstGeom prst="rect">
            <a:avLst/>
          </a:prstGeom>
          <a:solidFill>
            <a:srgbClr val="22A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3236976" y="2615184"/>
            <a:ext cx="265176" cy="219456"/>
          </a:xfrm>
          <a:prstGeom prst="rect">
            <a:avLst/>
          </a:prstGeom>
          <a:solidFill>
            <a:srgbClr val="22A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3538728" y="2615184"/>
            <a:ext cx="265176" cy="219456"/>
          </a:xfrm>
          <a:prstGeom prst="rect">
            <a:avLst/>
          </a:prstGeom>
          <a:solidFill>
            <a:srgbClr val="22A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3840480" y="2615184"/>
            <a:ext cx="265176" cy="21945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4142232" y="2615184"/>
            <a:ext cx="265176" cy="219456"/>
          </a:xfrm>
          <a:prstGeom prst="rect">
            <a:avLst/>
          </a:prstGeom>
          <a:solidFill>
            <a:srgbClr val="22A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4443984" y="2615184"/>
            <a:ext cx="265176" cy="219456"/>
          </a:xfrm>
          <a:prstGeom prst="rect">
            <a:avLst/>
          </a:prstGeom>
          <a:solidFill>
            <a:srgbClr val="22A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4745736" y="2615184"/>
            <a:ext cx="265176" cy="219456"/>
          </a:xfrm>
          <a:prstGeom prst="rect">
            <a:avLst/>
          </a:prstGeom>
          <a:solidFill>
            <a:srgbClr val="22A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5047488" y="2615184"/>
            <a:ext cx="265176" cy="219456"/>
          </a:xfrm>
          <a:prstGeom prst="rect">
            <a:avLst/>
          </a:prstGeom>
          <a:solidFill>
            <a:srgbClr val="22A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5349240" y="2615184"/>
            <a:ext cx="265176" cy="219456"/>
          </a:xfrm>
          <a:prstGeom prst="rect">
            <a:avLst/>
          </a:prstGeom>
          <a:solidFill>
            <a:srgbClr val="22A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5650992" y="2615184"/>
            <a:ext cx="265176" cy="219456"/>
          </a:xfrm>
          <a:prstGeom prst="rect">
            <a:avLst/>
          </a:prstGeom>
          <a:solidFill>
            <a:srgbClr val="22A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5952744" y="2615184"/>
            <a:ext cx="265176" cy="219456"/>
          </a:xfrm>
          <a:prstGeom prst="rect">
            <a:avLst/>
          </a:prstGeom>
          <a:solidFill>
            <a:srgbClr val="22A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822960" y="2871216"/>
            <a:ext cx="265176" cy="219456"/>
          </a:xfrm>
          <a:prstGeom prst="rect">
            <a:avLst/>
          </a:prstGeom>
          <a:solidFill>
            <a:srgbClr val="22A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1124712" y="2871216"/>
            <a:ext cx="265176" cy="219456"/>
          </a:xfrm>
          <a:prstGeom prst="rect">
            <a:avLst/>
          </a:prstGeom>
          <a:solidFill>
            <a:srgbClr val="22A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1426464" y="2871216"/>
            <a:ext cx="265176" cy="219456"/>
          </a:xfrm>
          <a:prstGeom prst="rect">
            <a:avLst/>
          </a:prstGeom>
          <a:solidFill>
            <a:srgbClr val="22A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1728216" y="2871216"/>
            <a:ext cx="265176" cy="219456"/>
          </a:xfrm>
          <a:prstGeom prst="rect">
            <a:avLst/>
          </a:prstGeom>
          <a:solidFill>
            <a:srgbClr val="22A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>
            <a:off x="2029968" y="2871216"/>
            <a:ext cx="265176" cy="219456"/>
          </a:xfrm>
          <a:prstGeom prst="rect">
            <a:avLst/>
          </a:prstGeom>
          <a:solidFill>
            <a:srgbClr val="22A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9" name="Rectangle 68"/>
          <p:cNvSpPr/>
          <p:nvPr/>
        </p:nvSpPr>
        <p:spPr>
          <a:xfrm>
            <a:off x="2331720" y="2871216"/>
            <a:ext cx="265176" cy="219456"/>
          </a:xfrm>
          <a:prstGeom prst="rect">
            <a:avLst/>
          </a:prstGeom>
          <a:solidFill>
            <a:srgbClr val="22A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0" name="Rectangle 69"/>
          <p:cNvSpPr/>
          <p:nvPr/>
        </p:nvSpPr>
        <p:spPr>
          <a:xfrm>
            <a:off x="2633472" y="2871216"/>
            <a:ext cx="265176" cy="219456"/>
          </a:xfrm>
          <a:prstGeom prst="rect">
            <a:avLst/>
          </a:prstGeom>
          <a:solidFill>
            <a:srgbClr val="22A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2935224" y="2871216"/>
            <a:ext cx="265176" cy="219456"/>
          </a:xfrm>
          <a:prstGeom prst="rect">
            <a:avLst/>
          </a:prstGeom>
          <a:solidFill>
            <a:srgbClr val="22A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2" name="Rectangle 71"/>
          <p:cNvSpPr/>
          <p:nvPr/>
        </p:nvSpPr>
        <p:spPr>
          <a:xfrm>
            <a:off x="3236976" y="2871216"/>
            <a:ext cx="265176" cy="219456"/>
          </a:xfrm>
          <a:prstGeom prst="rect">
            <a:avLst/>
          </a:prstGeom>
          <a:solidFill>
            <a:srgbClr val="22A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3" name="Rectangle 72"/>
          <p:cNvSpPr/>
          <p:nvPr/>
        </p:nvSpPr>
        <p:spPr>
          <a:xfrm>
            <a:off x="3538728" y="2871216"/>
            <a:ext cx="265176" cy="219456"/>
          </a:xfrm>
          <a:prstGeom prst="rect">
            <a:avLst/>
          </a:prstGeom>
          <a:solidFill>
            <a:srgbClr val="22A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4" name="Rectangle 73"/>
          <p:cNvSpPr/>
          <p:nvPr/>
        </p:nvSpPr>
        <p:spPr>
          <a:xfrm>
            <a:off x="3840480" y="2871216"/>
            <a:ext cx="265176" cy="219456"/>
          </a:xfrm>
          <a:prstGeom prst="rect">
            <a:avLst/>
          </a:prstGeom>
          <a:solidFill>
            <a:srgbClr val="22A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5" name="Rectangle 74"/>
          <p:cNvSpPr/>
          <p:nvPr/>
        </p:nvSpPr>
        <p:spPr>
          <a:xfrm>
            <a:off x="4142232" y="2871216"/>
            <a:ext cx="265176" cy="219456"/>
          </a:xfrm>
          <a:prstGeom prst="rect">
            <a:avLst/>
          </a:prstGeom>
          <a:solidFill>
            <a:srgbClr val="22A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6" name="Rectangle 75"/>
          <p:cNvSpPr/>
          <p:nvPr/>
        </p:nvSpPr>
        <p:spPr>
          <a:xfrm>
            <a:off x="4443984" y="2871216"/>
            <a:ext cx="265176" cy="219456"/>
          </a:xfrm>
          <a:prstGeom prst="rect">
            <a:avLst/>
          </a:prstGeom>
          <a:solidFill>
            <a:srgbClr val="22A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7" name="Rectangle 76"/>
          <p:cNvSpPr/>
          <p:nvPr/>
        </p:nvSpPr>
        <p:spPr>
          <a:xfrm>
            <a:off x="4745736" y="2871216"/>
            <a:ext cx="265176" cy="219456"/>
          </a:xfrm>
          <a:prstGeom prst="rect">
            <a:avLst/>
          </a:prstGeom>
          <a:solidFill>
            <a:srgbClr val="22A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8" name="Rectangle 77"/>
          <p:cNvSpPr/>
          <p:nvPr/>
        </p:nvSpPr>
        <p:spPr>
          <a:xfrm>
            <a:off x="5047488" y="2871216"/>
            <a:ext cx="265176" cy="219456"/>
          </a:xfrm>
          <a:prstGeom prst="rect">
            <a:avLst/>
          </a:prstGeom>
          <a:solidFill>
            <a:srgbClr val="22A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9" name="Rectangle 78"/>
          <p:cNvSpPr/>
          <p:nvPr/>
        </p:nvSpPr>
        <p:spPr>
          <a:xfrm>
            <a:off x="5349240" y="2871216"/>
            <a:ext cx="265176" cy="21945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0" name="Rectangle 79"/>
          <p:cNvSpPr/>
          <p:nvPr/>
        </p:nvSpPr>
        <p:spPr>
          <a:xfrm>
            <a:off x="5650992" y="2871216"/>
            <a:ext cx="265176" cy="219456"/>
          </a:xfrm>
          <a:prstGeom prst="rect">
            <a:avLst/>
          </a:prstGeom>
          <a:solidFill>
            <a:srgbClr val="22A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1" name="Rectangle 80"/>
          <p:cNvSpPr/>
          <p:nvPr/>
        </p:nvSpPr>
        <p:spPr>
          <a:xfrm>
            <a:off x="5952744" y="2871216"/>
            <a:ext cx="265176" cy="219456"/>
          </a:xfrm>
          <a:prstGeom prst="rect">
            <a:avLst/>
          </a:prstGeom>
          <a:solidFill>
            <a:srgbClr val="22A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2" name="Rectangle 81"/>
          <p:cNvSpPr/>
          <p:nvPr/>
        </p:nvSpPr>
        <p:spPr>
          <a:xfrm>
            <a:off x="822960" y="3127248"/>
            <a:ext cx="265176" cy="219456"/>
          </a:xfrm>
          <a:prstGeom prst="rect">
            <a:avLst/>
          </a:prstGeom>
          <a:solidFill>
            <a:srgbClr val="22A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1124712" y="3127248"/>
            <a:ext cx="265176" cy="219456"/>
          </a:xfrm>
          <a:prstGeom prst="rect">
            <a:avLst/>
          </a:prstGeom>
          <a:solidFill>
            <a:srgbClr val="22A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4" name="Rectangle 83"/>
          <p:cNvSpPr/>
          <p:nvPr/>
        </p:nvSpPr>
        <p:spPr>
          <a:xfrm>
            <a:off x="1426464" y="3127248"/>
            <a:ext cx="265176" cy="219456"/>
          </a:xfrm>
          <a:prstGeom prst="rect">
            <a:avLst/>
          </a:prstGeom>
          <a:solidFill>
            <a:srgbClr val="22A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5" name="Rectangle 84"/>
          <p:cNvSpPr/>
          <p:nvPr/>
        </p:nvSpPr>
        <p:spPr>
          <a:xfrm>
            <a:off x="1728216" y="3127248"/>
            <a:ext cx="265176" cy="219456"/>
          </a:xfrm>
          <a:prstGeom prst="rect">
            <a:avLst/>
          </a:prstGeom>
          <a:solidFill>
            <a:srgbClr val="22A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6" name="Rectangle 85"/>
          <p:cNvSpPr/>
          <p:nvPr/>
        </p:nvSpPr>
        <p:spPr>
          <a:xfrm>
            <a:off x="2029968" y="3127248"/>
            <a:ext cx="265176" cy="219456"/>
          </a:xfrm>
          <a:prstGeom prst="rect">
            <a:avLst/>
          </a:prstGeom>
          <a:solidFill>
            <a:srgbClr val="22A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7" name="Rectangle 86"/>
          <p:cNvSpPr/>
          <p:nvPr/>
        </p:nvSpPr>
        <p:spPr>
          <a:xfrm>
            <a:off x="2331720" y="3127248"/>
            <a:ext cx="265176" cy="219456"/>
          </a:xfrm>
          <a:prstGeom prst="rect">
            <a:avLst/>
          </a:prstGeom>
          <a:solidFill>
            <a:srgbClr val="22A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8" name="Rectangle 87"/>
          <p:cNvSpPr/>
          <p:nvPr/>
        </p:nvSpPr>
        <p:spPr>
          <a:xfrm>
            <a:off x="2633472" y="3127248"/>
            <a:ext cx="265176" cy="219456"/>
          </a:xfrm>
          <a:prstGeom prst="rect">
            <a:avLst/>
          </a:prstGeom>
          <a:solidFill>
            <a:srgbClr val="22A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9" name="Rectangle 88"/>
          <p:cNvSpPr/>
          <p:nvPr/>
        </p:nvSpPr>
        <p:spPr>
          <a:xfrm>
            <a:off x="2935224" y="3127248"/>
            <a:ext cx="265176" cy="219456"/>
          </a:xfrm>
          <a:prstGeom prst="rect">
            <a:avLst/>
          </a:prstGeom>
          <a:solidFill>
            <a:srgbClr val="22A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0" name="Rectangle 89"/>
          <p:cNvSpPr/>
          <p:nvPr/>
        </p:nvSpPr>
        <p:spPr>
          <a:xfrm>
            <a:off x="3236976" y="3127248"/>
            <a:ext cx="265176" cy="219456"/>
          </a:xfrm>
          <a:prstGeom prst="rect">
            <a:avLst/>
          </a:prstGeom>
          <a:solidFill>
            <a:srgbClr val="22A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1" name="Rectangle 90"/>
          <p:cNvSpPr/>
          <p:nvPr/>
        </p:nvSpPr>
        <p:spPr>
          <a:xfrm>
            <a:off x="3538728" y="3127248"/>
            <a:ext cx="265176" cy="219456"/>
          </a:xfrm>
          <a:prstGeom prst="rect">
            <a:avLst/>
          </a:prstGeom>
          <a:solidFill>
            <a:srgbClr val="22A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2" name="Rectangle 91"/>
          <p:cNvSpPr/>
          <p:nvPr/>
        </p:nvSpPr>
        <p:spPr>
          <a:xfrm>
            <a:off x="3840480" y="3127248"/>
            <a:ext cx="265176" cy="219456"/>
          </a:xfrm>
          <a:prstGeom prst="rect">
            <a:avLst/>
          </a:prstGeom>
          <a:solidFill>
            <a:srgbClr val="22A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3" name="Rectangle 92"/>
          <p:cNvSpPr/>
          <p:nvPr/>
        </p:nvSpPr>
        <p:spPr>
          <a:xfrm>
            <a:off x="4142232" y="3127248"/>
            <a:ext cx="265176" cy="219456"/>
          </a:xfrm>
          <a:prstGeom prst="rect">
            <a:avLst/>
          </a:prstGeom>
          <a:solidFill>
            <a:srgbClr val="22A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4" name="Rectangle 93"/>
          <p:cNvSpPr/>
          <p:nvPr/>
        </p:nvSpPr>
        <p:spPr>
          <a:xfrm>
            <a:off x="4443984" y="3127248"/>
            <a:ext cx="265176" cy="219456"/>
          </a:xfrm>
          <a:prstGeom prst="rect">
            <a:avLst/>
          </a:prstGeom>
          <a:solidFill>
            <a:srgbClr val="22A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5" name="Rectangle 94"/>
          <p:cNvSpPr/>
          <p:nvPr/>
        </p:nvSpPr>
        <p:spPr>
          <a:xfrm>
            <a:off x="4745736" y="3127248"/>
            <a:ext cx="265176" cy="219456"/>
          </a:xfrm>
          <a:prstGeom prst="rect">
            <a:avLst/>
          </a:prstGeom>
          <a:solidFill>
            <a:srgbClr val="22A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6" name="Rectangle 95"/>
          <p:cNvSpPr/>
          <p:nvPr/>
        </p:nvSpPr>
        <p:spPr>
          <a:xfrm>
            <a:off x="5047488" y="3127248"/>
            <a:ext cx="265176" cy="219456"/>
          </a:xfrm>
          <a:prstGeom prst="rect">
            <a:avLst/>
          </a:prstGeom>
          <a:solidFill>
            <a:srgbClr val="22A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7" name="Rectangle 96"/>
          <p:cNvSpPr/>
          <p:nvPr/>
        </p:nvSpPr>
        <p:spPr>
          <a:xfrm>
            <a:off x="5349240" y="3127248"/>
            <a:ext cx="265176" cy="219456"/>
          </a:xfrm>
          <a:prstGeom prst="rect">
            <a:avLst/>
          </a:prstGeom>
          <a:solidFill>
            <a:srgbClr val="22A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8" name="Rectangle 97"/>
          <p:cNvSpPr/>
          <p:nvPr/>
        </p:nvSpPr>
        <p:spPr>
          <a:xfrm>
            <a:off x="5650992" y="3127248"/>
            <a:ext cx="265176" cy="219456"/>
          </a:xfrm>
          <a:prstGeom prst="rect">
            <a:avLst/>
          </a:prstGeom>
          <a:solidFill>
            <a:srgbClr val="22A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9" name="Rectangle 98"/>
          <p:cNvSpPr/>
          <p:nvPr/>
        </p:nvSpPr>
        <p:spPr>
          <a:xfrm>
            <a:off x="5952744" y="3127248"/>
            <a:ext cx="265176" cy="219456"/>
          </a:xfrm>
          <a:prstGeom prst="rect">
            <a:avLst/>
          </a:prstGeom>
          <a:solidFill>
            <a:srgbClr val="22A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0" name="Rectangle 99"/>
          <p:cNvSpPr/>
          <p:nvPr/>
        </p:nvSpPr>
        <p:spPr>
          <a:xfrm>
            <a:off x="822960" y="3383280"/>
            <a:ext cx="265176" cy="219456"/>
          </a:xfrm>
          <a:prstGeom prst="rect">
            <a:avLst/>
          </a:prstGeom>
          <a:solidFill>
            <a:srgbClr val="22A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1" name="Rectangle 100"/>
          <p:cNvSpPr/>
          <p:nvPr/>
        </p:nvSpPr>
        <p:spPr>
          <a:xfrm>
            <a:off x="1124712" y="3383280"/>
            <a:ext cx="265176" cy="219456"/>
          </a:xfrm>
          <a:prstGeom prst="rect">
            <a:avLst/>
          </a:prstGeom>
          <a:solidFill>
            <a:srgbClr val="22A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2" name="Rectangle 101"/>
          <p:cNvSpPr/>
          <p:nvPr/>
        </p:nvSpPr>
        <p:spPr>
          <a:xfrm>
            <a:off x="1426464" y="3383280"/>
            <a:ext cx="265176" cy="21945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3" name="Rectangle 102"/>
          <p:cNvSpPr/>
          <p:nvPr/>
        </p:nvSpPr>
        <p:spPr>
          <a:xfrm>
            <a:off x="1728216" y="3383280"/>
            <a:ext cx="265176" cy="219456"/>
          </a:xfrm>
          <a:prstGeom prst="rect">
            <a:avLst/>
          </a:prstGeom>
          <a:solidFill>
            <a:srgbClr val="22A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4" name="Rectangle 103"/>
          <p:cNvSpPr/>
          <p:nvPr/>
        </p:nvSpPr>
        <p:spPr>
          <a:xfrm>
            <a:off x="2029968" y="3383280"/>
            <a:ext cx="265176" cy="219456"/>
          </a:xfrm>
          <a:prstGeom prst="rect">
            <a:avLst/>
          </a:prstGeom>
          <a:solidFill>
            <a:srgbClr val="22A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5" name="Rectangle 104"/>
          <p:cNvSpPr/>
          <p:nvPr/>
        </p:nvSpPr>
        <p:spPr>
          <a:xfrm>
            <a:off x="2331720" y="3383280"/>
            <a:ext cx="265176" cy="219456"/>
          </a:xfrm>
          <a:prstGeom prst="rect">
            <a:avLst/>
          </a:prstGeom>
          <a:solidFill>
            <a:srgbClr val="22A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6" name="Rectangle 105"/>
          <p:cNvSpPr/>
          <p:nvPr/>
        </p:nvSpPr>
        <p:spPr>
          <a:xfrm>
            <a:off x="2633472" y="3383280"/>
            <a:ext cx="265176" cy="219456"/>
          </a:xfrm>
          <a:prstGeom prst="rect">
            <a:avLst/>
          </a:prstGeom>
          <a:solidFill>
            <a:srgbClr val="22A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7" name="Rectangle 106"/>
          <p:cNvSpPr/>
          <p:nvPr/>
        </p:nvSpPr>
        <p:spPr>
          <a:xfrm>
            <a:off x="2935224" y="3383280"/>
            <a:ext cx="265176" cy="219456"/>
          </a:xfrm>
          <a:prstGeom prst="rect">
            <a:avLst/>
          </a:prstGeom>
          <a:solidFill>
            <a:srgbClr val="22A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8" name="Rectangle 107"/>
          <p:cNvSpPr/>
          <p:nvPr/>
        </p:nvSpPr>
        <p:spPr>
          <a:xfrm>
            <a:off x="3236976" y="3383280"/>
            <a:ext cx="265176" cy="219456"/>
          </a:xfrm>
          <a:prstGeom prst="rect">
            <a:avLst/>
          </a:prstGeom>
          <a:solidFill>
            <a:srgbClr val="22A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9" name="Rectangle 108"/>
          <p:cNvSpPr/>
          <p:nvPr/>
        </p:nvSpPr>
        <p:spPr>
          <a:xfrm>
            <a:off x="3538728" y="3383280"/>
            <a:ext cx="265176" cy="219456"/>
          </a:xfrm>
          <a:prstGeom prst="rect">
            <a:avLst/>
          </a:prstGeom>
          <a:solidFill>
            <a:srgbClr val="22A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0" name="Rectangle 109"/>
          <p:cNvSpPr/>
          <p:nvPr/>
        </p:nvSpPr>
        <p:spPr>
          <a:xfrm>
            <a:off x="3840480" y="3383280"/>
            <a:ext cx="265176" cy="219456"/>
          </a:xfrm>
          <a:prstGeom prst="rect">
            <a:avLst/>
          </a:prstGeom>
          <a:solidFill>
            <a:srgbClr val="22A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1" name="Rectangle 110"/>
          <p:cNvSpPr/>
          <p:nvPr/>
        </p:nvSpPr>
        <p:spPr>
          <a:xfrm>
            <a:off x="4142232" y="3383280"/>
            <a:ext cx="265176" cy="219456"/>
          </a:xfrm>
          <a:prstGeom prst="rect">
            <a:avLst/>
          </a:prstGeom>
          <a:solidFill>
            <a:srgbClr val="22A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2" name="Rectangle 111"/>
          <p:cNvSpPr/>
          <p:nvPr/>
        </p:nvSpPr>
        <p:spPr>
          <a:xfrm>
            <a:off x="4443984" y="3383280"/>
            <a:ext cx="265176" cy="219456"/>
          </a:xfrm>
          <a:prstGeom prst="rect">
            <a:avLst/>
          </a:prstGeom>
          <a:solidFill>
            <a:srgbClr val="22A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3" name="Rectangle 112"/>
          <p:cNvSpPr/>
          <p:nvPr/>
        </p:nvSpPr>
        <p:spPr>
          <a:xfrm>
            <a:off x="4745736" y="3383280"/>
            <a:ext cx="265176" cy="219456"/>
          </a:xfrm>
          <a:prstGeom prst="rect">
            <a:avLst/>
          </a:prstGeom>
          <a:solidFill>
            <a:srgbClr val="22A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4" name="Rectangle 113"/>
          <p:cNvSpPr/>
          <p:nvPr/>
        </p:nvSpPr>
        <p:spPr>
          <a:xfrm>
            <a:off x="5047488" y="3383280"/>
            <a:ext cx="265176" cy="219456"/>
          </a:xfrm>
          <a:prstGeom prst="rect">
            <a:avLst/>
          </a:prstGeom>
          <a:solidFill>
            <a:srgbClr val="22A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5" name="Rectangle 114"/>
          <p:cNvSpPr/>
          <p:nvPr/>
        </p:nvSpPr>
        <p:spPr>
          <a:xfrm>
            <a:off x="5349240" y="3383280"/>
            <a:ext cx="265176" cy="219456"/>
          </a:xfrm>
          <a:prstGeom prst="rect">
            <a:avLst/>
          </a:prstGeom>
          <a:solidFill>
            <a:srgbClr val="22A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6" name="Rectangle 115"/>
          <p:cNvSpPr/>
          <p:nvPr/>
        </p:nvSpPr>
        <p:spPr>
          <a:xfrm>
            <a:off x="5650992" y="3383280"/>
            <a:ext cx="265176" cy="219456"/>
          </a:xfrm>
          <a:prstGeom prst="rect">
            <a:avLst/>
          </a:prstGeom>
          <a:solidFill>
            <a:srgbClr val="22A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7" name="Rectangle 116"/>
          <p:cNvSpPr/>
          <p:nvPr/>
        </p:nvSpPr>
        <p:spPr>
          <a:xfrm>
            <a:off x="5952744" y="3383280"/>
            <a:ext cx="265176" cy="219456"/>
          </a:xfrm>
          <a:prstGeom prst="rect">
            <a:avLst/>
          </a:prstGeom>
          <a:solidFill>
            <a:srgbClr val="22A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8" name="Rectangle 117"/>
          <p:cNvSpPr/>
          <p:nvPr/>
        </p:nvSpPr>
        <p:spPr>
          <a:xfrm>
            <a:off x="822960" y="3639312"/>
            <a:ext cx="265176" cy="219456"/>
          </a:xfrm>
          <a:prstGeom prst="rect">
            <a:avLst/>
          </a:prstGeom>
          <a:solidFill>
            <a:srgbClr val="22A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9" name="Rectangle 118"/>
          <p:cNvSpPr/>
          <p:nvPr/>
        </p:nvSpPr>
        <p:spPr>
          <a:xfrm>
            <a:off x="1124712" y="3639312"/>
            <a:ext cx="265176" cy="219456"/>
          </a:xfrm>
          <a:prstGeom prst="rect">
            <a:avLst/>
          </a:prstGeom>
          <a:solidFill>
            <a:srgbClr val="22A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0" name="Rectangle 119"/>
          <p:cNvSpPr/>
          <p:nvPr/>
        </p:nvSpPr>
        <p:spPr>
          <a:xfrm>
            <a:off x="1426464" y="3639312"/>
            <a:ext cx="265176" cy="219456"/>
          </a:xfrm>
          <a:prstGeom prst="rect">
            <a:avLst/>
          </a:prstGeom>
          <a:solidFill>
            <a:srgbClr val="22A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1" name="Rectangle 120"/>
          <p:cNvSpPr/>
          <p:nvPr/>
        </p:nvSpPr>
        <p:spPr>
          <a:xfrm>
            <a:off x="1728216" y="3639312"/>
            <a:ext cx="265176" cy="219456"/>
          </a:xfrm>
          <a:prstGeom prst="rect">
            <a:avLst/>
          </a:prstGeom>
          <a:solidFill>
            <a:srgbClr val="22A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2" name="Rectangle 121"/>
          <p:cNvSpPr/>
          <p:nvPr/>
        </p:nvSpPr>
        <p:spPr>
          <a:xfrm>
            <a:off x="2029968" y="3639312"/>
            <a:ext cx="265176" cy="219456"/>
          </a:xfrm>
          <a:prstGeom prst="rect">
            <a:avLst/>
          </a:prstGeom>
          <a:solidFill>
            <a:srgbClr val="22A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3" name="Rectangle 122"/>
          <p:cNvSpPr/>
          <p:nvPr/>
        </p:nvSpPr>
        <p:spPr>
          <a:xfrm>
            <a:off x="2331720" y="3639312"/>
            <a:ext cx="265176" cy="219456"/>
          </a:xfrm>
          <a:prstGeom prst="rect">
            <a:avLst/>
          </a:prstGeom>
          <a:solidFill>
            <a:srgbClr val="22A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4" name="Rectangle 123"/>
          <p:cNvSpPr/>
          <p:nvPr/>
        </p:nvSpPr>
        <p:spPr>
          <a:xfrm>
            <a:off x="2633472" y="3639312"/>
            <a:ext cx="265176" cy="219456"/>
          </a:xfrm>
          <a:prstGeom prst="rect">
            <a:avLst/>
          </a:prstGeom>
          <a:solidFill>
            <a:srgbClr val="22A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5" name="Rectangle 124"/>
          <p:cNvSpPr/>
          <p:nvPr/>
        </p:nvSpPr>
        <p:spPr>
          <a:xfrm>
            <a:off x="2935224" y="3639312"/>
            <a:ext cx="265176" cy="21945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6" name="Rectangle 125"/>
          <p:cNvSpPr/>
          <p:nvPr/>
        </p:nvSpPr>
        <p:spPr>
          <a:xfrm>
            <a:off x="3236976" y="3639312"/>
            <a:ext cx="265176" cy="219456"/>
          </a:xfrm>
          <a:prstGeom prst="rect">
            <a:avLst/>
          </a:prstGeom>
          <a:solidFill>
            <a:srgbClr val="22A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7" name="Rectangle 126"/>
          <p:cNvSpPr/>
          <p:nvPr/>
        </p:nvSpPr>
        <p:spPr>
          <a:xfrm>
            <a:off x="3538728" y="3639312"/>
            <a:ext cx="265176" cy="219456"/>
          </a:xfrm>
          <a:prstGeom prst="rect">
            <a:avLst/>
          </a:prstGeom>
          <a:solidFill>
            <a:srgbClr val="22A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8" name="Rectangle 127"/>
          <p:cNvSpPr/>
          <p:nvPr/>
        </p:nvSpPr>
        <p:spPr>
          <a:xfrm>
            <a:off x="3840480" y="3639312"/>
            <a:ext cx="265176" cy="219456"/>
          </a:xfrm>
          <a:prstGeom prst="rect">
            <a:avLst/>
          </a:prstGeom>
          <a:solidFill>
            <a:srgbClr val="22A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9" name="Rectangle 128"/>
          <p:cNvSpPr/>
          <p:nvPr/>
        </p:nvSpPr>
        <p:spPr>
          <a:xfrm>
            <a:off x="4142232" y="3639312"/>
            <a:ext cx="265176" cy="219456"/>
          </a:xfrm>
          <a:prstGeom prst="rect">
            <a:avLst/>
          </a:prstGeom>
          <a:solidFill>
            <a:srgbClr val="22A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0" name="Rectangle 129"/>
          <p:cNvSpPr/>
          <p:nvPr/>
        </p:nvSpPr>
        <p:spPr>
          <a:xfrm>
            <a:off x="4443984" y="3639312"/>
            <a:ext cx="265176" cy="219456"/>
          </a:xfrm>
          <a:prstGeom prst="rect">
            <a:avLst/>
          </a:prstGeom>
          <a:solidFill>
            <a:srgbClr val="22A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1" name="Rectangle 130"/>
          <p:cNvSpPr/>
          <p:nvPr/>
        </p:nvSpPr>
        <p:spPr>
          <a:xfrm>
            <a:off x="4745736" y="3639312"/>
            <a:ext cx="265176" cy="219456"/>
          </a:xfrm>
          <a:prstGeom prst="rect">
            <a:avLst/>
          </a:prstGeom>
          <a:solidFill>
            <a:srgbClr val="22A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2" name="Rectangle 131"/>
          <p:cNvSpPr/>
          <p:nvPr/>
        </p:nvSpPr>
        <p:spPr>
          <a:xfrm>
            <a:off x="5047488" y="3639312"/>
            <a:ext cx="265176" cy="219456"/>
          </a:xfrm>
          <a:prstGeom prst="rect">
            <a:avLst/>
          </a:prstGeom>
          <a:solidFill>
            <a:srgbClr val="22A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3" name="Rectangle 132"/>
          <p:cNvSpPr/>
          <p:nvPr/>
        </p:nvSpPr>
        <p:spPr>
          <a:xfrm>
            <a:off x="5349240" y="3639312"/>
            <a:ext cx="265176" cy="219456"/>
          </a:xfrm>
          <a:prstGeom prst="rect">
            <a:avLst/>
          </a:prstGeom>
          <a:solidFill>
            <a:srgbClr val="22A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4" name="Rectangle 133"/>
          <p:cNvSpPr/>
          <p:nvPr/>
        </p:nvSpPr>
        <p:spPr>
          <a:xfrm>
            <a:off x="5650992" y="3639312"/>
            <a:ext cx="265176" cy="219456"/>
          </a:xfrm>
          <a:prstGeom prst="rect">
            <a:avLst/>
          </a:prstGeom>
          <a:solidFill>
            <a:srgbClr val="22A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5" name="Rectangle 134"/>
          <p:cNvSpPr/>
          <p:nvPr/>
        </p:nvSpPr>
        <p:spPr>
          <a:xfrm>
            <a:off x="5952744" y="3639312"/>
            <a:ext cx="265176" cy="219456"/>
          </a:xfrm>
          <a:prstGeom prst="rect">
            <a:avLst/>
          </a:prstGeom>
          <a:solidFill>
            <a:srgbClr val="22A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6" name="Rectangle 135"/>
          <p:cNvSpPr/>
          <p:nvPr/>
        </p:nvSpPr>
        <p:spPr>
          <a:xfrm>
            <a:off x="822960" y="3895344"/>
            <a:ext cx="265176" cy="219456"/>
          </a:xfrm>
          <a:prstGeom prst="rect">
            <a:avLst/>
          </a:prstGeom>
          <a:solidFill>
            <a:srgbClr val="22A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7" name="Rectangle 136"/>
          <p:cNvSpPr/>
          <p:nvPr/>
        </p:nvSpPr>
        <p:spPr>
          <a:xfrm>
            <a:off x="1124712" y="3895344"/>
            <a:ext cx="265176" cy="219456"/>
          </a:xfrm>
          <a:prstGeom prst="rect">
            <a:avLst/>
          </a:prstGeom>
          <a:solidFill>
            <a:srgbClr val="22A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8" name="Rectangle 137"/>
          <p:cNvSpPr/>
          <p:nvPr/>
        </p:nvSpPr>
        <p:spPr>
          <a:xfrm>
            <a:off x="1426464" y="3895344"/>
            <a:ext cx="265176" cy="219456"/>
          </a:xfrm>
          <a:prstGeom prst="rect">
            <a:avLst/>
          </a:prstGeom>
          <a:solidFill>
            <a:srgbClr val="22A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9" name="Rectangle 138"/>
          <p:cNvSpPr/>
          <p:nvPr/>
        </p:nvSpPr>
        <p:spPr>
          <a:xfrm>
            <a:off x="1728216" y="3895344"/>
            <a:ext cx="265176" cy="219456"/>
          </a:xfrm>
          <a:prstGeom prst="rect">
            <a:avLst/>
          </a:prstGeom>
          <a:solidFill>
            <a:srgbClr val="22A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0" name="Rectangle 139"/>
          <p:cNvSpPr/>
          <p:nvPr/>
        </p:nvSpPr>
        <p:spPr>
          <a:xfrm>
            <a:off x="2029968" y="3895344"/>
            <a:ext cx="265176" cy="219456"/>
          </a:xfrm>
          <a:prstGeom prst="rect">
            <a:avLst/>
          </a:prstGeom>
          <a:solidFill>
            <a:srgbClr val="22A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1" name="Rectangle 140"/>
          <p:cNvSpPr/>
          <p:nvPr/>
        </p:nvSpPr>
        <p:spPr>
          <a:xfrm>
            <a:off x="2331720" y="3895344"/>
            <a:ext cx="265176" cy="219456"/>
          </a:xfrm>
          <a:prstGeom prst="rect">
            <a:avLst/>
          </a:prstGeom>
          <a:solidFill>
            <a:srgbClr val="22A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2" name="Rectangle 141"/>
          <p:cNvSpPr/>
          <p:nvPr/>
        </p:nvSpPr>
        <p:spPr>
          <a:xfrm>
            <a:off x="2633472" y="3895344"/>
            <a:ext cx="265176" cy="219456"/>
          </a:xfrm>
          <a:prstGeom prst="rect">
            <a:avLst/>
          </a:prstGeom>
          <a:solidFill>
            <a:srgbClr val="22A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3" name="Rectangle 142"/>
          <p:cNvSpPr/>
          <p:nvPr/>
        </p:nvSpPr>
        <p:spPr>
          <a:xfrm>
            <a:off x="2935224" y="3895344"/>
            <a:ext cx="265176" cy="219456"/>
          </a:xfrm>
          <a:prstGeom prst="rect">
            <a:avLst/>
          </a:prstGeom>
          <a:solidFill>
            <a:srgbClr val="22A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4" name="Rectangle 143"/>
          <p:cNvSpPr/>
          <p:nvPr/>
        </p:nvSpPr>
        <p:spPr>
          <a:xfrm>
            <a:off x="3236976" y="3895344"/>
            <a:ext cx="265176" cy="219456"/>
          </a:xfrm>
          <a:prstGeom prst="rect">
            <a:avLst/>
          </a:prstGeom>
          <a:solidFill>
            <a:srgbClr val="22A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5" name="Rectangle 144"/>
          <p:cNvSpPr/>
          <p:nvPr/>
        </p:nvSpPr>
        <p:spPr>
          <a:xfrm>
            <a:off x="3538728" y="3895344"/>
            <a:ext cx="265176" cy="219456"/>
          </a:xfrm>
          <a:prstGeom prst="rect">
            <a:avLst/>
          </a:prstGeom>
          <a:solidFill>
            <a:srgbClr val="22A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6" name="Rectangle 145"/>
          <p:cNvSpPr/>
          <p:nvPr/>
        </p:nvSpPr>
        <p:spPr>
          <a:xfrm>
            <a:off x="3840480" y="3895344"/>
            <a:ext cx="265176" cy="219456"/>
          </a:xfrm>
          <a:prstGeom prst="rect">
            <a:avLst/>
          </a:prstGeom>
          <a:solidFill>
            <a:srgbClr val="22A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7" name="Rectangle 146"/>
          <p:cNvSpPr/>
          <p:nvPr/>
        </p:nvSpPr>
        <p:spPr>
          <a:xfrm>
            <a:off x="4142232" y="3895344"/>
            <a:ext cx="265176" cy="219456"/>
          </a:xfrm>
          <a:prstGeom prst="rect">
            <a:avLst/>
          </a:prstGeom>
          <a:solidFill>
            <a:srgbClr val="22A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8" name="Rectangle 147"/>
          <p:cNvSpPr/>
          <p:nvPr/>
        </p:nvSpPr>
        <p:spPr>
          <a:xfrm>
            <a:off x="4443984" y="3895344"/>
            <a:ext cx="265176" cy="21945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9" name="Rectangle 148"/>
          <p:cNvSpPr/>
          <p:nvPr/>
        </p:nvSpPr>
        <p:spPr>
          <a:xfrm>
            <a:off x="4745736" y="3895344"/>
            <a:ext cx="265176" cy="219456"/>
          </a:xfrm>
          <a:prstGeom prst="rect">
            <a:avLst/>
          </a:prstGeom>
          <a:solidFill>
            <a:srgbClr val="22A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0" name="Rectangle 149"/>
          <p:cNvSpPr/>
          <p:nvPr/>
        </p:nvSpPr>
        <p:spPr>
          <a:xfrm>
            <a:off x="5047488" y="3895344"/>
            <a:ext cx="265176" cy="219456"/>
          </a:xfrm>
          <a:prstGeom prst="rect">
            <a:avLst/>
          </a:prstGeom>
          <a:solidFill>
            <a:srgbClr val="22A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1" name="Rectangle 150"/>
          <p:cNvSpPr/>
          <p:nvPr/>
        </p:nvSpPr>
        <p:spPr>
          <a:xfrm>
            <a:off x="5349240" y="3895344"/>
            <a:ext cx="265176" cy="219456"/>
          </a:xfrm>
          <a:prstGeom prst="rect">
            <a:avLst/>
          </a:prstGeom>
          <a:solidFill>
            <a:srgbClr val="22A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2" name="Rectangle 151"/>
          <p:cNvSpPr/>
          <p:nvPr/>
        </p:nvSpPr>
        <p:spPr>
          <a:xfrm>
            <a:off x="5650992" y="3895344"/>
            <a:ext cx="265176" cy="219456"/>
          </a:xfrm>
          <a:prstGeom prst="rect">
            <a:avLst/>
          </a:prstGeom>
          <a:solidFill>
            <a:srgbClr val="22A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3" name="Rectangle 152"/>
          <p:cNvSpPr/>
          <p:nvPr/>
        </p:nvSpPr>
        <p:spPr>
          <a:xfrm>
            <a:off x="5952744" y="3895344"/>
            <a:ext cx="265176" cy="219456"/>
          </a:xfrm>
          <a:prstGeom prst="rect">
            <a:avLst/>
          </a:prstGeom>
          <a:solidFill>
            <a:srgbClr val="22A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4" name="Rectangle 153"/>
          <p:cNvSpPr/>
          <p:nvPr/>
        </p:nvSpPr>
        <p:spPr>
          <a:xfrm>
            <a:off x="822960" y="4151376"/>
            <a:ext cx="265176" cy="219456"/>
          </a:xfrm>
          <a:prstGeom prst="rect">
            <a:avLst/>
          </a:prstGeom>
          <a:solidFill>
            <a:srgbClr val="22A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5" name="Rectangle 154"/>
          <p:cNvSpPr/>
          <p:nvPr/>
        </p:nvSpPr>
        <p:spPr>
          <a:xfrm>
            <a:off x="1124712" y="4151376"/>
            <a:ext cx="265176" cy="219456"/>
          </a:xfrm>
          <a:prstGeom prst="rect">
            <a:avLst/>
          </a:prstGeom>
          <a:solidFill>
            <a:srgbClr val="22A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6" name="Rectangle 155"/>
          <p:cNvSpPr/>
          <p:nvPr/>
        </p:nvSpPr>
        <p:spPr>
          <a:xfrm>
            <a:off x="1426464" y="4151376"/>
            <a:ext cx="265176" cy="219456"/>
          </a:xfrm>
          <a:prstGeom prst="rect">
            <a:avLst/>
          </a:prstGeom>
          <a:solidFill>
            <a:srgbClr val="22A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7" name="Rectangle 156"/>
          <p:cNvSpPr/>
          <p:nvPr/>
        </p:nvSpPr>
        <p:spPr>
          <a:xfrm>
            <a:off x="1728216" y="4151376"/>
            <a:ext cx="265176" cy="219456"/>
          </a:xfrm>
          <a:prstGeom prst="rect">
            <a:avLst/>
          </a:prstGeom>
          <a:solidFill>
            <a:srgbClr val="22A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8" name="Rectangle 157"/>
          <p:cNvSpPr/>
          <p:nvPr/>
        </p:nvSpPr>
        <p:spPr>
          <a:xfrm>
            <a:off x="2029968" y="4151376"/>
            <a:ext cx="265176" cy="219456"/>
          </a:xfrm>
          <a:prstGeom prst="rect">
            <a:avLst/>
          </a:prstGeom>
          <a:solidFill>
            <a:srgbClr val="22A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9" name="Rectangle 158"/>
          <p:cNvSpPr/>
          <p:nvPr/>
        </p:nvSpPr>
        <p:spPr>
          <a:xfrm>
            <a:off x="2331720" y="4151376"/>
            <a:ext cx="265176" cy="219456"/>
          </a:xfrm>
          <a:prstGeom prst="rect">
            <a:avLst/>
          </a:prstGeom>
          <a:solidFill>
            <a:srgbClr val="22A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0" name="Rectangle 159"/>
          <p:cNvSpPr/>
          <p:nvPr/>
        </p:nvSpPr>
        <p:spPr>
          <a:xfrm>
            <a:off x="2633472" y="4151376"/>
            <a:ext cx="265176" cy="219456"/>
          </a:xfrm>
          <a:prstGeom prst="rect">
            <a:avLst/>
          </a:prstGeom>
          <a:solidFill>
            <a:srgbClr val="22A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1" name="Rectangle 160"/>
          <p:cNvSpPr/>
          <p:nvPr/>
        </p:nvSpPr>
        <p:spPr>
          <a:xfrm>
            <a:off x="2935224" y="4151376"/>
            <a:ext cx="265176" cy="219456"/>
          </a:xfrm>
          <a:prstGeom prst="rect">
            <a:avLst/>
          </a:prstGeom>
          <a:solidFill>
            <a:srgbClr val="22A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2" name="Rectangle 161"/>
          <p:cNvSpPr/>
          <p:nvPr/>
        </p:nvSpPr>
        <p:spPr>
          <a:xfrm>
            <a:off x="3236976" y="4151376"/>
            <a:ext cx="265176" cy="219456"/>
          </a:xfrm>
          <a:prstGeom prst="rect">
            <a:avLst/>
          </a:prstGeom>
          <a:solidFill>
            <a:srgbClr val="22A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3" name="Rectangle 162"/>
          <p:cNvSpPr/>
          <p:nvPr/>
        </p:nvSpPr>
        <p:spPr>
          <a:xfrm>
            <a:off x="3538728" y="4151376"/>
            <a:ext cx="265176" cy="219456"/>
          </a:xfrm>
          <a:prstGeom prst="rect">
            <a:avLst/>
          </a:prstGeom>
          <a:solidFill>
            <a:srgbClr val="22A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4" name="Rectangle 163"/>
          <p:cNvSpPr/>
          <p:nvPr/>
        </p:nvSpPr>
        <p:spPr>
          <a:xfrm>
            <a:off x="3840480" y="4151376"/>
            <a:ext cx="265176" cy="219456"/>
          </a:xfrm>
          <a:prstGeom prst="rect">
            <a:avLst/>
          </a:prstGeom>
          <a:solidFill>
            <a:srgbClr val="22A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5" name="Rectangle 164"/>
          <p:cNvSpPr/>
          <p:nvPr/>
        </p:nvSpPr>
        <p:spPr>
          <a:xfrm>
            <a:off x="4142232" y="4151376"/>
            <a:ext cx="265176" cy="219456"/>
          </a:xfrm>
          <a:prstGeom prst="rect">
            <a:avLst/>
          </a:prstGeom>
          <a:solidFill>
            <a:srgbClr val="22A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6" name="Rectangle 165"/>
          <p:cNvSpPr/>
          <p:nvPr/>
        </p:nvSpPr>
        <p:spPr>
          <a:xfrm>
            <a:off x="4443984" y="4151376"/>
            <a:ext cx="265176" cy="219456"/>
          </a:xfrm>
          <a:prstGeom prst="rect">
            <a:avLst/>
          </a:prstGeom>
          <a:solidFill>
            <a:srgbClr val="22A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7" name="Rectangle 166"/>
          <p:cNvSpPr/>
          <p:nvPr/>
        </p:nvSpPr>
        <p:spPr>
          <a:xfrm>
            <a:off x="4745736" y="4151376"/>
            <a:ext cx="265176" cy="219456"/>
          </a:xfrm>
          <a:prstGeom prst="rect">
            <a:avLst/>
          </a:prstGeom>
          <a:solidFill>
            <a:srgbClr val="22A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8" name="Rectangle 167"/>
          <p:cNvSpPr/>
          <p:nvPr/>
        </p:nvSpPr>
        <p:spPr>
          <a:xfrm>
            <a:off x="5047488" y="4151376"/>
            <a:ext cx="265176" cy="219456"/>
          </a:xfrm>
          <a:prstGeom prst="rect">
            <a:avLst/>
          </a:prstGeom>
          <a:solidFill>
            <a:srgbClr val="22A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9" name="Rectangle 168"/>
          <p:cNvSpPr/>
          <p:nvPr/>
        </p:nvSpPr>
        <p:spPr>
          <a:xfrm>
            <a:off x="5349240" y="4151376"/>
            <a:ext cx="265176" cy="219456"/>
          </a:xfrm>
          <a:prstGeom prst="rect">
            <a:avLst/>
          </a:prstGeom>
          <a:solidFill>
            <a:srgbClr val="22A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0" name="Rectangle 169"/>
          <p:cNvSpPr/>
          <p:nvPr/>
        </p:nvSpPr>
        <p:spPr>
          <a:xfrm>
            <a:off x="5650992" y="4151376"/>
            <a:ext cx="265176" cy="219456"/>
          </a:xfrm>
          <a:prstGeom prst="rect">
            <a:avLst/>
          </a:prstGeom>
          <a:solidFill>
            <a:srgbClr val="22A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1" name="Rectangle 170"/>
          <p:cNvSpPr/>
          <p:nvPr/>
        </p:nvSpPr>
        <p:spPr>
          <a:xfrm>
            <a:off x="5952744" y="4151376"/>
            <a:ext cx="265176" cy="21945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2" name="Rectangle 171"/>
          <p:cNvSpPr/>
          <p:nvPr/>
        </p:nvSpPr>
        <p:spPr>
          <a:xfrm>
            <a:off x="822960" y="4407408"/>
            <a:ext cx="265176" cy="219456"/>
          </a:xfrm>
          <a:prstGeom prst="rect">
            <a:avLst/>
          </a:prstGeom>
          <a:solidFill>
            <a:srgbClr val="22A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3" name="Rectangle 172"/>
          <p:cNvSpPr/>
          <p:nvPr/>
        </p:nvSpPr>
        <p:spPr>
          <a:xfrm>
            <a:off x="1124712" y="4407408"/>
            <a:ext cx="265176" cy="219456"/>
          </a:xfrm>
          <a:prstGeom prst="rect">
            <a:avLst/>
          </a:prstGeom>
          <a:solidFill>
            <a:srgbClr val="22A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4" name="Rectangle 173"/>
          <p:cNvSpPr/>
          <p:nvPr/>
        </p:nvSpPr>
        <p:spPr>
          <a:xfrm>
            <a:off x="1426464" y="4407408"/>
            <a:ext cx="265176" cy="219456"/>
          </a:xfrm>
          <a:prstGeom prst="rect">
            <a:avLst/>
          </a:prstGeom>
          <a:solidFill>
            <a:srgbClr val="22A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5" name="Rectangle 174"/>
          <p:cNvSpPr/>
          <p:nvPr/>
        </p:nvSpPr>
        <p:spPr>
          <a:xfrm>
            <a:off x="1728216" y="4407408"/>
            <a:ext cx="265176" cy="219456"/>
          </a:xfrm>
          <a:prstGeom prst="rect">
            <a:avLst/>
          </a:prstGeom>
          <a:solidFill>
            <a:srgbClr val="22A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6" name="Rectangle 175"/>
          <p:cNvSpPr/>
          <p:nvPr/>
        </p:nvSpPr>
        <p:spPr>
          <a:xfrm>
            <a:off x="2029968" y="4407408"/>
            <a:ext cx="265176" cy="219456"/>
          </a:xfrm>
          <a:prstGeom prst="rect">
            <a:avLst/>
          </a:prstGeom>
          <a:solidFill>
            <a:srgbClr val="22A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7" name="Rectangle 176"/>
          <p:cNvSpPr/>
          <p:nvPr/>
        </p:nvSpPr>
        <p:spPr>
          <a:xfrm>
            <a:off x="2331720" y="4407408"/>
            <a:ext cx="265176" cy="219456"/>
          </a:xfrm>
          <a:prstGeom prst="rect">
            <a:avLst/>
          </a:prstGeom>
          <a:solidFill>
            <a:srgbClr val="22A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8" name="Rectangle 177"/>
          <p:cNvSpPr/>
          <p:nvPr/>
        </p:nvSpPr>
        <p:spPr>
          <a:xfrm>
            <a:off x="2633472" y="4407408"/>
            <a:ext cx="265176" cy="219456"/>
          </a:xfrm>
          <a:prstGeom prst="rect">
            <a:avLst/>
          </a:prstGeom>
          <a:solidFill>
            <a:srgbClr val="22A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9" name="Rectangle 178"/>
          <p:cNvSpPr/>
          <p:nvPr/>
        </p:nvSpPr>
        <p:spPr>
          <a:xfrm>
            <a:off x="2935224" y="4407408"/>
            <a:ext cx="265176" cy="219456"/>
          </a:xfrm>
          <a:prstGeom prst="rect">
            <a:avLst/>
          </a:prstGeom>
          <a:solidFill>
            <a:srgbClr val="22A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0" name="Rectangle 179"/>
          <p:cNvSpPr/>
          <p:nvPr/>
        </p:nvSpPr>
        <p:spPr>
          <a:xfrm>
            <a:off x="3236976" y="4407408"/>
            <a:ext cx="265176" cy="219456"/>
          </a:xfrm>
          <a:prstGeom prst="rect">
            <a:avLst/>
          </a:prstGeom>
          <a:solidFill>
            <a:srgbClr val="22A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1" name="Rectangle 180"/>
          <p:cNvSpPr/>
          <p:nvPr/>
        </p:nvSpPr>
        <p:spPr>
          <a:xfrm>
            <a:off x="3538728" y="4407408"/>
            <a:ext cx="265176" cy="219456"/>
          </a:xfrm>
          <a:prstGeom prst="rect">
            <a:avLst/>
          </a:prstGeom>
          <a:solidFill>
            <a:srgbClr val="22A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2" name="Rectangle 181"/>
          <p:cNvSpPr/>
          <p:nvPr/>
        </p:nvSpPr>
        <p:spPr>
          <a:xfrm>
            <a:off x="3840480" y="4407408"/>
            <a:ext cx="265176" cy="219456"/>
          </a:xfrm>
          <a:prstGeom prst="rect">
            <a:avLst/>
          </a:prstGeom>
          <a:solidFill>
            <a:srgbClr val="22A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3" name="Rectangle 182"/>
          <p:cNvSpPr/>
          <p:nvPr/>
        </p:nvSpPr>
        <p:spPr>
          <a:xfrm>
            <a:off x="4142232" y="4407408"/>
            <a:ext cx="265176" cy="219456"/>
          </a:xfrm>
          <a:prstGeom prst="rect">
            <a:avLst/>
          </a:prstGeom>
          <a:solidFill>
            <a:srgbClr val="22A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4" name="Rectangle 183"/>
          <p:cNvSpPr/>
          <p:nvPr/>
        </p:nvSpPr>
        <p:spPr>
          <a:xfrm>
            <a:off x="4443984" y="4407408"/>
            <a:ext cx="265176" cy="219456"/>
          </a:xfrm>
          <a:prstGeom prst="rect">
            <a:avLst/>
          </a:prstGeom>
          <a:solidFill>
            <a:srgbClr val="22A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5" name="Rectangle 184"/>
          <p:cNvSpPr/>
          <p:nvPr/>
        </p:nvSpPr>
        <p:spPr>
          <a:xfrm>
            <a:off x="4745736" y="4407408"/>
            <a:ext cx="265176" cy="219456"/>
          </a:xfrm>
          <a:prstGeom prst="rect">
            <a:avLst/>
          </a:prstGeom>
          <a:solidFill>
            <a:srgbClr val="22A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6" name="Rectangle 185"/>
          <p:cNvSpPr/>
          <p:nvPr/>
        </p:nvSpPr>
        <p:spPr>
          <a:xfrm>
            <a:off x="5047488" y="4407408"/>
            <a:ext cx="265176" cy="219456"/>
          </a:xfrm>
          <a:prstGeom prst="rect">
            <a:avLst/>
          </a:prstGeom>
          <a:solidFill>
            <a:srgbClr val="22A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7" name="Rectangle 186"/>
          <p:cNvSpPr/>
          <p:nvPr/>
        </p:nvSpPr>
        <p:spPr>
          <a:xfrm>
            <a:off x="5349240" y="4407408"/>
            <a:ext cx="265176" cy="219456"/>
          </a:xfrm>
          <a:prstGeom prst="rect">
            <a:avLst/>
          </a:prstGeom>
          <a:solidFill>
            <a:srgbClr val="22A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8" name="Rectangle 187"/>
          <p:cNvSpPr/>
          <p:nvPr/>
        </p:nvSpPr>
        <p:spPr>
          <a:xfrm>
            <a:off x="5650992" y="4407408"/>
            <a:ext cx="265176" cy="219456"/>
          </a:xfrm>
          <a:prstGeom prst="rect">
            <a:avLst/>
          </a:prstGeom>
          <a:solidFill>
            <a:srgbClr val="22A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9" name="Rectangle 188"/>
          <p:cNvSpPr/>
          <p:nvPr/>
        </p:nvSpPr>
        <p:spPr>
          <a:xfrm>
            <a:off x="5952744" y="4407408"/>
            <a:ext cx="265176" cy="219456"/>
          </a:xfrm>
          <a:prstGeom prst="rect">
            <a:avLst/>
          </a:prstGeom>
          <a:solidFill>
            <a:srgbClr val="22A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0" name="TextBox 189"/>
          <p:cNvSpPr txBox="1"/>
          <p:nvPr/>
        </p:nvSpPr>
        <p:spPr>
          <a:xfrm>
            <a:off x="822960" y="4754880"/>
            <a:ext cx="54864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200" b="1">
                <a:solidFill>
                  <a:srgbClr val="1E293B"/>
                </a:solidFill>
                <a:latin typeface="Segoe UI"/>
              </a:rPr>
              <a:t>Each square stands for combinations of sensor readings.</a:t>
            </a:r>
          </a:p>
          <a:p>
            <a:pPr algn="l">
              <a:lnSpc>
                <a:spcPct val="112000"/>
              </a:lnSpc>
            </a:pPr>
            <a:r>
              <a:rPr sz="1100" b="0">
                <a:solidFill>
                  <a:srgbClr val="5B677D"/>
                </a:solidFill>
                <a:latin typeface="Segoe UI"/>
              </a:rPr>
              <a:t>The pump rulebook has 14 sensors: 16,384 combinations, every one solved and checked.</a:t>
            </a:r>
          </a:p>
        </p:txBody>
      </p:sp>
      <p:sp>
        <p:nvSpPr>
          <p:cNvPr id="191" name="Rounded Rectangle 190"/>
          <p:cNvSpPr/>
          <p:nvPr/>
        </p:nvSpPr>
        <p:spPr>
          <a:xfrm>
            <a:off x="6675120" y="2103120"/>
            <a:ext cx="2331720" cy="1481328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E4E9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2" name="Rectangle 191"/>
          <p:cNvSpPr/>
          <p:nvPr/>
        </p:nvSpPr>
        <p:spPr>
          <a:xfrm>
            <a:off x="6675120" y="2103120"/>
            <a:ext cx="2331720" cy="54864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3" name="TextBox 192"/>
          <p:cNvSpPr txBox="1"/>
          <p:nvPr/>
        </p:nvSpPr>
        <p:spPr>
          <a:xfrm>
            <a:off x="6675120" y="2377440"/>
            <a:ext cx="23317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3000" b="1">
                <a:solidFill>
                  <a:srgbClr val="14B8A6"/>
                </a:solidFill>
                <a:latin typeface="Segoe UI"/>
              </a:rPr>
              <a:t>16,384</a:t>
            </a:r>
          </a:p>
        </p:txBody>
      </p:sp>
      <p:sp>
        <p:nvSpPr>
          <p:cNvPr id="194" name="TextBox 193"/>
          <p:cNvSpPr txBox="1"/>
          <p:nvPr/>
        </p:nvSpPr>
        <p:spPr>
          <a:xfrm>
            <a:off x="6821424" y="3035808"/>
            <a:ext cx="203911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</a:pPr>
            <a:r>
              <a:rPr sz="1100" b="0">
                <a:solidFill>
                  <a:srgbClr val="5B677D"/>
                </a:solidFill>
                <a:latin typeface="Segoe UI"/>
              </a:rPr>
              <a:t>pump situations, all checked</a:t>
            </a:r>
          </a:p>
        </p:txBody>
      </p:sp>
      <p:sp>
        <p:nvSpPr>
          <p:cNvPr id="195" name="Rounded Rectangle 194"/>
          <p:cNvSpPr/>
          <p:nvPr/>
        </p:nvSpPr>
        <p:spPr>
          <a:xfrm>
            <a:off x="9189720" y="2103120"/>
            <a:ext cx="2331720" cy="1481328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E4E9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6" name="Rectangle 195"/>
          <p:cNvSpPr/>
          <p:nvPr/>
        </p:nvSpPr>
        <p:spPr>
          <a:xfrm>
            <a:off x="9189720" y="2103120"/>
            <a:ext cx="2331720" cy="54864"/>
          </a:xfrm>
          <a:prstGeom prst="rect">
            <a:avLst/>
          </a:prstGeom>
          <a:solidFill>
            <a:srgbClr val="6C4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7" name="TextBox 196"/>
          <p:cNvSpPr txBox="1"/>
          <p:nvPr/>
        </p:nvSpPr>
        <p:spPr>
          <a:xfrm>
            <a:off x="9189720" y="2377440"/>
            <a:ext cx="23317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3000" b="1">
                <a:solidFill>
                  <a:srgbClr val="6C4BE8"/>
                </a:solidFill>
                <a:latin typeface="Segoe UI"/>
              </a:rPr>
              <a:t>491,520</a:t>
            </a:r>
          </a:p>
        </p:txBody>
      </p:sp>
      <p:sp>
        <p:nvSpPr>
          <p:cNvPr id="198" name="TextBox 197"/>
          <p:cNvSpPr txBox="1"/>
          <p:nvPr/>
        </p:nvSpPr>
        <p:spPr>
          <a:xfrm>
            <a:off x="9336024" y="3035808"/>
            <a:ext cx="203911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</a:pPr>
            <a:r>
              <a:rPr sz="1100" b="0">
                <a:solidFill>
                  <a:srgbClr val="5B677D"/>
                </a:solidFill>
                <a:latin typeface="Segoe UI"/>
              </a:rPr>
              <a:t>situations checked for two rulebooks sharing one chip</a:t>
            </a:r>
          </a:p>
        </p:txBody>
      </p:sp>
      <p:sp>
        <p:nvSpPr>
          <p:cNvPr id="199" name="Rounded Rectangle 198"/>
          <p:cNvSpPr/>
          <p:nvPr/>
        </p:nvSpPr>
        <p:spPr>
          <a:xfrm>
            <a:off x="6675120" y="3749039"/>
            <a:ext cx="4846320" cy="141732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E4E9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0" name="Rectangle 199"/>
          <p:cNvSpPr/>
          <p:nvPr/>
        </p:nvSpPr>
        <p:spPr>
          <a:xfrm>
            <a:off x="6675120" y="3749039"/>
            <a:ext cx="68580" cy="141732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1" name="Rounded Rectangle 200"/>
          <p:cNvSpPr/>
          <p:nvPr/>
        </p:nvSpPr>
        <p:spPr>
          <a:xfrm>
            <a:off x="6949440" y="4005071"/>
            <a:ext cx="475488" cy="475488"/>
          </a:xfrm>
          <a:prstGeom prst="round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2" name="TextBox 201"/>
          <p:cNvSpPr txBox="1"/>
          <p:nvPr/>
        </p:nvSpPr>
        <p:spPr>
          <a:xfrm>
            <a:off x="6949440" y="4069079"/>
            <a:ext cx="47548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700" b="1">
                <a:solidFill>
                  <a:srgbClr val="FFFFFF"/>
                </a:solidFill>
                <a:latin typeface="Segoe UI"/>
              </a:rPr>
              <a:t>∀</a:t>
            </a:r>
          </a:p>
        </p:txBody>
      </p:sp>
      <p:sp>
        <p:nvSpPr>
          <p:cNvPr id="203" name="TextBox 202"/>
          <p:cNvSpPr txBox="1"/>
          <p:nvPr/>
        </p:nvSpPr>
        <p:spPr>
          <a:xfrm>
            <a:off x="7571232" y="4005071"/>
            <a:ext cx="365760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>
                <a:solidFill>
                  <a:srgbClr val="1E293B"/>
                </a:solidFill>
                <a:latin typeface="Segoe UI"/>
              </a:rPr>
              <a:t>Why this is unusual</a:t>
            </a:r>
          </a:p>
        </p:txBody>
      </p:sp>
      <p:sp>
        <p:nvSpPr>
          <p:cNvPr id="204" name="TextBox 203"/>
          <p:cNvSpPr txBox="1"/>
          <p:nvPr/>
        </p:nvSpPr>
        <p:spPr>
          <a:xfrm>
            <a:off x="6967728" y="4663439"/>
            <a:ext cx="4242816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200" b="0">
                <a:solidFill>
                  <a:srgbClr val="5B677D"/>
                </a:solidFill>
                <a:latin typeface="Segoe UI"/>
              </a:rPr>
              <a:t>Testing finds the problems you looked for. Trying every case finds the ones nobody imagined.</a:t>
            </a:r>
          </a:p>
        </p:txBody>
      </p:sp>
      <p:sp>
        <p:nvSpPr>
          <p:cNvPr id="205" name="Rounded Rectangle 204"/>
          <p:cNvSpPr/>
          <p:nvPr/>
        </p:nvSpPr>
        <p:spPr>
          <a:xfrm>
            <a:off x="640080" y="5532120"/>
            <a:ext cx="10908792" cy="640080"/>
          </a:xfrm>
          <a:prstGeom prst="roundRect">
            <a:avLst/>
          </a:prstGeom>
          <a:solidFill>
            <a:srgbClr val="141B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6" name="Rectangle 205"/>
          <p:cNvSpPr/>
          <p:nvPr/>
        </p:nvSpPr>
        <p:spPr>
          <a:xfrm>
            <a:off x="640080" y="5532120"/>
            <a:ext cx="82296" cy="64008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7" name="TextBox 206"/>
          <p:cNvSpPr txBox="1"/>
          <p:nvPr/>
        </p:nvSpPr>
        <p:spPr>
          <a:xfrm>
            <a:off x="987552" y="5696712"/>
            <a:ext cx="10241280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250" b="0">
                <a:solidFill>
                  <a:srgbClr val="FFFFFF"/>
                </a:solidFill>
                <a:latin typeface="Segoe UI"/>
              </a:rPr>
              <a:t>The check is the price of admission: no rulebook reaches a chip without passing all of it.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98448"/>
          </a:xfrm>
          <a:prstGeom prst="rect">
            <a:avLst/>
          </a:prstGeom>
          <a:solidFill>
            <a:srgbClr val="141B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298448"/>
            <a:ext cx="12191695" cy="50292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237744"/>
            <a:ext cx="108813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4B8A6"/>
                </a:solidFill>
                <a:latin typeface="Segoe UI"/>
              </a:rPr>
              <a:t>IT SAYS NO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12064"/>
            <a:ext cx="10881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FFFFFF"/>
                </a:solidFill>
                <a:latin typeface="Segoe UI"/>
              </a:rPr>
              <a:t>If anything is wrong, it refuses to build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463040"/>
            <a:ext cx="10881360" cy="475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0">
                <a:solidFill>
                  <a:srgbClr val="5B677D"/>
                </a:solidFill>
                <a:latin typeface="Segoe UI"/>
              </a:rPr>
              <a:t>A safety tool that ships with a hole in it is worse than none. Refusing is the point.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B677D"/>
                </a:solidFill>
                <a:latin typeface="Segoe UI"/>
              </a:rPr>
              <a:t>quorum  ·  BioDream LLC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64240" y="6419088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1">
                <a:solidFill>
                  <a:srgbClr val="5B677D"/>
                </a:solidFill>
                <a:latin typeface="Segoe UI"/>
              </a:rPr>
              <a:t>9</a:t>
            </a:r>
          </a:p>
        </p:txBody>
      </p:sp>
      <p:sp>
        <p:nvSpPr>
          <p:cNvPr id="10" name="Octagon 9"/>
          <p:cNvSpPr/>
          <p:nvPr/>
        </p:nvSpPr>
        <p:spPr>
          <a:xfrm>
            <a:off x="822960" y="2148840"/>
            <a:ext cx="2377440" cy="2377440"/>
          </a:xfrm>
          <a:prstGeom prst="octagon">
            <a:avLst/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/>
            <a:r>
              <a:rPr sz="3400" b="1">
                <a:solidFill>
                  <a:srgbClr val="FFFFFF"/>
                </a:solidFill>
                <a:latin typeface="Segoe UI"/>
              </a:rPr>
              <a:t>STOP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4663440"/>
            <a:ext cx="27432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</a:pPr>
            <a:r>
              <a:rPr sz="1200" b="1">
                <a:solidFill>
                  <a:srgbClr val="1E293B"/>
                </a:solidFill>
                <a:latin typeface="Segoe UI"/>
              </a:rPr>
              <a:t>No chip file is written. Nothing reaches the machine.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657600" y="2057400"/>
            <a:ext cx="3794760" cy="146304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E4E9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657600" y="2057400"/>
            <a:ext cx="68580" cy="1463040"/>
          </a:xfrm>
          <a:prstGeom prst="rect">
            <a:avLst/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3931920" y="2313432"/>
            <a:ext cx="475488" cy="475488"/>
          </a:xfrm>
          <a:prstGeom prst="roundRect">
            <a:avLst/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931920" y="2377440"/>
            <a:ext cx="47548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700" b="1">
                <a:solidFill>
                  <a:srgbClr val="FFFFFF"/>
                </a:solidFill>
                <a:latin typeface="Segoe UI"/>
              </a:rPr>
              <a:t>≠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53712" y="2313432"/>
            <a:ext cx="260604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>
                <a:solidFill>
                  <a:srgbClr val="1E293B"/>
                </a:solidFill>
                <a:latin typeface="Segoe UI"/>
              </a:rPr>
              <a:t>Two answers at once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950208" y="2971800"/>
            <a:ext cx="319125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200" b="0">
                <a:solidFill>
                  <a:srgbClr val="5B677D"/>
                </a:solidFill>
                <a:latin typeface="Segoe UI"/>
              </a:rPr>
              <a:t>A situation where the rules say both "stop" and "carry on".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635240" y="2057400"/>
            <a:ext cx="3794760" cy="146304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E4E9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7635240" y="2057400"/>
            <a:ext cx="68580" cy="146304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7909560" y="2313432"/>
            <a:ext cx="475488" cy="475488"/>
          </a:xfrm>
          <a:prstGeom prst="round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909560" y="2377440"/>
            <a:ext cx="47548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700" b="1">
                <a:solidFill>
                  <a:srgbClr val="FFFFFF"/>
                </a:solidFill>
                <a:latin typeface="Segoe UI"/>
              </a:rPr>
              <a:t>∅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531352" y="2313432"/>
            <a:ext cx="260604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>
                <a:solidFill>
                  <a:srgbClr val="1E293B"/>
                </a:solidFill>
                <a:latin typeface="Segoe UI"/>
              </a:rPr>
              <a:t>No answer at all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927848" y="2971800"/>
            <a:ext cx="319125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200" b="0">
                <a:solidFill>
                  <a:srgbClr val="5B677D"/>
                </a:solidFill>
                <a:latin typeface="Segoe UI"/>
              </a:rPr>
              <a:t>A situation where every option is knocked down.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3657600" y="3657600"/>
            <a:ext cx="3794760" cy="146304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E4E9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3657600" y="3657600"/>
            <a:ext cx="68580" cy="1463040"/>
          </a:xfrm>
          <a:prstGeom prst="rect">
            <a:avLst/>
          </a:prstGeom>
          <a:solidFill>
            <a:srgbClr val="6C4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3931920" y="3913632"/>
            <a:ext cx="475488" cy="475488"/>
          </a:xfrm>
          <a:prstGeom prst="roundRect">
            <a:avLst/>
          </a:prstGeom>
          <a:solidFill>
            <a:srgbClr val="6C4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931920" y="3977640"/>
            <a:ext cx="47548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700" b="1">
                <a:solidFill>
                  <a:srgbClr val="FFFFFF"/>
                </a:solidFill>
                <a:latin typeface="Segoe UI"/>
              </a:rPr>
              <a:t>⏱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53712" y="3913632"/>
            <a:ext cx="260604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>
                <a:solidFill>
                  <a:srgbClr val="1E293B"/>
                </a:solidFill>
                <a:latin typeface="Segoe UI"/>
              </a:rPr>
              <a:t>Too slow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950208" y="4572000"/>
            <a:ext cx="319125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200" b="0">
                <a:solidFill>
                  <a:srgbClr val="5B677D"/>
                </a:solidFill>
                <a:latin typeface="Segoe UI"/>
              </a:rPr>
              <a:t>Any situation that would take longer than the proven limit.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7635240" y="3657600"/>
            <a:ext cx="3794760" cy="146304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E4E9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7635240" y="3657600"/>
            <a:ext cx="68580" cy="1463040"/>
          </a:xfrm>
          <a:prstGeom prst="rect">
            <a:avLst/>
          </a:prstGeom>
          <a:solidFill>
            <a:srgbClr val="2E8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7909560" y="3913632"/>
            <a:ext cx="475488" cy="475488"/>
          </a:xfrm>
          <a:prstGeom prst="roundRect">
            <a:avLst/>
          </a:prstGeom>
          <a:solidFill>
            <a:srgbClr val="2E8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909560" y="3977640"/>
            <a:ext cx="47548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700" b="1">
                <a:solidFill>
                  <a:srgbClr val="FFFFFF"/>
                </a:solidFill>
                <a:latin typeface="Segoe UI"/>
              </a:rPr>
              <a:t>⊘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531352" y="3913632"/>
            <a:ext cx="260604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>
                <a:solidFill>
                  <a:srgbClr val="1E293B"/>
                </a:solidFill>
                <a:latin typeface="Segoe UI"/>
              </a:rPr>
              <a:t>A dead action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927848" y="4572000"/>
            <a:ext cx="319125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200" b="0">
                <a:solidFill>
                  <a:srgbClr val="5B677D"/>
                </a:solidFill>
                <a:latin typeface="Segoe UI"/>
              </a:rPr>
              <a:t>A response the rulebook names but can never actually choose.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640080" y="5440680"/>
            <a:ext cx="10908792" cy="868680"/>
          </a:xfrm>
          <a:prstGeom prst="roundRect">
            <a:avLst/>
          </a:prstGeom>
          <a:solidFill>
            <a:srgbClr val="141B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640080" y="5440680"/>
            <a:ext cx="82296" cy="86868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987552" y="5605272"/>
            <a:ext cx="10241280" cy="6309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250" b="1">
                <a:solidFill>
                  <a:srgbClr val="14B8A6"/>
                </a:solidFill>
                <a:latin typeface="Segoe UI"/>
              </a:rPr>
              <a:t>And it says why</a:t>
            </a:r>
          </a:p>
          <a:p>
            <a:pPr algn="l">
              <a:lnSpc>
                <a:spcPct val="118000"/>
              </a:lnSpc>
              <a:spcBef>
                <a:spcPts val="500"/>
              </a:spcBef>
            </a:pPr>
            <a:r>
              <a:rPr sz="1250" b="0">
                <a:solidFill>
                  <a:srgbClr val="FFFFFF"/>
                </a:solidFill>
                <a:latin typeface="Segoe UI"/>
              </a:rPr>
              <a:t>Each refusal names the exact situation and the rules involved, so the author can fix the rulebook rather than guess.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98448"/>
          </a:xfrm>
          <a:prstGeom prst="rect">
            <a:avLst/>
          </a:prstGeom>
          <a:solidFill>
            <a:srgbClr val="141B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298448"/>
            <a:ext cx="12191695" cy="50292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237744"/>
            <a:ext cx="108813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4B8A6"/>
                </a:solidFill>
                <a:latin typeface="Segoe UI"/>
              </a:rPr>
              <a:t>THE SURPRISE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12064"/>
            <a:ext cx="10881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FFFFFF"/>
                </a:solidFill>
                <a:latin typeface="Segoe UI"/>
              </a:rPr>
              <a:t>It finds holes in safety paperwork people already signed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463040"/>
            <a:ext cx="10881360" cy="475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0">
                <a:solidFill>
                  <a:srgbClr val="5B677D"/>
                </a:solidFill>
                <a:latin typeface="Segoe UI"/>
              </a:rPr>
              <a:t>Plants keep long safety studies. quorum reads them and checks them the way it checks a rulebook.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B677D"/>
                </a:solidFill>
                <a:latin typeface="Segoe UI"/>
              </a:rPr>
              <a:t>quorum  ·  BioDream LLC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64240" y="6419088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1">
                <a:solidFill>
                  <a:srgbClr val="5B677D"/>
                </a:solidFill>
                <a:latin typeface="Segoe UI"/>
              </a:rPr>
              <a:t>10</a:t>
            </a:r>
          </a:p>
        </p:txBody>
      </p:sp>
      <p:sp>
        <p:nvSpPr>
          <p:cNvPr id="10" name="Folded Corner 9"/>
          <p:cNvSpPr/>
          <p:nvPr/>
        </p:nvSpPr>
        <p:spPr>
          <a:xfrm>
            <a:off x="822960" y="2103120"/>
            <a:ext cx="1737360" cy="2194560"/>
          </a:xfrm>
          <a:prstGeom prst="foldedCorner">
            <a:avLst/>
          </a:prstGeom>
          <a:solidFill>
            <a:srgbClr val="FFFFFF"/>
          </a:solidFill>
          <a:ln w="15875">
            <a:solidFill>
              <a:srgbClr val="E4E9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960120" y="2249424"/>
            <a:ext cx="781812" cy="6400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960120" y="2450592"/>
            <a:ext cx="1024127" cy="41148"/>
          </a:xfrm>
          <a:prstGeom prst="rect">
            <a:avLst/>
          </a:prstGeom>
          <a:solidFill>
            <a:srgbClr val="E4E9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960120" y="2724912"/>
            <a:ext cx="1389888" cy="41148"/>
          </a:xfrm>
          <a:prstGeom prst="rect">
            <a:avLst/>
          </a:prstGeom>
          <a:solidFill>
            <a:srgbClr val="E4E9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960120" y="2999232"/>
            <a:ext cx="1389888" cy="41148"/>
          </a:xfrm>
          <a:prstGeom prst="rect">
            <a:avLst/>
          </a:prstGeom>
          <a:solidFill>
            <a:srgbClr val="E4E9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960120" y="3273552"/>
            <a:ext cx="1024127" cy="41148"/>
          </a:xfrm>
          <a:prstGeom prst="rect">
            <a:avLst/>
          </a:prstGeom>
          <a:solidFill>
            <a:srgbClr val="E4E9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960120" y="3547872"/>
            <a:ext cx="1389888" cy="41148"/>
          </a:xfrm>
          <a:prstGeom prst="rect">
            <a:avLst/>
          </a:prstGeom>
          <a:solidFill>
            <a:srgbClr val="E4E9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960120" y="3822192"/>
            <a:ext cx="1389888" cy="41148"/>
          </a:xfrm>
          <a:prstGeom prst="rect">
            <a:avLst/>
          </a:prstGeom>
          <a:solidFill>
            <a:srgbClr val="E4E9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Folded Corner 17"/>
          <p:cNvSpPr/>
          <p:nvPr/>
        </p:nvSpPr>
        <p:spPr>
          <a:xfrm>
            <a:off x="1097280" y="2304288"/>
            <a:ext cx="1737360" cy="2194560"/>
          </a:xfrm>
          <a:prstGeom prst="foldedCorner">
            <a:avLst/>
          </a:prstGeom>
          <a:solidFill>
            <a:srgbClr val="FFFFFF"/>
          </a:solidFill>
          <a:ln w="15875">
            <a:solidFill>
              <a:srgbClr val="E4E9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234440" y="2450592"/>
            <a:ext cx="781812" cy="64008"/>
          </a:xfrm>
          <a:prstGeom prst="rect">
            <a:avLst/>
          </a:prstGeom>
          <a:solidFill>
            <a:srgbClr val="6C4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1234440" y="2651760"/>
            <a:ext cx="1024127" cy="41148"/>
          </a:xfrm>
          <a:prstGeom prst="rect">
            <a:avLst/>
          </a:prstGeom>
          <a:solidFill>
            <a:srgbClr val="E4E9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1234440" y="2926080"/>
            <a:ext cx="1389888" cy="41148"/>
          </a:xfrm>
          <a:prstGeom prst="rect">
            <a:avLst/>
          </a:prstGeom>
          <a:solidFill>
            <a:srgbClr val="E4E9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1234440" y="3200400"/>
            <a:ext cx="1389888" cy="41148"/>
          </a:xfrm>
          <a:prstGeom prst="rect">
            <a:avLst/>
          </a:prstGeom>
          <a:solidFill>
            <a:srgbClr val="E4E9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1234440" y="3474720"/>
            <a:ext cx="1024127" cy="41148"/>
          </a:xfrm>
          <a:prstGeom prst="rect">
            <a:avLst/>
          </a:prstGeom>
          <a:solidFill>
            <a:srgbClr val="E4E9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1234440" y="3749040"/>
            <a:ext cx="1389888" cy="41148"/>
          </a:xfrm>
          <a:prstGeom prst="rect">
            <a:avLst/>
          </a:prstGeom>
          <a:solidFill>
            <a:srgbClr val="E4E9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1234440" y="4023360"/>
            <a:ext cx="1389888" cy="41148"/>
          </a:xfrm>
          <a:prstGeom prst="rect">
            <a:avLst/>
          </a:prstGeom>
          <a:solidFill>
            <a:srgbClr val="E4E9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Folded Corner 25"/>
          <p:cNvSpPr/>
          <p:nvPr/>
        </p:nvSpPr>
        <p:spPr>
          <a:xfrm>
            <a:off x="1371600" y="2505456"/>
            <a:ext cx="1737360" cy="2194560"/>
          </a:xfrm>
          <a:prstGeom prst="foldedCorner">
            <a:avLst/>
          </a:prstGeom>
          <a:solidFill>
            <a:srgbClr val="FFFFFF"/>
          </a:solidFill>
          <a:ln w="15875">
            <a:solidFill>
              <a:srgbClr val="E4E9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1508760" y="2651760"/>
            <a:ext cx="781812" cy="64008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1508760" y="2852928"/>
            <a:ext cx="1024127" cy="41148"/>
          </a:xfrm>
          <a:prstGeom prst="rect">
            <a:avLst/>
          </a:prstGeom>
          <a:solidFill>
            <a:srgbClr val="E4E9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1508760" y="3127248"/>
            <a:ext cx="1389888" cy="41148"/>
          </a:xfrm>
          <a:prstGeom prst="rect">
            <a:avLst/>
          </a:prstGeom>
          <a:solidFill>
            <a:srgbClr val="E4E9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1508760" y="3401568"/>
            <a:ext cx="1389888" cy="41148"/>
          </a:xfrm>
          <a:prstGeom prst="rect">
            <a:avLst/>
          </a:prstGeom>
          <a:solidFill>
            <a:srgbClr val="E4E9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1508760" y="3675888"/>
            <a:ext cx="1024127" cy="41148"/>
          </a:xfrm>
          <a:prstGeom prst="rect">
            <a:avLst/>
          </a:prstGeom>
          <a:solidFill>
            <a:srgbClr val="E4E9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1508760" y="3950208"/>
            <a:ext cx="1389888" cy="41148"/>
          </a:xfrm>
          <a:prstGeom prst="rect">
            <a:avLst/>
          </a:prstGeom>
          <a:solidFill>
            <a:srgbClr val="E4E9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1508760" y="4224528"/>
            <a:ext cx="1389888" cy="41148"/>
          </a:xfrm>
          <a:prstGeom prst="rect">
            <a:avLst/>
          </a:prstGeom>
          <a:solidFill>
            <a:srgbClr val="E4E9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31520" y="4800600"/>
            <a:ext cx="25603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</a:pPr>
            <a:r>
              <a:rPr sz="1200" b="1">
                <a:solidFill>
                  <a:srgbClr val="1E293B"/>
                </a:solidFill>
                <a:latin typeface="Segoe UI"/>
              </a:rPr>
              <a:t>HAZOP · LOPA · FMEA worksheets</a:t>
            </a:r>
          </a:p>
        </p:txBody>
      </p:sp>
      <p:cxnSp>
        <p:nvCxnSpPr>
          <p:cNvPr id="35" name="Connector 34"/>
          <p:cNvCxnSpPr/>
          <p:nvPr/>
        </p:nvCxnSpPr>
        <p:spPr>
          <a:xfrm>
            <a:off x="3291840" y="3291840"/>
            <a:ext cx="914400" cy="0"/>
          </a:xfrm>
          <a:prstGeom prst="line">
            <a:avLst/>
          </a:prstGeom>
          <a:ln w="38100">
            <a:solidFill>
              <a:srgbClr val="5B677D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Donut 35"/>
          <p:cNvSpPr/>
          <p:nvPr/>
        </p:nvSpPr>
        <p:spPr>
          <a:xfrm>
            <a:off x="4297680" y="2514600"/>
            <a:ext cx="1280160" cy="1280160"/>
          </a:xfrm>
          <a:prstGeom prst="donu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 rot="2700000">
            <a:off x="5349240" y="3657600"/>
            <a:ext cx="868680" cy="219456"/>
          </a:xfrm>
          <a:prstGeom prst="round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114800" y="4251960"/>
            <a:ext cx="2011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</a:pPr>
            <a:r>
              <a:rPr sz="1200" b="1">
                <a:solidFill>
                  <a:srgbClr val="1E293B"/>
                </a:solidFill>
                <a:latin typeface="Segoe UI"/>
              </a:rPr>
              <a:t>quorum checks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6766560" y="2057400"/>
            <a:ext cx="4754880" cy="160020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E4E9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6766560" y="2057400"/>
            <a:ext cx="68580" cy="1600200"/>
          </a:xfrm>
          <a:prstGeom prst="rect">
            <a:avLst/>
          </a:prstGeom>
          <a:solidFill>
            <a:srgbClr val="6C4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7040880" y="2313432"/>
            <a:ext cx="475488" cy="475488"/>
          </a:xfrm>
          <a:prstGeom prst="roundRect">
            <a:avLst/>
          </a:prstGeom>
          <a:solidFill>
            <a:srgbClr val="6C4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7040880" y="2377440"/>
            <a:ext cx="47548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700" b="1">
                <a:solidFill>
                  <a:srgbClr val="FFFFFF"/>
                </a:solidFill>
                <a:latin typeface="Segoe UI"/>
              </a:rPr>
              <a:t>⚖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7662672" y="2313432"/>
            <a:ext cx="356616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>
                <a:solidFill>
                  <a:srgbClr val="1E293B"/>
                </a:solidFill>
                <a:latin typeface="Segoe UI"/>
              </a:rPr>
              <a:t>"Independent" protections that aren't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059168" y="2971800"/>
            <a:ext cx="4151376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200" b="0">
                <a:solidFill>
                  <a:srgbClr val="5B677D"/>
                </a:solidFill>
                <a:latin typeface="Segoe UI"/>
              </a:rPr>
              <a:t>Safety rules say backups must not share a weak point. quorum checks whether every route to a safety action really is separate.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6766560" y="3749039"/>
            <a:ext cx="4754880" cy="155448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E4E9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6766560" y="3749039"/>
            <a:ext cx="68580" cy="155448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7" name="Rounded Rectangle 46"/>
          <p:cNvSpPr/>
          <p:nvPr/>
        </p:nvSpPr>
        <p:spPr>
          <a:xfrm>
            <a:off x="7040880" y="4005071"/>
            <a:ext cx="475488" cy="475488"/>
          </a:xfrm>
          <a:prstGeom prst="round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7040880" y="4069079"/>
            <a:ext cx="47548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700" b="1">
                <a:solidFill>
                  <a:srgbClr val="FFFFFF"/>
                </a:solidFill>
                <a:latin typeface="Segoe UI"/>
              </a:rPr>
              <a:t>✓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662672" y="4005071"/>
            <a:ext cx="356616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>
                <a:solidFill>
                  <a:srgbClr val="1E293B"/>
                </a:solidFill>
                <a:latin typeface="Segoe UI"/>
              </a:rPr>
              <a:t>It found a real one, first time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7059168" y="4663439"/>
            <a:ext cx="4151376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200" b="0">
                <a:solidFill>
                  <a:srgbClr val="5B677D"/>
                </a:solidFill>
                <a:latin typeface="Segoe UI"/>
              </a:rPr>
              <a:t>In our own pump rulebook, emergency shutdown only worked if BOTH of two sensors spoke up.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640080" y="5440680"/>
            <a:ext cx="10908792" cy="868680"/>
          </a:xfrm>
          <a:prstGeom prst="roundRect">
            <a:avLst/>
          </a:prstGeom>
          <a:solidFill>
            <a:srgbClr val="141B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640080" y="5440680"/>
            <a:ext cx="82296" cy="86868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987552" y="5605272"/>
            <a:ext cx="10241280" cy="6309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250" b="1">
                <a:solidFill>
                  <a:srgbClr val="14B8A6"/>
                </a:solidFill>
                <a:latin typeface="Segoe UI"/>
              </a:rPr>
              <a:t>This could be the first business</a:t>
            </a:r>
          </a:p>
          <a:p>
            <a:pPr algn="l">
              <a:lnSpc>
                <a:spcPct val="118000"/>
              </a:lnSpc>
              <a:spcBef>
                <a:spcPts val="500"/>
              </a:spcBef>
            </a:pPr>
            <a:r>
              <a:rPr sz="1250" b="0">
                <a:solidFill>
                  <a:srgbClr val="FFFFFF"/>
                </a:solidFill>
                <a:latin typeface="Segoe UI"/>
              </a:rPr>
              <a:t>Consultants charge thousands a day to review these by hand. A list of gaps needs no hardware and no certification.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98448"/>
          </a:xfrm>
          <a:prstGeom prst="rect">
            <a:avLst/>
          </a:prstGeom>
          <a:solidFill>
            <a:srgbClr val="141B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298448"/>
            <a:ext cx="12191695" cy="50292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237744"/>
            <a:ext cx="108813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4B8A6"/>
                </a:solidFill>
                <a:latin typeface="Segoe UI"/>
              </a:rPr>
              <a:t>ALWAYS ON TIME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12064"/>
            <a:ext cx="10881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FFFFFF"/>
                </a:solidFill>
                <a:latin typeface="Segoe UI"/>
              </a:rPr>
              <a:t>A promise about speed, proven before it runs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463040"/>
            <a:ext cx="10881360" cy="475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0">
                <a:solidFill>
                  <a:srgbClr val="5B677D"/>
                </a:solidFill>
                <a:latin typeface="Segoe UI"/>
              </a:rPr>
              <a:t>For a machine, a late answer is a wrong answer. quorum works out its worst case in advance.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B677D"/>
                </a:solidFill>
                <a:latin typeface="Segoe UI"/>
              </a:rPr>
              <a:t>quorum  ·  BioDream LLC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64240" y="6419088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1">
                <a:solidFill>
                  <a:srgbClr val="5B677D"/>
                </a:solidFill>
                <a:latin typeface="Segoe UI"/>
              </a:rPr>
              <a:t>11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2240280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200" b="1">
                <a:solidFill>
                  <a:srgbClr val="1E293B"/>
                </a:solidFill>
                <a:latin typeface="Segoe UI"/>
              </a:rPr>
              <a:t>Pump rulebook: the most it can ever need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" y="2542032"/>
            <a:ext cx="5486400" cy="384048"/>
          </a:xfrm>
          <a:prstGeom prst="roundRect">
            <a:avLst/>
          </a:prstGeom>
          <a:solidFill>
            <a:srgbClr val="94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/>
            <a:r>
              <a:rPr sz="1200" b="1">
                <a:solidFill>
                  <a:srgbClr val="FFFFFF"/>
                </a:solidFill>
                <a:latin typeface="Segoe UI"/>
              </a:rPr>
              <a:t>248 steps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3108960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200" b="1">
                <a:solidFill>
                  <a:srgbClr val="1E293B"/>
                </a:solidFill>
                <a:latin typeface="Segoe UI"/>
              </a:rPr>
              <a:t>Pump rulebook: the most it ever took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22960" y="3410712"/>
            <a:ext cx="3097161" cy="384048"/>
          </a:xfrm>
          <a:prstGeom prst="round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/>
            <a:r>
              <a:rPr sz="1200" b="1">
                <a:solidFill>
                  <a:srgbClr val="FFFFFF"/>
                </a:solidFill>
                <a:latin typeface="Segoe UI"/>
              </a:rPr>
              <a:t>140 steps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4069080"/>
            <a:ext cx="57607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200" b="0">
                <a:solidFill>
                  <a:srgbClr val="5B677D"/>
                </a:solidFill>
                <a:latin typeface="Segoe UI"/>
              </a:rPr>
              <a:t>On both chips, every situation finished inside the proven limit.</a:t>
            </a:r>
          </a:p>
        </p:txBody>
      </p:sp>
      <p:sp>
        <p:nvSpPr>
          <p:cNvPr id="15" name="Oval 14"/>
          <p:cNvSpPr/>
          <p:nvPr/>
        </p:nvSpPr>
        <p:spPr>
          <a:xfrm>
            <a:off x="7498079" y="2103120"/>
            <a:ext cx="2011680" cy="2011680"/>
          </a:xfrm>
          <a:prstGeom prst="ellipse">
            <a:avLst/>
          </a:prstGeom>
          <a:solidFill>
            <a:srgbClr val="FFFFFF"/>
          </a:solidFill>
          <a:ln w="76200">
            <a:solidFill>
              <a:srgbClr val="6C4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476488" y="2377440"/>
            <a:ext cx="64008" cy="777240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 rot="1800000">
            <a:off x="8476488" y="3072384"/>
            <a:ext cx="640080" cy="6400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8321040" y="1874519"/>
            <a:ext cx="365760" cy="201168"/>
          </a:xfrm>
          <a:prstGeom prst="roundRect">
            <a:avLst/>
          </a:prstGeom>
          <a:solidFill>
            <a:srgbClr val="6C4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9738360" y="2103120"/>
            <a:ext cx="1783080" cy="1481328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E4E9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9738360" y="2103120"/>
            <a:ext cx="1783080" cy="54864"/>
          </a:xfrm>
          <a:prstGeom prst="rect">
            <a:avLst/>
          </a:prstGeom>
          <a:solidFill>
            <a:srgbClr val="2E8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738360" y="2377440"/>
            <a:ext cx="17830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3000" b="1">
                <a:solidFill>
                  <a:srgbClr val="2E8BE8"/>
                </a:solidFill>
                <a:latin typeface="Segoe UI"/>
              </a:rPr>
              <a:t>156 µs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884664" y="3035808"/>
            <a:ext cx="149047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</a:pPr>
            <a:r>
              <a:rPr sz="1100" b="0">
                <a:solidFill>
                  <a:srgbClr val="5B677D"/>
                </a:solidFill>
                <a:latin typeface="Segoe UI"/>
              </a:rPr>
              <a:t>slowest pump decision, Pico 2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9738360" y="3703320"/>
            <a:ext cx="1783080" cy="1481328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E4E9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9738360" y="3703320"/>
            <a:ext cx="1783080" cy="5486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738360" y="3977640"/>
            <a:ext cx="17830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3000" b="1">
                <a:solidFill>
                  <a:srgbClr val="F59E0B"/>
                </a:solidFill>
                <a:latin typeface="Segoe UI"/>
              </a:rPr>
              <a:t>350 µs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884664" y="4636008"/>
            <a:ext cx="149047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</a:pPr>
            <a:r>
              <a:rPr sz="1100" b="0">
                <a:solidFill>
                  <a:srgbClr val="5B677D"/>
                </a:solidFill>
                <a:latin typeface="Segoe UI"/>
              </a:rPr>
              <a:t>same on the slower Uno R4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22960" y="4526280"/>
            <a:ext cx="8686800" cy="123444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E4E9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822960" y="4526280"/>
            <a:ext cx="68580" cy="1234440"/>
          </a:xfrm>
          <a:prstGeom prst="rect">
            <a:avLst/>
          </a:prstGeom>
          <a:solidFill>
            <a:srgbClr val="6C4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1097280" y="4782312"/>
            <a:ext cx="475488" cy="475488"/>
          </a:xfrm>
          <a:prstGeom prst="roundRect">
            <a:avLst/>
          </a:prstGeom>
          <a:solidFill>
            <a:srgbClr val="6C4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97280" y="4846320"/>
            <a:ext cx="47548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700" b="1">
                <a:solidFill>
                  <a:srgbClr val="FFFFFF"/>
                </a:solidFill>
                <a:latin typeface="Segoe UI"/>
              </a:rPr>
              <a:t>∞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719072" y="4782312"/>
            <a:ext cx="749808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>
                <a:solidFill>
                  <a:srgbClr val="1E293B"/>
                </a:solidFill>
                <a:latin typeface="Segoe UI"/>
              </a:rPr>
              <a:t>Why smarter systems often can't promise this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15568" y="5440680"/>
            <a:ext cx="8083296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200" b="0">
                <a:solidFill>
                  <a:srgbClr val="5B677D"/>
                </a:solidFill>
                <a:latin typeface="Segoe UI"/>
              </a:rPr>
              <a:t>Reasoning by search can, in bad cases, take practically forever. quorum's never can.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22960" y="5943600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200" b="1">
                <a:solidFill>
                  <a:srgbClr val="14B8A6"/>
                </a:solidFill>
                <a:latin typeface="Segoe UI"/>
              </a:rPr>
              <a:t>µs = millionths of a second. A blink of an eye is about 100,000 µs.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98448"/>
          </a:xfrm>
          <a:prstGeom prst="rect">
            <a:avLst/>
          </a:prstGeom>
          <a:solidFill>
            <a:srgbClr val="141B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298448"/>
            <a:ext cx="12191695" cy="50292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237744"/>
            <a:ext cx="108813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4B8A6"/>
                </a:solidFill>
                <a:latin typeface="Segoe UI"/>
              </a:rPr>
              <a:t>TINY HARDWARE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12064"/>
            <a:ext cx="10881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FFFFFF"/>
                </a:solidFill>
                <a:latin typeface="Segoe UI"/>
              </a:rPr>
              <a:t>Runs on chips that cost less than lunch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463040"/>
            <a:ext cx="10881360" cy="475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0">
                <a:solidFill>
                  <a:srgbClr val="5B677D"/>
                </a:solidFill>
                <a:latin typeface="Segoe UI"/>
              </a:rPr>
              <a:t>No cloud, no internet, no graphics card. Tested on three real boards from three different makers.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B677D"/>
                </a:solidFill>
                <a:latin typeface="Segoe UI"/>
              </a:rPr>
              <a:t>quorum  ·  BioDream LLC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64240" y="6419088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1">
                <a:solidFill>
                  <a:srgbClr val="5B677D"/>
                </a:solidFill>
                <a:latin typeface="Segoe UI"/>
              </a:rPr>
              <a:t>12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68680" y="2240280"/>
            <a:ext cx="2926080" cy="1234440"/>
          </a:xfrm>
          <a:prstGeom prst="roundRect">
            <a:avLst/>
          </a:prstGeom>
          <a:solidFill>
            <a:srgbClr val="1580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960120" y="2295144"/>
            <a:ext cx="73152" cy="73152"/>
          </a:xfrm>
          <a:prstGeom prst="ellipse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960120" y="3346704"/>
            <a:ext cx="73152" cy="73152"/>
          </a:xfrm>
          <a:prstGeom prst="ellipse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124712" y="2295144"/>
            <a:ext cx="73152" cy="73152"/>
          </a:xfrm>
          <a:prstGeom prst="ellipse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124712" y="3346704"/>
            <a:ext cx="73152" cy="73152"/>
          </a:xfrm>
          <a:prstGeom prst="ellipse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1289304" y="2295144"/>
            <a:ext cx="73152" cy="73152"/>
          </a:xfrm>
          <a:prstGeom prst="ellipse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1289304" y="3346704"/>
            <a:ext cx="73152" cy="73152"/>
          </a:xfrm>
          <a:prstGeom prst="ellipse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453896" y="2295144"/>
            <a:ext cx="73152" cy="73152"/>
          </a:xfrm>
          <a:prstGeom prst="ellipse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453896" y="3346704"/>
            <a:ext cx="73152" cy="73152"/>
          </a:xfrm>
          <a:prstGeom prst="ellipse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618488" y="2295144"/>
            <a:ext cx="73152" cy="73152"/>
          </a:xfrm>
          <a:prstGeom prst="ellipse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618488" y="3346704"/>
            <a:ext cx="73152" cy="73152"/>
          </a:xfrm>
          <a:prstGeom prst="ellipse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783080" y="2295144"/>
            <a:ext cx="73152" cy="73152"/>
          </a:xfrm>
          <a:prstGeom prst="ellipse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1783080" y="3346704"/>
            <a:ext cx="73152" cy="73152"/>
          </a:xfrm>
          <a:prstGeom prst="ellipse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1947672" y="2295144"/>
            <a:ext cx="73152" cy="73152"/>
          </a:xfrm>
          <a:prstGeom prst="ellipse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1947672" y="3346704"/>
            <a:ext cx="73152" cy="73152"/>
          </a:xfrm>
          <a:prstGeom prst="ellipse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2112264" y="2295144"/>
            <a:ext cx="73152" cy="73152"/>
          </a:xfrm>
          <a:prstGeom prst="ellipse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2112264" y="3346704"/>
            <a:ext cx="73152" cy="73152"/>
          </a:xfrm>
          <a:prstGeom prst="ellipse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2276856" y="2295144"/>
            <a:ext cx="73152" cy="73152"/>
          </a:xfrm>
          <a:prstGeom prst="ellipse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2276856" y="3346704"/>
            <a:ext cx="73152" cy="73152"/>
          </a:xfrm>
          <a:prstGeom prst="ellipse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2441448" y="2295144"/>
            <a:ext cx="73152" cy="73152"/>
          </a:xfrm>
          <a:prstGeom prst="ellipse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2441448" y="3346704"/>
            <a:ext cx="73152" cy="73152"/>
          </a:xfrm>
          <a:prstGeom prst="ellipse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2606040" y="2295144"/>
            <a:ext cx="73152" cy="73152"/>
          </a:xfrm>
          <a:prstGeom prst="ellipse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2606040" y="3346704"/>
            <a:ext cx="73152" cy="73152"/>
          </a:xfrm>
          <a:prstGeom prst="ellipse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2770632" y="2295144"/>
            <a:ext cx="73152" cy="73152"/>
          </a:xfrm>
          <a:prstGeom prst="ellipse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2770632" y="3346704"/>
            <a:ext cx="73152" cy="73152"/>
          </a:xfrm>
          <a:prstGeom prst="ellipse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2935224" y="2295144"/>
            <a:ext cx="73152" cy="73152"/>
          </a:xfrm>
          <a:prstGeom prst="ellipse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2935224" y="3346704"/>
            <a:ext cx="73152" cy="73152"/>
          </a:xfrm>
          <a:prstGeom prst="ellipse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3099816" y="2295144"/>
            <a:ext cx="73152" cy="73152"/>
          </a:xfrm>
          <a:prstGeom prst="ellipse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Oval 37"/>
          <p:cNvSpPr/>
          <p:nvPr/>
        </p:nvSpPr>
        <p:spPr>
          <a:xfrm>
            <a:off x="3099816" y="3346704"/>
            <a:ext cx="73152" cy="73152"/>
          </a:xfrm>
          <a:prstGeom prst="ellipse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3264408" y="2295144"/>
            <a:ext cx="73152" cy="73152"/>
          </a:xfrm>
          <a:prstGeom prst="ellipse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3264408" y="3346704"/>
            <a:ext cx="73152" cy="73152"/>
          </a:xfrm>
          <a:prstGeom prst="ellipse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1" name="Oval 40"/>
          <p:cNvSpPr/>
          <p:nvPr/>
        </p:nvSpPr>
        <p:spPr>
          <a:xfrm>
            <a:off x="3429000" y="2295144"/>
            <a:ext cx="73152" cy="73152"/>
          </a:xfrm>
          <a:prstGeom prst="ellipse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2" name="Oval 41"/>
          <p:cNvSpPr/>
          <p:nvPr/>
        </p:nvSpPr>
        <p:spPr>
          <a:xfrm>
            <a:off x="3429000" y="3346704"/>
            <a:ext cx="73152" cy="73152"/>
          </a:xfrm>
          <a:prstGeom prst="ellipse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3" name="Oval 42"/>
          <p:cNvSpPr/>
          <p:nvPr/>
        </p:nvSpPr>
        <p:spPr>
          <a:xfrm>
            <a:off x="3593592" y="2295144"/>
            <a:ext cx="73152" cy="73152"/>
          </a:xfrm>
          <a:prstGeom prst="ellipse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4" name="Oval 43"/>
          <p:cNvSpPr/>
          <p:nvPr/>
        </p:nvSpPr>
        <p:spPr>
          <a:xfrm>
            <a:off x="3593592" y="3346704"/>
            <a:ext cx="73152" cy="73152"/>
          </a:xfrm>
          <a:prstGeom prst="ellipse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795528" y="2738628"/>
            <a:ext cx="274320" cy="237744"/>
          </a:xfrm>
          <a:prstGeom prst="rect">
            <a:avLst/>
          </a:prstGeom>
          <a:solidFill>
            <a:srgbClr val="94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1834286" y="2360066"/>
            <a:ext cx="994867" cy="994867"/>
          </a:xfrm>
          <a:prstGeom prst="rect">
            <a:avLst/>
          </a:prstGeom>
          <a:solidFill>
            <a:srgbClr val="1F29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868680" y="3547872"/>
            <a:ext cx="29260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</a:pPr>
            <a:r>
              <a:rPr sz="1300" b="1">
                <a:solidFill>
                  <a:srgbClr val="1E293B"/>
                </a:solidFill>
                <a:latin typeface="Segoe UI"/>
              </a:rPr>
              <a:t>Raspberry Pi Pico 2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85800" y="3822192"/>
            <a:ext cx="3291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</a:pPr>
            <a:r>
              <a:rPr sz="1050" b="0">
                <a:solidFill>
                  <a:srgbClr val="5B677D"/>
                </a:solidFill>
                <a:latin typeface="Segoe UI"/>
              </a:rPr>
              <a:t>About $11 · 150 MHz
Same answers as the PC in every situation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4617720" y="2057400"/>
            <a:ext cx="2926080" cy="1600200"/>
          </a:xfrm>
          <a:prstGeom prst="round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0" name="Oval 49"/>
          <p:cNvSpPr/>
          <p:nvPr/>
        </p:nvSpPr>
        <p:spPr>
          <a:xfrm>
            <a:off x="4709160" y="2112264"/>
            <a:ext cx="73152" cy="73152"/>
          </a:xfrm>
          <a:prstGeom prst="ellipse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1" name="Oval 50"/>
          <p:cNvSpPr/>
          <p:nvPr/>
        </p:nvSpPr>
        <p:spPr>
          <a:xfrm>
            <a:off x="4709160" y="3529584"/>
            <a:ext cx="73152" cy="73152"/>
          </a:xfrm>
          <a:prstGeom prst="ellipse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2" name="Oval 51"/>
          <p:cNvSpPr/>
          <p:nvPr/>
        </p:nvSpPr>
        <p:spPr>
          <a:xfrm>
            <a:off x="4873752" y="2112264"/>
            <a:ext cx="73152" cy="73152"/>
          </a:xfrm>
          <a:prstGeom prst="ellipse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3" name="Oval 52"/>
          <p:cNvSpPr/>
          <p:nvPr/>
        </p:nvSpPr>
        <p:spPr>
          <a:xfrm>
            <a:off x="4873752" y="3529584"/>
            <a:ext cx="73152" cy="73152"/>
          </a:xfrm>
          <a:prstGeom prst="ellipse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4" name="Oval 53"/>
          <p:cNvSpPr/>
          <p:nvPr/>
        </p:nvSpPr>
        <p:spPr>
          <a:xfrm>
            <a:off x="5038344" y="2112264"/>
            <a:ext cx="73152" cy="73152"/>
          </a:xfrm>
          <a:prstGeom prst="ellipse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5" name="Oval 54"/>
          <p:cNvSpPr/>
          <p:nvPr/>
        </p:nvSpPr>
        <p:spPr>
          <a:xfrm>
            <a:off x="5038344" y="3529584"/>
            <a:ext cx="73152" cy="73152"/>
          </a:xfrm>
          <a:prstGeom prst="ellipse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6" name="Oval 55"/>
          <p:cNvSpPr/>
          <p:nvPr/>
        </p:nvSpPr>
        <p:spPr>
          <a:xfrm>
            <a:off x="5202936" y="2112264"/>
            <a:ext cx="73152" cy="73152"/>
          </a:xfrm>
          <a:prstGeom prst="ellipse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7" name="Oval 56"/>
          <p:cNvSpPr/>
          <p:nvPr/>
        </p:nvSpPr>
        <p:spPr>
          <a:xfrm>
            <a:off x="5202936" y="3529584"/>
            <a:ext cx="73152" cy="73152"/>
          </a:xfrm>
          <a:prstGeom prst="ellipse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8" name="Oval 57"/>
          <p:cNvSpPr/>
          <p:nvPr/>
        </p:nvSpPr>
        <p:spPr>
          <a:xfrm>
            <a:off x="5367528" y="2112264"/>
            <a:ext cx="73152" cy="73152"/>
          </a:xfrm>
          <a:prstGeom prst="ellipse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9" name="Oval 58"/>
          <p:cNvSpPr/>
          <p:nvPr/>
        </p:nvSpPr>
        <p:spPr>
          <a:xfrm>
            <a:off x="5367528" y="3529584"/>
            <a:ext cx="73152" cy="73152"/>
          </a:xfrm>
          <a:prstGeom prst="ellipse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0" name="Oval 59"/>
          <p:cNvSpPr/>
          <p:nvPr/>
        </p:nvSpPr>
        <p:spPr>
          <a:xfrm>
            <a:off x="5532120" y="2112264"/>
            <a:ext cx="73152" cy="73152"/>
          </a:xfrm>
          <a:prstGeom prst="ellipse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1" name="Oval 60"/>
          <p:cNvSpPr/>
          <p:nvPr/>
        </p:nvSpPr>
        <p:spPr>
          <a:xfrm>
            <a:off x="5532120" y="3529584"/>
            <a:ext cx="73152" cy="73152"/>
          </a:xfrm>
          <a:prstGeom prst="ellipse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2" name="Oval 61"/>
          <p:cNvSpPr/>
          <p:nvPr/>
        </p:nvSpPr>
        <p:spPr>
          <a:xfrm>
            <a:off x="5696712" y="2112264"/>
            <a:ext cx="73152" cy="73152"/>
          </a:xfrm>
          <a:prstGeom prst="ellipse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3" name="Oval 62"/>
          <p:cNvSpPr/>
          <p:nvPr/>
        </p:nvSpPr>
        <p:spPr>
          <a:xfrm>
            <a:off x="5696712" y="3529584"/>
            <a:ext cx="73152" cy="73152"/>
          </a:xfrm>
          <a:prstGeom prst="ellipse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4" name="Oval 63"/>
          <p:cNvSpPr/>
          <p:nvPr/>
        </p:nvSpPr>
        <p:spPr>
          <a:xfrm>
            <a:off x="5861304" y="2112264"/>
            <a:ext cx="73152" cy="73152"/>
          </a:xfrm>
          <a:prstGeom prst="ellipse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5" name="Oval 64"/>
          <p:cNvSpPr/>
          <p:nvPr/>
        </p:nvSpPr>
        <p:spPr>
          <a:xfrm>
            <a:off x="5861304" y="3529584"/>
            <a:ext cx="73152" cy="73152"/>
          </a:xfrm>
          <a:prstGeom prst="ellipse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6" name="Oval 65"/>
          <p:cNvSpPr/>
          <p:nvPr/>
        </p:nvSpPr>
        <p:spPr>
          <a:xfrm>
            <a:off x="6025896" y="2112264"/>
            <a:ext cx="73152" cy="73152"/>
          </a:xfrm>
          <a:prstGeom prst="ellipse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7" name="Oval 66"/>
          <p:cNvSpPr/>
          <p:nvPr/>
        </p:nvSpPr>
        <p:spPr>
          <a:xfrm>
            <a:off x="6025896" y="3529584"/>
            <a:ext cx="73152" cy="73152"/>
          </a:xfrm>
          <a:prstGeom prst="ellipse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8" name="Oval 67"/>
          <p:cNvSpPr/>
          <p:nvPr/>
        </p:nvSpPr>
        <p:spPr>
          <a:xfrm>
            <a:off x="6190488" y="2112264"/>
            <a:ext cx="73152" cy="73152"/>
          </a:xfrm>
          <a:prstGeom prst="ellipse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9" name="Oval 68"/>
          <p:cNvSpPr/>
          <p:nvPr/>
        </p:nvSpPr>
        <p:spPr>
          <a:xfrm>
            <a:off x="6190488" y="3529584"/>
            <a:ext cx="73152" cy="73152"/>
          </a:xfrm>
          <a:prstGeom prst="ellipse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0" name="Oval 69"/>
          <p:cNvSpPr/>
          <p:nvPr/>
        </p:nvSpPr>
        <p:spPr>
          <a:xfrm>
            <a:off x="6355080" y="2112264"/>
            <a:ext cx="73152" cy="73152"/>
          </a:xfrm>
          <a:prstGeom prst="ellipse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1" name="Oval 70"/>
          <p:cNvSpPr/>
          <p:nvPr/>
        </p:nvSpPr>
        <p:spPr>
          <a:xfrm>
            <a:off x="6355080" y="3529584"/>
            <a:ext cx="73152" cy="73152"/>
          </a:xfrm>
          <a:prstGeom prst="ellipse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2" name="Oval 71"/>
          <p:cNvSpPr/>
          <p:nvPr/>
        </p:nvSpPr>
        <p:spPr>
          <a:xfrm>
            <a:off x="6519672" y="2112264"/>
            <a:ext cx="73152" cy="73152"/>
          </a:xfrm>
          <a:prstGeom prst="ellipse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3" name="Oval 72"/>
          <p:cNvSpPr/>
          <p:nvPr/>
        </p:nvSpPr>
        <p:spPr>
          <a:xfrm>
            <a:off x="6519672" y="3529584"/>
            <a:ext cx="73152" cy="73152"/>
          </a:xfrm>
          <a:prstGeom prst="ellipse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4" name="Oval 73"/>
          <p:cNvSpPr/>
          <p:nvPr/>
        </p:nvSpPr>
        <p:spPr>
          <a:xfrm>
            <a:off x="6684264" y="2112264"/>
            <a:ext cx="73152" cy="73152"/>
          </a:xfrm>
          <a:prstGeom prst="ellipse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5" name="Oval 74"/>
          <p:cNvSpPr/>
          <p:nvPr/>
        </p:nvSpPr>
        <p:spPr>
          <a:xfrm>
            <a:off x="6684264" y="3529584"/>
            <a:ext cx="73152" cy="73152"/>
          </a:xfrm>
          <a:prstGeom prst="ellipse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6" name="Oval 75"/>
          <p:cNvSpPr/>
          <p:nvPr/>
        </p:nvSpPr>
        <p:spPr>
          <a:xfrm>
            <a:off x="6848856" y="2112264"/>
            <a:ext cx="73152" cy="73152"/>
          </a:xfrm>
          <a:prstGeom prst="ellipse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7" name="Oval 76"/>
          <p:cNvSpPr/>
          <p:nvPr/>
        </p:nvSpPr>
        <p:spPr>
          <a:xfrm>
            <a:off x="6848856" y="3529584"/>
            <a:ext cx="73152" cy="73152"/>
          </a:xfrm>
          <a:prstGeom prst="ellipse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8" name="Oval 77"/>
          <p:cNvSpPr/>
          <p:nvPr/>
        </p:nvSpPr>
        <p:spPr>
          <a:xfrm>
            <a:off x="7013448" y="2112264"/>
            <a:ext cx="73152" cy="73152"/>
          </a:xfrm>
          <a:prstGeom prst="ellipse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9" name="Oval 78"/>
          <p:cNvSpPr/>
          <p:nvPr/>
        </p:nvSpPr>
        <p:spPr>
          <a:xfrm>
            <a:off x="7013448" y="3529584"/>
            <a:ext cx="73152" cy="73152"/>
          </a:xfrm>
          <a:prstGeom prst="ellipse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0" name="Oval 79"/>
          <p:cNvSpPr/>
          <p:nvPr/>
        </p:nvSpPr>
        <p:spPr>
          <a:xfrm>
            <a:off x="7178040" y="2112264"/>
            <a:ext cx="73152" cy="73152"/>
          </a:xfrm>
          <a:prstGeom prst="ellipse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1" name="Oval 80"/>
          <p:cNvSpPr/>
          <p:nvPr/>
        </p:nvSpPr>
        <p:spPr>
          <a:xfrm>
            <a:off x="7178040" y="3529584"/>
            <a:ext cx="73152" cy="73152"/>
          </a:xfrm>
          <a:prstGeom prst="ellipse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2" name="Oval 81"/>
          <p:cNvSpPr/>
          <p:nvPr/>
        </p:nvSpPr>
        <p:spPr>
          <a:xfrm>
            <a:off x="7342632" y="2112264"/>
            <a:ext cx="73152" cy="73152"/>
          </a:xfrm>
          <a:prstGeom prst="ellipse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3" name="Oval 82"/>
          <p:cNvSpPr/>
          <p:nvPr/>
        </p:nvSpPr>
        <p:spPr>
          <a:xfrm>
            <a:off x="7342632" y="3529584"/>
            <a:ext cx="73152" cy="73152"/>
          </a:xfrm>
          <a:prstGeom prst="ellipse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4" name="Rectangle 83"/>
          <p:cNvSpPr/>
          <p:nvPr/>
        </p:nvSpPr>
        <p:spPr>
          <a:xfrm>
            <a:off x="4544568" y="2738628"/>
            <a:ext cx="274320" cy="237744"/>
          </a:xfrm>
          <a:prstGeom prst="rect">
            <a:avLst/>
          </a:prstGeom>
          <a:solidFill>
            <a:srgbClr val="94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5" name="Rectangle 84"/>
          <p:cNvSpPr/>
          <p:nvPr/>
        </p:nvSpPr>
        <p:spPr>
          <a:xfrm>
            <a:off x="5583326" y="2360066"/>
            <a:ext cx="994867" cy="994867"/>
          </a:xfrm>
          <a:prstGeom prst="rect">
            <a:avLst/>
          </a:prstGeom>
          <a:solidFill>
            <a:srgbClr val="1F29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4617720" y="3730752"/>
            <a:ext cx="29260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</a:pPr>
            <a:r>
              <a:rPr sz="1300" b="1">
                <a:solidFill>
                  <a:srgbClr val="1E293B"/>
                </a:solidFill>
                <a:latin typeface="Segoe UI"/>
              </a:rPr>
              <a:t>Arduino Uno R4 Minima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4434840" y="4005072"/>
            <a:ext cx="3291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</a:pPr>
            <a:r>
              <a:rPr sz="1050" b="0">
                <a:solidFill>
                  <a:srgbClr val="5B677D"/>
                </a:solidFill>
                <a:latin typeface="Segoe UI"/>
              </a:rPr>
              <a:t>About $20 · 48 MHz
Same answers as the PC in every situation</a:t>
            </a:r>
          </a:p>
        </p:txBody>
      </p:sp>
      <p:sp>
        <p:nvSpPr>
          <p:cNvPr id="88" name="Rounded Rectangle 87"/>
          <p:cNvSpPr/>
          <p:nvPr/>
        </p:nvSpPr>
        <p:spPr>
          <a:xfrm>
            <a:off x="8366760" y="2103120"/>
            <a:ext cx="2926080" cy="1508760"/>
          </a:xfrm>
          <a:prstGeom prst="roundRect">
            <a:avLst/>
          </a:prstGeom>
          <a:solidFill>
            <a:srgbClr val="0B5E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9" name="Oval 88"/>
          <p:cNvSpPr/>
          <p:nvPr/>
        </p:nvSpPr>
        <p:spPr>
          <a:xfrm>
            <a:off x="8458200" y="2157984"/>
            <a:ext cx="73152" cy="73152"/>
          </a:xfrm>
          <a:prstGeom prst="ellipse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0" name="Oval 89"/>
          <p:cNvSpPr/>
          <p:nvPr/>
        </p:nvSpPr>
        <p:spPr>
          <a:xfrm>
            <a:off x="8458200" y="3483864"/>
            <a:ext cx="73152" cy="73152"/>
          </a:xfrm>
          <a:prstGeom prst="ellipse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1" name="Oval 90"/>
          <p:cNvSpPr/>
          <p:nvPr/>
        </p:nvSpPr>
        <p:spPr>
          <a:xfrm>
            <a:off x="8622792" y="2157984"/>
            <a:ext cx="73152" cy="73152"/>
          </a:xfrm>
          <a:prstGeom prst="ellipse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2" name="Oval 91"/>
          <p:cNvSpPr/>
          <p:nvPr/>
        </p:nvSpPr>
        <p:spPr>
          <a:xfrm>
            <a:off x="8622792" y="3483864"/>
            <a:ext cx="73152" cy="73152"/>
          </a:xfrm>
          <a:prstGeom prst="ellipse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3" name="Oval 92"/>
          <p:cNvSpPr/>
          <p:nvPr/>
        </p:nvSpPr>
        <p:spPr>
          <a:xfrm>
            <a:off x="8787384" y="2157984"/>
            <a:ext cx="73152" cy="73152"/>
          </a:xfrm>
          <a:prstGeom prst="ellipse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4" name="Oval 93"/>
          <p:cNvSpPr/>
          <p:nvPr/>
        </p:nvSpPr>
        <p:spPr>
          <a:xfrm>
            <a:off x="8787384" y="3483864"/>
            <a:ext cx="73152" cy="73152"/>
          </a:xfrm>
          <a:prstGeom prst="ellipse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5" name="Oval 94"/>
          <p:cNvSpPr/>
          <p:nvPr/>
        </p:nvSpPr>
        <p:spPr>
          <a:xfrm>
            <a:off x="8951976" y="2157984"/>
            <a:ext cx="73152" cy="73152"/>
          </a:xfrm>
          <a:prstGeom prst="ellipse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6" name="Oval 95"/>
          <p:cNvSpPr/>
          <p:nvPr/>
        </p:nvSpPr>
        <p:spPr>
          <a:xfrm>
            <a:off x="8951976" y="3483864"/>
            <a:ext cx="73152" cy="73152"/>
          </a:xfrm>
          <a:prstGeom prst="ellipse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7" name="Oval 96"/>
          <p:cNvSpPr/>
          <p:nvPr/>
        </p:nvSpPr>
        <p:spPr>
          <a:xfrm>
            <a:off x="9116568" y="2157984"/>
            <a:ext cx="73152" cy="73152"/>
          </a:xfrm>
          <a:prstGeom prst="ellipse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8" name="Oval 97"/>
          <p:cNvSpPr/>
          <p:nvPr/>
        </p:nvSpPr>
        <p:spPr>
          <a:xfrm>
            <a:off x="9116568" y="3483864"/>
            <a:ext cx="73152" cy="73152"/>
          </a:xfrm>
          <a:prstGeom prst="ellipse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9" name="Oval 98"/>
          <p:cNvSpPr/>
          <p:nvPr/>
        </p:nvSpPr>
        <p:spPr>
          <a:xfrm>
            <a:off x="9281160" y="2157984"/>
            <a:ext cx="73152" cy="73152"/>
          </a:xfrm>
          <a:prstGeom prst="ellipse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0" name="Oval 99"/>
          <p:cNvSpPr/>
          <p:nvPr/>
        </p:nvSpPr>
        <p:spPr>
          <a:xfrm>
            <a:off x="9281160" y="3483864"/>
            <a:ext cx="73152" cy="73152"/>
          </a:xfrm>
          <a:prstGeom prst="ellipse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1" name="Oval 100"/>
          <p:cNvSpPr/>
          <p:nvPr/>
        </p:nvSpPr>
        <p:spPr>
          <a:xfrm>
            <a:off x="9445752" y="2157984"/>
            <a:ext cx="73152" cy="73152"/>
          </a:xfrm>
          <a:prstGeom prst="ellipse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2" name="Oval 101"/>
          <p:cNvSpPr/>
          <p:nvPr/>
        </p:nvSpPr>
        <p:spPr>
          <a:xfrm>
            <a:off x="9445752" y="3483864"/>
            <a:ext cx="73152" cy="73152"/>
          </a:xfrm>
          <a:prstGeom prst="ellipse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3" name="Oval 102"/>
          <p:cNvSpPr/>
          <p:nvPr/>
        </p:nvSpPr>
        <p:spPr>
          <a:xfrm>
            <a:off x="9610344" y="2157984"/>
            <a:ext cx="73152" cy="73152"/>
          </a:xfrm>
          <a:prstGeom prst="ellipse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4" name="Oval 103"/>
          <p:cNvSpPr/>
          <p:nvPr/>
        </p:nvSpPr>
        <p:spPr>
          <a:xfrm>
            <a:off x="9610344" y="3483864"/>
            <a:ext cx="73152" cy="73152"/>
          </a:xfrm>
          <a:prstGeom prst="ellipse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5" name="Oval 104"/>
          <p:cNvSpPr/>
          <p:nvPr/>
        </p:nvSpPr>
        <p:spPr>
          <a:xfrm>
            <a:off x="9774936" y="2157984"/>
            <a:ext cx="73152" cy="73152"/>
          </a:xfrm>
          <a:prstGeom prst="ellipse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6" name="Oval 105"/>
          <p:cNvSpPr/>
          <p:nvPr/>
        </p:nvSpPr>
        <p:spPr>
          <a:xfrm>
            <a:off x="9774936" y="3483864"/>
            <a:ext cx="73152" cy="73152"/>
          </a:xfrm>
          <a:prstGeom prst="ellipse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7" name="Oval 106"/>
          <p:cNvSpPr/>
          <p:nvPr/>
        </p:nvSpPr>
        <p:spPr>
          <a:xfrm>
            <a:off x="9939528" y="2157984"/>
            <a:ext cx="73152" cy="73152"/>
          </a:xfrm>
          <a:prstGeom prst="ellipse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8" name="Oval 107"/>
          <p:cNvSpPr/>
          <p:nvPr/>
        </p:nvSpPr>
        <p:spPr>
          <a:xfrm>
            <a:off x="9939528" y="3483864"/>
            <a:ext cx="73152" cy="73152"/>
          </a:xfrm>
          <a:prstGeom prst="ellipse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9" name="Oval 108"/>
          <p:cNvSpPr/>
          <p:nvPr/>
        </p:nvSpPr>
        <p:spPr>
          <a:xfrm>
            <a:off x="10104120" y="2157984"/>
            <a:ext cx="73152" cy="73152"/>
          </a:xfrm>
          <a:prstGeom prst="ellipse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0" name="Oval 109"/>
          <p:cNvSpPr/>
          <p:nvPr/>
        </p:nvSpPr>
        <p:spPr>
          <a:xfrm>
            <a:off x="10104120" y="3483864"/>
            <a:ext cx="73152" cy="73152"/>
          </a:xfrm>
          <a:prstGeom prst="ellipse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1" name="Oval 110"/>
          <p:cNvSpPr/>
          <p:nvPr/>
        </p:nvSpPr>
        <p:spPr>
          <a:xfrm>
            <a:off x="10268712" y="2157984"/>
            <a:ext cx="73152" cy="73152"/>
          </a:xfrm>
          <a:prstGeom prst="ellipse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2" name="Oval 111"/>
          <p:cNvSpPr/>
          <p:nvPr/>
        </p:nvSpPr>
        <p:spPr>
          <a:xfrm>
            <a:off x="10268712" y="3483864"/>
            <a:ext cx="73152" cy="73152"/>
          </a:xfrm>
          <a:prstGeom prst="ellipse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3" name="Oval 112"/>
          <p:cNvSpPr/>
          <p:nvPr/>
        </p:nvSpPr>
        <p:spPr>
          <a:xfrm>
            <a:off x="10433304" y="2157984"/>
            <a:ext cx="73152" cy="73152"/>
          </a:xfrm>
          <a:prstGeom prst="ellipse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4" name="Oval 113"/>
          <p:cNvSpPr/>
          <p:nvPr/>
        </p:nvSpPr>
        <p:spPr>
          <a:xfrm>
            <a:off x="10433304" y="3483864"/>
            <a:ext cx="73152" cy="73152"/>
          </a:xfrm>
          <a:prstGeom prst="ellipse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5" name="Oval 114"/>
          <p:cNvSpPr/>
          <p:nvPr/>
        </p:nvSpPr>
        <p:spPr>
          <a:xfrm>
            <a:off x="10597896" y="2157984"/>
            <a:ext cx="73152" cy="73152"/>
          </a:xfrm>
          <a:prstGeom prst="ellipse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6" name="Oval 115"/>
          <p:cNvSpPr/>
          <p:nvPr/>
        </p:nvSpPr>
        <p:spPr>
          <a:xfrm>
            <a:off x="10597896" y="3483864"/>
            <a:ext cx="73152" cy="73152"/>
          </a:xfrm>
          <a:prstGeom prst="ellipse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7" name="Oval 116"/>
          <p:cNvSpPr/>
          <p:nvPr/>
        </p:nvSpPr>
        <p:spPr>
          <a:xfrm>
            <a:off x="10762488" y="2157984"/>
            <a:ext cx="73152" cy="73152"/>
          </a:xfrm>
          <a:prstGeom prst="ellipse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8" name="Oval 117"/>
          <p:cNvSpPr/>
          <p:nvPr/>
        </p:nvSpPr>
        <p:spPr>
          <a:xfrm>
            <a:off x="10762488" y="3483864"/>
            <a:ext cx="73152" cy="73152"/>
          </a:xfrm>
          <a:prstGeom prst="ellipse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9" name="Oval 118"/>
          <p:cNvSpPr/>
          <p:nvPr/>
        </p:nvSpPr>
        <p:spPr>
          <a:xfrm>
            <a:off x="10927080" y="2157984"/>
            <a:ext cx="73152" cy="73152"/>
          </a:xfrm>
          <a:prstGeom prst="ellipse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0" name="Oval 119"/>
          <p:cNvSpPr/>
          <p:nvPr/>
        </p:nvSpPr>
        <p:spPr>
          <a:xfrm>
            <a:off x="10927080" y="3483864"/>
            <a:ext cx="73152" cy="73152"/>
          </a:xfrm>
          <a:prstGeom prst="ellipse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1" name="Oval 120"/>
          <p:cNvSpPr/>
          <p:nvPr/>
        </p:nvSpPr>
        <p:spPr>
          <a:xfrm>
            <a:off x="11091672" y="2157984"/>
            <a:ext cx="73152" cy="73152"/>
          </a:xfrm>
          <a:prstGeom prst="ellipse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2" name="Oval 121"/>
          <p:cNvSpPr/>
          <p:nvPr/>
        </p:nvSpPr>
        <p:spPr>
          <a:xfrm>
            <a:off x="11091672" y="3483864"/>
            <a:ext cx="73152" cy="73152"/>
          </a:xfrm>
          <a:prstGeom prst="ellipse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3" name="Rectangle 122"/>
          <p:cNvSpPr/>
          <p:nvPr/>
        </p:nvSpPr>
        <p:spPr>
          <a:xfrm>
            <a:off x="8293608" y="2738628"/>
            <a:ext cx="274320" cy="237744"/>
          </a:xfrm>
          <a:prstGeom prst="rect">
            <a:avLst/>
          </a:prstGeom>
          <a:solidFill>
            <a:srgbClr val="94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4" name="Rectangle 123"/>
          <p:cNvSpPr/>
          <p:nvPr/>
        </p:nvSpPr>
        <p:spPr>
          <a:xfrm>
            <a:off x="9332366" y="2360066"/>
            <a:ext cx="994867" cy="994867"/>
          </a:xfrm>
          <a:prstGeom prst="rect">
            <a:avLst/>
          </a:prstGeom>
          <a:solidFill>
            <a:srgbClr val="1F29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5" name="TextBox 124"/>
          <p:cNvSpPr txBox="1"/>
          <p:nvPr/>
        </p:nvSpPr>
        <p:spPr>
          <a:xfrm>
            <a:off x="8366760" y="3685032"/>
            <a:ext cx="29260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</a:pPr>
            <a:r>
              <a:rPr sz="1300" b="1">
                <a:solidFill>
                  <a:srgbClr val="1E293B"/>
                </a:solidFill>
                <a:latin typeface="Segoe UI"/>
              </a:rPr>
              <a:t>Raspberry Pi 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8183880" y="3959352"/>
            <a:ext cx="3291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</a:pPr>
            <a:r>
              <a:rPr sz="1050" b="0">
                <a:solidFill>
                  <a:srgbClr val="5B677D"/>
                </a:solidFill>
                <a:latin typeface="Segoe UI"/>
              </a:rPr>
              <a:t>The "bigger computer" · runs the second
opinion and the full test suite natively</a:t>
            </a:r>
          </a:p>
        </p:txBody>
      </p:sp>
      <p:sp>
        <p:nvSpPr>
          <p:cNvPr id="127" name="Rounded Rectangle 126"/>
          <p:cNvSpPr/>
          <p:nvPr/>
        </p:nvSpPr>
        <p:spPr>
          <a:xfrm>
            <a:off x="640080" y="4572000"/>
            <a:ext cx="10908792" cy="105156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E4E9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8" name="Rectangle 127"/>
          <p:cNvSpPr/>
          <p:nvPr/>
        </p:nvSpPr>
        <p:spPr>
          <a:xfrm>
            <a:off x="640080" y="4572000"/>
            <a:ext cx="82296" cy="105156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9" name="TextBox 128"/>
          <p:cNvSpPr txBox="1"/>
          <p:nvPr/>
        </p:nvSpPr>
        <p:spPr>
          <a:xfrm>
            <a:off x="960120" y="4736592"/>
            <a:ext cx="10332720" cy="8138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300" b="1">
                <a:solidFill>
                  <a:srgbClr val="14B8A6"/>
                </a:solidFill>
                <a:latin typeface="Segoe UI"/>
              </a:rPr>
              <a:t>Same answer everywhere</a:t>
            </a:r>
          </a:p>
          <a:p>
            <a:pPr algn="l">
              <a:lnSpc>
                <a:spcPct val="118000"/>
              </a:lnSpc>
              <a:spcBef>
                <a:spcPts val="500"/>
              </a:spcBef>
            </a:pPr>
            <a:r>
              <a:rPr sz="1150" b="0">
                <a:solidFill>
                  <a:srgbClr val="5B677D"/>
                </a:solidFill>
                <a:latin typeface="Segoe UI"/>
              </a:rPr>
              <a:t>The same rulebook was run on the PC, the Pico 2 and the Uno R4. Every situation got the same answer and took the same number of steps on all three. That is evidence the answers come from quorum, not from a quirk of one chip.</a:t>
            </a:r>
          </a:p>
        </p:txBody>
      </p:sp>
      <p:sp>
        <p:nvSpPr>
          <p:cNvPr id="130" name="Rounded Rectangle 129"/>
          <p:cNvSpPr/>
          <p:nvPr/>
        </p:nvSpPr>
        <p:spPr>
          <a:xfrm>
            <a:off x="640080" y="5715000"/>
            <a:ext cx="10908792" cy="566928"/>
          </a:xfrm>
          <a:prstGeom prst="roundRect">
            <a:avLst/>
          </a:prstGeom>
          <a:solidFill>
            <a:srgbClr val="141B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1" name="Rectangle 130"/>
          <p:cNvSpPr/>
          <p:nvPr/>
        </p:nvSpPr>
        <p:spPr>
          <a:xfrm>
            <a:off x="640080" y="5715000"/>
            <a:ext cx="82296" cy="566928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2" name="TextBox 131"/>
          <p:cNvSpPr txBox="1"/>
          <p:nvPr/>
        </p:nvSpPr>
        <p:spPr>
          <a:xfrm>
            <a:off x="987552" y="5879592"/>
            <a:ext cx="1024128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250" b="0">
                <a:solidFill>
                  <a:srgbClr val="FFFFFF"/>
                </a:solidFill>
                <a:latin typeface="Segoe UI"/>
              </a:rPr>
              <a:t>On the Pi 5, all 73 of quorum's automatic tests pass, built from scratch on the board itself.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98448"/>
          </a:xfrm>
          <a:prstGeom prst="rect">
            <a:avLst/>
          </a:prstGeom>
          <a:solidFill>
            <a:srgbClr val="141B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298448"/>
            <a:ext cx="12191695" cy="50292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237744"/>
            <a:ext cx="108813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4B8A6"/>
                </a:solidFill>
                <a:latin typeface="Segoe UI"/>
              </a:rPr>
              <a:t>QUORUM STUDIO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12064"/>
            <a:ext cx="10881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FFFFFF"/>
                </a:solidFill>
                <a:latin typeface="Segoe UI"/>
              </a:rPr>
              <a:t>One chip program. Any rulebook. One click.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463040"/>
            <a:ext cx="10881360" cy="475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0">
                <a:solidFill>
                  <a:srgbClr val="5B677D"/>
                </a:solidFill>
                <a:latin typeface="Segoe UI"/>
              </a:rPr>
              <a:t>A desktop app turns rules, worksheets or past records into a checked file the chip loads.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B677D"/>
                </a:solidFill>
                <a:latin typeface="Segoe UI"/>
              </a:rPr>
              <a:t>quorum  ·  BioDream LLC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64240" y="6419088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1">
                <a:solidFill>
                  <a:srgbClr val="5B677D"/>
                </a:solidFill>
                <a:latin typeface="Segoe UI"/>
              </a:rPr>
              <a:t>13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2103120"/>
            <a:ext cx="2103120" cy="86868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14B8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Folded Corner 10"/>
          <p:cNvSpPr/>
          <p:nvPr/>
        </p:nvSpPr>
        <p:spPr>
          <a:xfrm>
            <a:off x="969264" y="2212848"/>
            <a:ext cx="438912" cy="603504"/>
          </a:xfrm>
          <a:prstGeom prst="foldedCorner">
            <a:avLst/>
          </a:prstGeom>
          <a:solidFill>
            <a:srgbClr val="FFFFFF"/>
          </a:solidFill>
          <a:ln w="25400">
            <a:solidFill>
              <a:srgbClr val="14B8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051560" y="2340864"/>
            <a:ext cx="274320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051560" y="2450592"/>
            <a:ext cx="274320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051560" y="2560320"/>
            <a:ext cx="274320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051560" y="2670048"/>
            <a:ext cx="274320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600200" y="2377440"/>
            <a:ext cx="11887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300" b="1">
                <a:solidFill>
                  <a:srgbClr val="1E293B"/>
                </a:solidFill>
                <a:latin typeface="Segoe UI"/>
              </a:rPr>
              <a:t>Rules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2880360" y="2542032"/>
            <a:ext cx="777240" cy="841248"/>
          </a:xfrm>
          <a:prstGeom prst="line">
            <a:avLst/>
          </a:prstGeom>
          <a:ln w="31750">
            <a:solidFill>
              <a:srgbClr val="14B8A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ounded Rectangle 17"/>
          <p:cNvSpPr/>
          <p:nvPr/>
        </p:nvSpPr>
        <p:spPr>
          <a:xfrm>
            <a:off x="731520" y="3200400"/>
            <a:ext cx="2103120" cy="86868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6C4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Folded Corner 18"/>
          <p:cNvSpPr/>
          <p:nvPr/>
        </p:nvSpPr>
        <p:spPr>
          <a:xfrm>
            <a:off x="969264" y="3310128"/>
            <a:ext cx="438912" cy="603504"/>
          </a:xfrm>
          <a:prstGeom prst="foldedCorner">
            <a:avLst/>
          </a:prstGeom>
          <a:solidFill>
            <a:srgbClr val="FFFFFF"/>
          </a:solidFill>
          <a:ln w="25400">
            <a:solidFill>
              <a:srgbClr val="6C4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1051560" y="3438144"/>
            <a:ext cx="274320" cy="36576"/>
          </a:xfrm>
          <a:prstGeom prst="rect">
            <a:avLst/>
          </a:prstGeom>
          <a:solidFill>
            <a:srgbClr val="6C4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1051560" y="3547872"/>
            <a:ext cx="274320" cy="36576"/>
          </a:xfrm>
          <a:prstGeom prst="rect">
            <a:avLst/>
          </a:prstGeom>
          <a:solidFill>
            <a:srgbClr val="6C4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1051560" y="3657600"/>
            <a:ext cx="274320" cy="36576"/>
          </a:xfrm>
          <a:prstGeom prst="rect">
            <a:avLst/>
          </a:prstGeom>
          <a:solidFill>
            <a:srgbClr val="6C4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1051560" y="3767328"/>
            <a:ext cx="274320" cy="36576"/>
          </a:xfrm>
          <a:prstGeom prst="rect">
            <a:avLst/>
          </a:prstGeom>
          <a:solidFill>
            <a:srgbClr val="6C4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600200" y="3474720"/>
            <a:ext cx="11887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300" b="1">
                <a:solidFill>
                  <a:srgbClr val="1E293B"/>
                </a:solidFill>
                <a:latin typeface="Segoe UI"/>
              </a:rPr>
              <a:t>Worksheet</a:t>
            </a:r>
          </a:p>
        </p:txBody>
      </p:sp>
      <p:cxnSp>
        <p:nvCxnSpPr>
          <p:cNvPr id="25" name="Connector 24"/>
          <p:cNvCxnSpPr/>
          <p:nvPr/>
        </p:nvCxnSpPr>
        <p:spPr>
          <a:xfrm flipV="1">
            <a:off x="2880360" y="3383280"/>
            <a:ext cx="777240" cy="256032"/>
          </a:xfrm>
          <a:prstGeom prst="line">
            <a:avLst/>
          </a:prstGeom>
          <a:ln w="31750">
            <a:solidFill>
              <a:srgbClr val="6C4BE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Rounded Rectangle 25"/>
          <p:cNvSpPr/>
          <p:nvPr/>
        </p:nvSpPr>
        <p:spPr>
          <a:xfrm>
            <a:off x="731520" y="4297679"/>
            <a:ext cx="2103120" cy="86868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896112" y="4407407"/>
            <a:ext cx="585216" cy="182880"/>
          </a:xfrm>
          <a:prstGeom prst="round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1335024" y="4462271"/>
            <a:ext cx="73152" cy="73152"/>
          </a:xfrm>
          <a:prstGeom prst="ellipse">
            <a:avLst/>
          </a:prstGeom>
          <a:solidFill>
            <a:srgbClr val="22A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896112" y="4636007"/>
            <a:ext cx="585216" cy="182880"/>
          </a:xfrm>
          <a:prstGeom prst="round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1335024" y="4690871"/>
            <a:ext cx="73152" cy="73152"/>
          </a:xfrm>
          <a:prstGeom prst="ellipse">
            <a:avLst/>
          </a:prstGeom>
          <a:solidFill>
            <a:srgbClr val="22A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896112" y="4864607"/>
            <a:ext cx="585216" cy="182880"/>
          </a:xfrm>
          <a:prstGeom prst="round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1335024" y="4919471"/>
            <a:ext cx="73152" cy="73152"/>
          </a:xfrm>
          <a:prstGeom prst="ellipse">
            <a:avLst/>
          </a:prstGeom>
          <a:solidFill>
            <a:srgbClr val="22A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600200" y="4571999"/>
            <a:ext cx="11887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300" b="1">
                <a:solidFill>
                  <a:srgbClr val="1E293B"/>
                </a:solidFill>
                <a:latin typeface="Segoe UI"/>
              </a:rPr>
              <a:t>Past records</a:t>
            </a:r>
          </a:p>
        </p:txBody>
      </p:sp>
      <p:cxnSp>
        <p:nvCxnSpPr>
          <p:cNvPr id="34" name="Connector 33"/>
          <p:cNvCxnSpPr/>
          <p:nvPr/>
        </p:nvCxnSpPr>
        <p:spPr>
          <a:xfrm flipV="1">
            <a:off x="2880360" y="3383280"/>
            <a:ext cx="777240" cy="1353311"/>
          </a:xfrm>
          <a:prstGeom prst="line">
            <a:avLst/>
          </a:prstGeom>
          <a:ln w="31750">
            <a:solidFill>
              <a:srgbClr val="F59E0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Rounded Rectangle 34"/>
          <p:cNvSpPr/>
          <p:nvPr/>
        </p:nvSpPr>
        <p:spPr>
          <a:xfrm>
            <a:off x="3749039" y="2377440"/>
            <a:ext cx="2926080" cy="2103120"/>
          </a:xfrm>
          <a:prstGeom prst="roundRect">
            <a:avLst/>
          </a:prstGeom>
          <a:solidFill>
            <a:srgbClr val="141B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3749039" y="2377440"/>
            <a:ext cx="2926080" cy="329184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3858768" y="2478024"/>
            <a:ext cx="118872" cy="11887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Oval 37"/>
          <p:cNvSpPr/>
          <p:nvPr/>
        </p:nvSpPr>
        <p:spPr>
          <a:xfrm>
            <a:off x="4041648" y="2478024"/>
            <a:ext cx="118872" cy="11887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4224528" y="2478024"/>
            <a:ext cx="118872" cy="11887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3749039" y="2816352"/>
            <a:ext cx="2926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</a:pPr>
            <a:r>
              <a:rPr sz="1700" b="1">
                <a:solidFill>
                  <a:srgbClr val="FFFFFF"/>
                </a:solidFill>
                <a:latin typeface="Segoe UI"/>
              </a:rPr>
              <a:t>quorum studio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3977639" y="3291840"/>
            <a:ext cx="2468880" cy="310896"/>
          </a:xfrm>
          <a:prstGeom prst="roundRect">
            <a:avLst/>
          </a:prstGeom>
          <a:solidFill>
            <a:srgbClr val="2E8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4050791" y="3342132"/>
            <a:ext cx="2322576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Segoe UI"/>
              </a:rPr>
              <a:t>edit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3977639" y="3675888"/>
            <a:ext cx="2468880" cy="310896"/>
          </a:xfrm>
          <a:prstGeom prst="round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4050791" y="3726180"/>
            <a:ext cx="2322576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Segoe UI"/>
              </a:rPr>
              <a:t>check every case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3977639" y="4059936"/>
            <a:ext cx="2468880" cy="310896"/>
          </a:xfrm>
          <a:prstGeom prst="roundRect">
            <a:avLst/>
          </a:prstGeom>
          <a:solidFill>
            <a:srgbClr val="22A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4050791" y="4110228"/>
            <a:ext cx="2322576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Segoe UI"/>
              </a:rPr>
              <a:t>write chip file</a:t>
            </a:r>
          </a:p>
        </p:txBody>
      </p:sp>
      <p:cxnSp>
        <p:nvCxnSpPr>
          <p:cNvPr id="47" name="Connector 46"/>
          <p:cNvCxnSpPr/>
          <p:nvPr/>
        </p:nvCxnSpPr>
        <p:spPr>
          <a:xfrm>
            <a:off x="6766560" y="3429000"/>
            <a:ext cx="822960" cy="0"/>
          </a:xfrm>
          <a:prstGeom prst="line">
            <a:avLst/>
          </a:prstGeom>
          <a:ln w="38100">
            <a:solidFill>
              <a:srgbClr val="5B677D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8" name="Rectangle 47"/>
          <p:cNvSpPr/>
          <p:nvPr/>
        </p:nvSpPr>
        <p:spPr>
          <a:xfrm>
            <a:off x="7772400" y="2679192"/>
            <a:ext cx="91440" cy="109728"/>
          </a:xfrm>
          <a:prstGeom prst="rect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7772400" y="3977640"/>
            <a:ext cx="91440" cy="109728"/>
          </a:xfrm>
          <a:prstGeom prst="rect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7955280" y="2679192"/>
            <a:ext cx="91440" cy="109728"/>
          </a:xfrm>
          <a:prstGeom prst="rect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7955280" y="3977640"/>
            <a:ext cx="91440" cy="109728"/>
          </a:xfrm>
          <a:prstGeom prst="rect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8138160" y="2679192"/>
            <a:ext cx="91440" cy="109728"/>
          </a:xfrm>
          <a:prstGeom prst="rect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8138160" y="3977640"/>
            <a:ext cx="91440" cy="109728"/>
          </a:xfrm>
          <a:prstGeom prst="rect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8321040" y="2679192"/>
            <a:ext cx="91440" cy="109728"/>
          </a:xfrm>
          <a:prstGeom prst="rect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8321040" y="3977640"/>
            <a:ext cx="91440" cy="109728"/>
          </a:xfrm>
          <a:prstGeom prst="rect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8503920" y="2679192"/>
            <a:ext cx="91440" cy="109728"/>
          </a:xfrm>
          <a:prstGeom prst="rect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8503920" y="3977640"/>
            <a:ext cx="91440" cy="109728"/>
          </a:xfrm>
          <a:prstGeom prst="rect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8686800" y="2679192"/>
            <a:ext cx="91440" cy="109728"/>
          </a:xfrm>
          <a:prstGeom prst="rect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8686800" y="3977640"/>
            <a:ext cx="91440" cy="109728"/>
          </a:xfrm>
          <a:prstGeom prst="rect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7571232" y="2880360"/>
            <a:ext cx="109728" cy="91440"/>
          </a:xfrm>
          <a:prstGeom prst="rect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8869680" y="2880360"/>
            <a:ext cx="109728" cy="91440"/>
          </a:xfrm>
          <a:prstGeom prst="rect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7571232" y="3063240"/>
            <a:ext cx="109728" cy="91440"/>
          </a:xfrm>
          <a:prstGeom prst="rect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8869680" y="3063240"/>
            <a:ext cx="109728" cy="91440"/>
          </a:xfrm>
          <a:prstGeom prst="rect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7571232" y="3246120"/>
            <a:ext cx="109728" cy="91440"/>
          </a:xfrm>
          <a:prstGeom prst="rect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8869680" y="3246120"/>
            <a:ext cx="109728" cy="91440"/>
          </a:xfrm>
          <a:prstGeom prst="rect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7571232" y="3429000"/>
            <a:ext cx="109728" cy="91440"/>
          </a:xfrm>
          <a:prstGeom prst="rect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8869680" y="3429000"/>
            <a:ext cx="109728" cy="91440"/>
          </a:xfrm>
          <a:prstGeom prst="rect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>
            <a:off x="7571232" y="3611880"/>
            <a:ext cx="109728" cy="91440"/>
          </a:xfrm>
          <a:prstGeom prst="rect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9" name="Rectangle 68"/>
          <p:cNvSpPr/>
          <p:nvPr/>
        </p:nvSpPr>
        <p:spPr>
          <a:xfrm>
            <a:off x="8869680" y="3611880"/>
            <a:ext cx="109728" cy="91440"/>
          </a:xfrm>
          <a:prstGeom prst="rect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0" name="Rectangle 69"/>
          <p:cNvSpPr/>
          <p:nvPr/>
        </p:nvSpPr>
        <p:spPr>
          <a:xfrm>
            <a:off x="7571232" y="3794760"/>
            <a:ext cx="109728" cy="91440"/>
          </a:xfrm>
          <a:prstGeom prst="rect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8869680" y="3794760"/>
            <a:ext cx="109728" cy="91440"/>
          </a:xfrm>
          <a:prstGeom prst="rect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2" name="Rounded Rectangle 71"/>
          <p:cNvSpPr/>
          <p:nvPr/>
        </p:nvSpPr>
        <p:spPr>
          <a:xfrm>
            <a:off x="7680960" y="2788920"/>
            <a:ext cx="1188720" cy="1188720"/>
          </a:xfrm>
          <a:prstGeom prst="roundRect">
            <a:avLst/>
          </a:prstGeom>
          <a:solidFill>
            <a:srgbClr val="1F29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3" name="Oval 72"/>
          <p:cNvSpPr/>
          <p:nvPr/>
        </p:nvSpPr>
        <p:spPr>
          <a:xfrm>
            <a:off x="7763256" y="2871216"/>
            <a:ext cx="100584" cy="100584"/>
          </a:xfrm>
          <a:prstGeom prst="ellipse">
            <a:avLst/>
          </a:prstGeom>
          <a:solidFill>
            <a:srgbClr val="3741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7680960" y="3086100"/>
            <a:ext cx="11887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</a:pPr>
            <a:r>
              <a:rPr sz="1500" b="1">
                <a:solidFill>
                  <a:srgbClr val="FFFFFF"/>
                </a:solidFill>
                <a:latin typeface="Segoe UI"/>
              </a:rPr>
              <a:t>chip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7680960" y="3478377"/>
            <a:ext cx="1188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</a:pPr>
            <a:r>
              <a:rPr sz="950" b="0">
                <a:solidFill>
                  <a:srgbClr val="E4E9F2"/>
                </a:solidFill>
                <a:latin typeface="Segoe UI"/>
              </a:rPr>
              <a:t>loads it</a:t>
            </a:r>
          </a:p>
        </p:txBody>
      </p:sp>
      <p:sp>
        <p:nvSpPr>
          <p:cNvPr id="76" name="Rounded Rectangle 75"/>
          <p:cNvSpPr/>
          <p:nvPr/>
        </p:nvSpPr>
        <p:spPr>
          <a:xfrm>
            <a:off x="9098280" y="2103120"/>
            <a:ext cx="2468880" cy="265176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E4E9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7" name="Rectangle 76"/>
          <p:cNvSpPr/>
          <p:nvPr/>
        </p:nvSpPr>
        <p:spPr>
          <a:xfrm>
            <a:off x="9098280" y="2103120"/>
            <a:ext cx="68580" cy="2651760"/>
          </a:xfrm>
          <a:prstGeom prst="rect">
            <a:avLst/>
          </a:prstGeom>
          <a:solidFill>
            <a:srgbClr val="2E8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8" name="Rounded Rectangle 77"/>
          <p:cNvSpPr/>
          <p:nvPr/>
        </p:nvSpPr>
        <p:spPr>
          <a:xfrm>
            <a:off x="9372600" y="2359152"/>
            <a:ext cx="475488" cy="475488"/>
          </a:xfrm>
          <a:prstGeom prst="roundRect">
            <a:avLst/>
          </a:prstGeom>
          <a:solidFill>
            <a:srgbClr val="2E8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9372600" y="2423160"/>
            <a:ext cx="47548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700" b="1">
                <a:solidFill>
                  <a:srgbClr val="FFFFFF"/>
                </a:solidFill>
                <a:latin typeface="Segoe UI"/>
              </a:rPr>
              <a:t>1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9994392" y="2359152"/>
            <a:ext cx="128016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>
                <a:solidFill>
                  <a:srgbClr val="1E293B"/>
                </a:solidFill>
                <a:latin typeface="Segoe UI"/>
              </a:rPr>
              <a:t>Same program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390888" y="3017520"/>
            <a:ext cx="1865376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200" b="0">
                <a:solidFill>
                  <a:srgbClr val="5B677D"/>
                </a:solidFill>
                <a:latin typeface="Segoe UI"/>
              </a:rPr>
              <a:t>The chip's program stays the same. Only the rulebook file changes, like swapping a cartridge.</a:t>
            </a:r>
          </a:p>
        </p:txBody>
      </p:sp>
      <p:sp>
        <p:nvSpPr>
          <p:cNvPr id="82" name="Rounded Rectangle 81"/>
          <p:cNvSpPr/>
          <p:nvPr/>
        </p:nvSpPr>
        <p:spPr>
          <a:xfrm>
            <a:off x="640080" y="5440680"/>
            <a:ext cx="10908792" cy="685800"/>
          </a:xfrm>
          <a:prstGeom prst="roundRect">
            <a:avLst/>
          </a:prstGeom>
          <a:solidFill>
            <a:srgbClr val="141B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640080" y="5440680"/>
            <a:ext cx="82296" cy="6858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987552" y="5605272"/>
            <a:ext cx="10241280" cy="448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250" b="0">
                <a:solidFill>
                  <a:srgbClr val="FFFFFF"/>
                </a:solidFill>
                <a:latin typeface="Segoe UI"/>
              </a:rPr>
              <a:t>Runs on Windows or Linux, installs without administrator rights, and works entirely offline. It writes files for both the Pico 2 and the Uno R4.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98448"/>
          </a:xfrm>
          <a:prstGeom prst="rect">
            <a:avLst/>
          </a:prstGeom>
          <a:solidFill>
            <a:srgbClr val="141B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298448"/>
            <a:ext cx="12191695" cy="50292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237744"/>
            <a:ext cx="108813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4B8A6"/>
                </a:solidFill>
                <a:latin typeface="Segoe UI"/>
              </a:rPr>
              <a:t>ROOM FOR MORE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12064"/>
            <a:ext cx="10881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FFFFFF"/>
                </a:solidFill>
                <a:latin typeface="Segoe UI"/>
              </a:rPr>
              <a:t>Several rulebooks can share one chip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463040"/>
            <a:ext cx="10881360" cy="475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0">
                <a:solidFill>
                  <a:srgbClr val="5B677D"/>
                </a:solidFill>
                <a:latin typeface="Segoe UI"/>
              </a:rPr>
              <a:t>A pump and its tank on one board, each still deciding exactly as it would on its own.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B677D"/>
                </a:solidFill>
                <a:latin typeface="Segoe UI"/>
              </a:rPr>
              <a:t>quorum  ·  BioDream LLC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64240" y="6419088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1">
                <a:solidFill>
                  <a:srgbClr val="5B677D"/>
                </a:solidFill>
                <a:latin typeface="Segoe UI"/>
              </a:rPr>
              <a:t>14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2103120"/>
            <a:ext cx="4937760" cy="3017520"/>
          </a:xfrm>
          <a:prstGeom prst="roundRect">
            <a:avLst/>
          </a:prstGeom>
          <a:solidFill>
            <a:srgbClr val="1F29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005840" y="1993392"/>
            <a:ext cx="201168" cy="109728"/>
          </a:xfrm>
          <a:prstGeom prst="rect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005840" y="5120640"/>
            <a:ext cx="201168" cy="109728"/>
          </a:xfrm>
          <a:prstGeom prst="rect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463040" y="1993392"/>
            <a:ext cx="201168" cy="109728"/>
          </a:xfrm>
          <a:prstGeom prst="rect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463040" y="5120640"/>
            <a:ext cx="201168" cy="109728"/>
          </a:xfrm>
          <a:prstGeom prst="rect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920240" y="1993392"/>
            <a:ext cx="201168" cy="109728"/>
          </a:xfrm>
          <a:prstGeom prst="rect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1920240" y="5120640"/>
            <a:ext cx="201168" cy="109728"/>
          </a:xfrm>
          <a:prstGeom prst="rect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2377440" y="1993392"/>
            <a:ext cx="201168" cy="109728"/>
          </a:xfrm>
          <a:prstGeom prst="rect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2377440" y="5120640"/>
            <a:ext cx="201168" cy="109728"/>
          </a:xfrm>
          <a:prstGeom prst="rect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2834640" y="1993392"/>
            <a:ext cx="201168" cy="109728"/>
          </a:xfrm>
          <a:prstGeom prst="rect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2834640" y="5120640"/>
            <a:ext cx="201168" cy="109728"/>
          </a:xfrm>
          <a:prstGeom prst="rect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3291840" y="1993392"/>
            <a:ext cx="201168" cy="109728"/>
          </a:xfrm>
          <a:prstGeom prst="rect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3291840" y="5120640"/>
            <a:ext cx="201168" cy="109728"/>
          </a:xfrm>
          <a:prstGeom prst="rect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3749039" y="1993392"/>
            <a:ext cx="201168" cy="109728"/>
          </a:xfrm>
          <a:prstGeom prst="rect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3749039" y="5120640"/>
            <a:ext cx="201168" cy="109728"/>
          </a:xfrm>
          <a:prstGeom prst="rect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4206240" y="1993392"/>
            <a:ext cx="201168" cy="109728"/>
          </a:xfrm>
          <a:prstGeom prst="rect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206240" y="5120640"/>
            <a:ext cx="201168" cy="109728"/>
          </a:xfrm>
          <a:prstGeom prst="rect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4663440" y="1993392"/>
            <a:ext cx="201168" cy="109728"/>
          </a:xfrm>
          <a:prstGeom prst="rect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4663440" y="5120640"/>
            <a:ext cx="201168" cy="109728"/>
          </a:xfrm>
          <a:prstGeom prst="rect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5120640" y="1993392"/>
            <a:ext cx="201168" cy="109728"/>
          </a:xfrm>
          <a:prstGeom prst="rect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5120640" y="5120640"/>
            <a:ext cx="201168" cy="109728"/>
          </a:xfrm>
          <a:prstGeom prst="rect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1097280" y="2423160"/>
            <a:ext cx="2103120" cy="2377440"/>
          </a:xfrm>
          <a:prstGeom prst="round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/>
            <a:r>
              <a:rPr sz="1300" b="1">
                <a:solidFill>
                  <a:srgbClr val="FFFFFF"/>
                </a:solidFill>
                <a:latin typeface="Segoe UI"/>
              </a:rPr>
              <a:t>PUMP</a:t>
            </a:r>
          </a:p>
          <a:p>
            <a:pPr algn="ctr"/>
            <a:r>
              <a:rPr sz="1300" b="1">
                <a:solidFill>
                  <a:srgbClr val="FFFFFF"/>
                </a:solidFill>
                <a:latin typeface="Segoe UI"/>
              </a:rPr>
              <a:t>rulebook</a:t>
            </a:r>
          </a:p>
          <a:p>
            <a:pPr algn="ctr"/>
            <a:r>
              <a:rPr sz="1300" b="1">
                <a:solidFill>
                  <a:srgbClr val="FFFFFF"/>
                </a:solidFill>
                <a:latin typeface="Segoe UI"/>
              </a:rPr>
              <a:t/>
            </a:r>
          </a:p>
          <a:p>
            <a:pPr algn="ctr"/>
            <a:r>
              <a:rPr sz="1300" b="1">
                <a:solidFill>
                  <a:srgbClr val="FFFFFF"/>
                </a:solidFill>
                <a:latin typeface="Segoe UI"/>
              </a:rPr>
              <a:t>16,384 situations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3383280" y="2423160"/>
            <a:ext cx="2103120" cy="2377440"/>
          </a:xfrm>
          <a:prstGeom prst="roundRect">
            <a:avLst/>
          </a:prstGeom>
          <a:solidFill>
            <a:srgbClr val="6C4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/>
            <a:r>
              <a:rPr sz="1300" b="1">
                <a:solidFill>
                  <a:srgbClr val="FFFFFF"/>
                </a:solidFill>
                <a:latin typeface="Segoe UI"/>
              </a:rPr>
              <a:t>TANK</a:t>
            </a:r>
          </a:p>
          <a:p>
            <a:pPr algn="ctr"/>
            <a:r>
              <a:rPr sz="1300" b="1">
                <a:solidFill>
                  <a:srgbClr val="FFFFFF"/>
                </a:solidFill>
                <a:latin typeface="Segoe UI"/>
              </a:rPr>
              <a:t>rulebook</a:t>
            </a:r>
          </a:p>
          <a:p>
            <a:pPr algn="ctr"/>
            <a:r>
              <a:rPr sz="1300" b="1">
                <a:solidFill>
                  <a:srgbClr val="FFFFFF"/>
                </a:solidFill>
                <a:latin typeface="Segoe UI"/>
              </a:rPr>
              <a:t/>
            </a:r>
          </a:p>
          <a:p>
            <a:pPr algn="ctr"/>
            <a:r>
              <a:rPr sz="1300" b="1">
                <a:solidFill>
                  <a:srgbClr val="FFFFFF"/>
                </a:solidFill>
                <a:latin typeface="Segoe UI"/>
              </a:rPr>
              <a:t>32,768 situations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126480" y="2103120"/>
            <a:ext cx="5394960" cy="141732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E4E9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6126480" y="2103120"/>
            <a:ext cx="68580" cy="141732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6400800" y="2359152"/>
            <a:ext cx="475488" cy="475488"/>
          </a:xfrm>
          <a:prstGeom prst="round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400800" y="2423160"/>
            <a:ext cx="47548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700" b="1">
                <a:solidFill>
                  <a:srgbClr val="FFFFFF"/>
                </a:solidFill>
                <a:latin typeface="Segoe UI"/>
              </a:rPr>
              <a:t>✓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022592" y="2359152"/>
            <a:ext cx="420624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>
                <a:solidFill>
                  <a:srgbClr val="1E293B"/>
                </a:solidFill>
                <a:latin typeface="Segoe UI"/>
              </a:rPr>
              <a:t>Checked for interference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419088" y="3017520"/>
            <a:ext cx="4791456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200" b="0">
                <a:solidFill>
                  <a:srgbClr val="5B677D"/>
                </a:solidFill>
                <a:latin typeface="Segoe UI"/>
              </a:rPr>
              <a:t>Before they share a chip, quorum proves neither can change the other's answers.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6126480" y="3657600"/>
            <a:ext cx="5394960" cy="146304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E4E9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6126480" y="3657600"/>
            <a:ext cx="68580" cy="1463040"/>
          </a:xfrm>
          <a:prstGeom prst="rect">
            <a:avLst/>
          </a:prstGeom>
          <a:solidFill>
            <a:srgbClr val="6C4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6400800" y="3913632"/>
            <a:ext cx="475488" cy="475488"/>
          </a:xfrm>
          <a:prstGeom prst="roundRect">
            <a:avLst/>
          </a:prstGeom>
          <a:solidFill>
            <a:srgbClr val="6C4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400800" y="3977640"/>
            <a:ext cx="47548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700" b="1">
                <a:solidFill>
                  <a:srgbClr val="FFFFFF"/>
                </a:solidFill>
                <a:latin typeface="Segoe UI"/>
              </a:rPr>
              <a:t>≡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7022592" y="3913632"/>
            <a:ext cx="420624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>
                <a:solidFill>
                  <a:srgbClr val="1E293B"/>
                </a:solidFill>
                <a:latin typeface="Segoe UI"/>
              </a:rPr>
              <a:t>Proved on real chips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419088" y="4572000"/>
            <a:ext cx="479145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200" b="0">
                <a:solidFill>
                  <a:srgbClr val="5B677D"/>
                </a:solidFill>
                <a:latin typeface="Segoe UI"/>
              </a:rPr>
              <a:t>On both the Pico 2 and the Uno R4, each rulebook gave exactly its stand-alone answers in every situation.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640080" y="5440680"/>
            <a:ext cx="10908792" cy="640080"/>
          </a:xfrm>
          <a:prstGeom prst="roundRect">
            <a:avLst/>
          </a:prstGeom>
          <a:solidFill>
            <a:srgbClr val="141B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640080" y="5440680"/>
            <a:ext cx="82296" cy="64008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987552" y="5605272"/>
            <a:ext cx="10241280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250" b="0">
                <a:solidFill>
                  <a:srgbClr val="FFFFFF"/>
                </a:solidFill>
                <a:latin typeface="Segoe UI"/>
              </a:rPr>
              <a:t>Up to four rulebooks fit on one chip. One small board can watch a whole skid of equipment.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98448"/>
          </a:xfrm>
          <a:prstGeom prst="rect">
            <a:avLst/>
          </a:prstGeom>
          <a:solidFill>
            <a:srgbClr val="141B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298448"/>
            <a:ext cx="12191695" cy="50292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237744"/>
            <a:ext cx="108813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4B8A6"/>
                </a:solidFill>
                <a:latin typeface="Segoe UI"/>
              </a:rPr>
              <a:t>CAN'T BE FOOLED BY A BAD FILE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12064"/>
            <a:ext cx="10881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FFFFFF"/>
                </a:solidFill>
                <a:latin typeface="Segoe UI"/>
              </a:rPr>
              <a:t>A damaged or altered rulebook file is refused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463040"/>
            <a:ext cx="10881360" cy="475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0">
                <a:solidFill>
                  <a:srgbClr val="5B677D"/>
                </a:solidFill>
                <a:latin typeface="Segoe UI"/>
              </a:rPr>
              <a:t>Before it decides anything, the chip checks the file three ways. Any doubt and it stays silent.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B677D"/>
                </a:solidFill>
                <a:latin typeface="Segoe UI"/>
              </a:rPr>
              <a:t>quorum  ·  BioDream LLC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64240" y="6419088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1">
                <a:solidFill>
                  <a:srgbClr val="5B677D"/>
                </a:solidFill>
                <a:latin typeface="Segoe UI"/>
              </a:rPr>
              <a:t>15</a:t>
            </a:r>
          </a:p>
        </p:txBody>
      </p:sp>
      <p:sp>
        <p:nvSpPr>
          <p:cNvPr id="10" name="Oval 9"/>
          <p:cNvSpPr/>
          <p:nvPr/>
        </p:nvSpPr>
        <p:spPr>
          <a:xfrm>
            <a:off x="1188720" y="2286000"/>
            <a:ext cx="1554480" cy="1554480"/>
          </a:xfrm>
          <a:prstGeom prst="ellipse">
            <a:avLst/>
          </a:prstGeom>
          <a:solidFill>
            <a:srgbClr val="D5F5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Off-page Connector 10"/>
          <p:cNvSpPr/>
          <p:nvPr/>
        </p:nvSpPr>
        <p:spPr>
          <a:xfrm>
            <a:off x="1709928" y="2752344"/>
            <a:ext cx="512064" cy="621792"/>
          </a:xfrm>
          <a:prstGeom prst="flowChartOffpageConnector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709928" y="2880360"/>
            <a:ext cx="51206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</a:pPr>
            <a:r>
              <a:rPr sz="2000" b="1">
                <a:solidFill>
                  <a:srgbClr val="FFFFFF"/>
                </a:solidFill>
                <a:latin typeface="Segoe UI"/>
              </a:rPr>
              <a:t>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3977639"/>
            <a:ext cx="2468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</a:pPr>
            <a:r>
              <a:rPr sz="1300" b="1">
                <a:solidFill>
                  <a:srgbClr val="1E293B"/>
                </a:solidFill>
                <a:latin typeface="Segoe UI"/>
              </a:rPr>
              <a:t>Three checks at start-up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566160" y="2057400"/>
            <a:ext cx="2560320" cy="192024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E4E9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566160" y="2057400"/>
            <a:ext cx="68580" cy="1920240"/>
          </a:xfrm>
          <a:prstGeom prst="rect">
            <a:avLst/>
          </a:prstGeom>
          <a:solidFill>
            <a:srgbClr val="2E8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3840480" y="2313432"/>
            <a:ext cx="475488" cy="475488"/>
          </a:xfrm>
          <a:prstGeom prst="roundRect">
            <a:avLst/>
          </a:prstGeom>
          <a:solidFill>
            <a:srgbClr val="2E8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840480" y="2377440"/>
            <a:ext cx="47548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700" b="1">
                <a:solidFill>
                  <a:srgbClr val="FFFFFF"/>
                </a:solidFill>
                <a:latin typeface="Segoe UI"/>
              </a:rPr>
              <a:t>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462272" y="2313432"/>
            <a:ext cx="137160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>
                <a:solidFill>
                  <a:srgbClr val="1E293B"/>
                </a:solidFill>
                <a:latin typeface="Segoe UI"/>
              </a:rPr>
              <a:t>Arrived intact?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858768" y="2971800"/>
            <a:ext cx="1956816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200" b="0">
                <a:solidFill>
                  <a:srgbClr val="5B677D"/>
                </a:solidFill>
                <a:latin typeface="Segoe UI"/>
              </a:rPr>
              <a:t>A checksum catches a single flipped bit.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63640" y="2057400"/>
            <a:ext cx="2560320" cy="192024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E4E9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263640" y="2057400"/>
            <a:ext cx="68580" cy="192024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6537960" y="2313432"/>
            <a:ext cx="475488" cy="475488"/>
          </a:xfrm>
          <a:prstGeom prst="round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537960" y="2377440"/>
            <a:ext cx="47548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700" b="1">
                <a:solidFill>
                  <a:srgbClr val="FFFFFF"/>
                </a:solidFill>
                <a:latin typeface="Segoe UI"/>
              </a:rPr>
              <a:t>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159752" y="2313432"/>
            <a:ext cx="137160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>
                <a:solidFill>
                  <a:srgbClr val="1E293B"/>
                </a:solidFill>
                <a:latin typeface="Segoe UI"/>
              </a:rPr>
              <a:t>Makes sense?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556248" y="2971800"/>
            <a:ext cx="1956816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200" b="0">
                <a:solidFill>
                  <a:srgbClr val="5B677D"/>
                </a:solidFill>
                <a:latin typeface="Segoe UI"/>
              </a:rPr>
              <a:t>Every count and cross-reference is in range.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961120" y="2057400"/>
            <a:ext cx="2560320" cy="192024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E4E9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8961120" y="2057400"/>
            <a:ext cx="68580" cy="1920240"/>
          </a:xfrm>
          <a:prstGeom prst="rect">
            <a:avLst/>
          </a:prstGeom>
          <a:solidFill>
            <a:srgbClr val="6C4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9235440" y="2313432"/>
            <a:ext cx="475488" cy="475488"/>
          </a:xfrm>
          <a:prstGeom prst="roundRect">
            <a:avLst/>
          </a:prstGeom>
          <a:solidFill>
            <a:srgbClr val="6C4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235440" y="2377440"/>
            <a:ext cx="47548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700" b="1">
                <a:solidFill>
                  <a:srgbClr val="FFFFFF"/>
                </a:solidFill>
                <a:latin typeface="Segoe UI"/>
              </a:rPr>
              <a:t>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857232" y="2313432"/>
            <a:ext cx="137160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>
                <a:solidFill>
                  <a:srgbClr val="1E293B"/>
                </a:solidFill>
                <a:latin typeface="Segoe UI"/>
              </a:rPr>
              <a:t>The right rules?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253728" y="2971800"/>
            <a:ext cx="1956816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200" b="0">
                <a:solidFill>
                  <a:srgbClr val="5B677D"/>
                </a:solidFill>
                <a:latin typeface="Segoe UI"/>
              </a:rPr>
              <a:t>A fingerprint of the rules must match the one the checker signed off.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40080" y="4251960"/>
            <a:ext cx="10908792" cy="105156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E4E9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40080" y="4251960"/>
            <a:ext cx="82296" cy="105156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60120" y="4416552"/>
            <a:ext cx="10332720" cy="8138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300" b="1">
                <a:solidFill>
                  <a:srgbClr val="14B8A6"/>
                </a:solidFill>
                <a:latin typeface="Segoe UI"/>
              </a:rPr>
              <a:t>Tried for real, on the chips</a:t>
            </a:r>
          </a:p>
          <a:p>
            <a:pPr algn="l">
              <a:lnSpc>
                <a:spcPct val="118000"/>
              </a:lnSpc>
              <a:spcBef>
                <a:spcPts val="500"/>
              </a:spcBef>
            </a:pPr>
            <a:r>
              <a:rPr sz="1150" b="0">
                <a:solidFill>
                  <a:srgbClr val="5B677D"/>
                </a:solidFill>
                <a:latin typeface="Segoe UI"/>
              </a:rPr>
              <a:t>One flipped bit: refused. Two rules swapped, checksum faked: refused. A bearing alarm limit quietly raised from 90 to 95 °C, checksum faked: refused (Uno R4). Each time the chip made no decision at all.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640080" y="5532120"/>
            <a:ext cx="10908792" cy="594360"/>
          </a:xfrm>
          <a:prstGeom prst="roundRect">
            <a:avLst/>
          </a:prstGeom>
          <a:solidFill>
            <a:srgbClr val="141B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640080" y="5532120"/>
            <a:ext cx="82296" cy="59436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87552" y="5696712"/>
            <a:ext cx="10241280" cy="3566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250" b="0">
                <a:solidFill>
                  <a:srgbClr val="FFFFFF"/>
                </a:solidFill>
                <a:latin typeface="Segoe UI"/>
              </a:rPr>
              <a:t>A machine with no trustworthy rulebook must not act on one. quorum fails safe.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98448"/>
          </a:xfrm>
          <a:prstGeom prst="rect">
            <a:avLst/>
          </a:prstGeom>
          <a:solidFill>
            <a:srgbClr val="141B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298448"/>
            <a:ext cx="12191695" cy="50292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237744"/>
            <a:ext cx="108813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4B8A6"/>
                </a:solidFill>
                <a:latin typeface="Segoe UI"/>
              </a:rPr>
              <a:t>IT EXPLAINS ITSELF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12064"/>
            <a:ext cx="10881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FFFFFF"/>
                </a:solidFill>
                <a:latin typeface="Segoe UI"/>
              </a:rPr>
              <a:t>Every decision comes with its reasons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463040"/>
            <a:ext cx="10881360" cy="475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0">
                <a:solidFill>
                  <a:srgbClr val="5B677D"/>
                </a:solidFill>
                <a:latin typeface="Segoe UI"/>
              </a:rPr>
              <a:t>Not a score. A short, readable account an operator can check, and argue with.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B677D"/>
                </a:solidFill>
                <a:latin typeface="Segoe UI"/>
              </a:rPr>
              <a:t>quorum  ·  BioDream LLC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64240" y="6419088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1">
                <a:solidFill>
                  <a:srgbClr val="5B677D"/>
                </a:solidFill>
                <a:latin typeface="Segoe UI"/>
              </a:rPr>
              <a:t>16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2011680"/>
            <a:ext cx="6035040" cy="342900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E4E9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22960" y="2011680"/>
            <a:ext cx="6035040" cy="4572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51560" y="210312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500" b="1">
                <a:solidFill>
                  <a:srgbClr val="FFFFFF"/>
                </a:solidFill>
                <a:latin typeface="Segoe UI"/>
              </a:rPr>
              <a:t>DECISION:  stop the pump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1560" y="2651760"/>
            <a:ext cx="5669280" cy="274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1E293B"/>
                </a:solidFill>
                <a:latin typeface="Segoe UI"/>
              </a:rPr>
              <a:t>Because: bearing wear is the explanation that survived.</a:t>
            </a:r>
          </a:p>
          <a:p>
            <a:pPr algn="l">
              <a:lnSpc>
                <a:spcPct val="115000"/>
              </a:lnSpc>
              <a:spcBef>
                <a:spcPts val="800"/>
              </a:spcBef>
            </a:pPr>
            <a:r>
              <a:rPr sz="1300" b="0">
                <a:solidFill>
                  <a:srgbClr val="1E293B"/>
                </a:solidFill>
                <a:latin typeface="Segoe UI"/>
              </a:rPr>
              <a:t>Relied on: vibration high, bearing temperature high.</a:t>
            </a:r>
          </a:p>
          <a:p>
            <a:pPr algn="l">
              <a:lnSpc>
                <a:spcPct val="115000"/>
              </a:lnSpc>
              <a:spcBef>
                <a:spcPts val="800"/>
              </a:spcBef>
            </a:pPr>
            <a:r>
              <a:rPr sz="1300" b="0">
                <a:solidFill>
                  <a:srgbClr val="1E293B"/>
                </a:solidFill>
                <a:latin typeface="Segoe UI"/>
              </a:rPr>
              <a:t>Ruled out: structural resonance (bearing temperature contradicts it).</a:t>
            </a:r>
          </a:p>
          <a:p>
            <a:pPr algn="l">
              <a:lnSpc>
                <a:spcPct val="115000"/>
              </a:lnSpc>
              <a:spcBef>
                <a:spcPts val="800"/>
              </a:spcBef>
            </a:pPr>
            <a:r>
              <a:rPr sz="1300" b="1">
                <a:solidFill>
                  <a:srgbClr val="F59E0B"/>
                </a:solidFill>
                <a:latin typeface="Segoe UI"/>
              </a:rPr>
              <a:t>Assumed absent: loose mount, overdue calibration.</a:t>
            </a:r>
          </a:p>
          <a:p>
            <a:pPr algn="l">
              <a:lnSpc>
                <a:spcPct val="115000"/>
              </a:lnSpc>
              <a:spcBef>
                <a:spcPts val="400"/>
              </a:spcBef>
            </a:pPr>
            <a:r>
              <a:rPr sz="1150" b="0">
                <a:solidFill>
                  <a:srgbClr val="5B677D"/>
                </a:solidFill>
                <a:latin typeface="Segoe UI"/>
              </a:rPr>
              <a:t>No sensor reported those, so quorum says it assumed them.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178040" y="2011680"/>
            <a:ext cx="4343400" cy="160020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E4E9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178040" y="2011680"/>
            <a:ext cx="68580" cy="16002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7452360" y="2267712"/>
            <a:ext cx="475488" cy="475488"/>
          </a:xfrm>
          <a:prstGeom prst="round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452360" y="2331720"/>
            <a:ext cx="47548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700" b="1">
                <a:solidFill>
                  <a:srgbClr val="FFFFFF"/>
                </a:solidFill>
                <a:latin typeface="Segoe UI"/>
              </a:rPr>
              <a:t>?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74152" y="2267712"/>
            <a:ext cx="315468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>
                <a:solidFill>
                  <a:srgbClr val="1E293B"/>
                </a:solidFill>
                <a:latin typeface="Segoe UI"/>
              </a:rPr>
              <a:t>Why that last line matters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70648" y="2926080"/>
            <a:ext cx="3739896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200" b="0">
                <a:solidFill>
                  <a:srgbClr val="5B677D"/>
                </a:solidFill>
                <a:latin typeface="Segoe UI"/>
              </a:rPr>
              <a:t>Other systems treat "no news" as good news, silently. quorum writes the assumption down.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178040" y="3749039"/>
            <a:ext cx="4343400" cy="169164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E4E9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178040" y="3749039"/>
            <a:ext cx="68580" cy="1691640"/>
          </a:xfrm>
          <a:prstGeom prst="rect">
            <a:avLst/>
          </a:prstGeom>
          <a:solidFill>
            <a:srgbClr val="6C4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7452360" y="4005071"/>
            <a:ext cx="475488" cy="475488"/>
          </a:xfrm>
          <a:prstGeom prst="roundRect">
            <a:avLst/>
          </a:prstGeom>
          <a:solidFill>
            <a:srgbClr val="6C4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452360" y="4069079"/>
            <a:ext cx="47548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700" b="1">
                <a:solidFill>
                  <a:srgbClr val="FFFFFF"/>
                </a:solidFill>
                <a:latin typeface="Segoe UI"/>
              </a:rPr>
              <a:t>⚑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074152" y="4005071"/>
            <a:ext cx="315468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>
                <a:solidFill>
                  <a:srgbClr val="1E293B"/>
                </a:solidFill>
                <a:latin typeface="Segoe UI"/>
              </a:rPr>
              <a:t>Built for audits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470648" y="4663439"/>
            <a:ext cx="3739896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200" b="0">
                <a:solidFill>
                  <a:srgbClr val="5B677D"/>
                </a:solidFill>
                <a:latin typeface="Segoe UI"/>
              </a:rPr>
              <a:t>Which rulebook, which revision, which facts, which rules. Enough to answer "why did it do that?" later.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40080" y="5669280"/>
            <a:ext cx="10908792" cy="594360"/>
          </a:xfrm>
          <a:prstGeom prst="roundRect">
            <a:avLst/>
          </a:prstGeom>
          <a:solidFill>
            <a:srgbClr val="141B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40080" y="5669280"/>
            <a:ext cx="82296" cy="59436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87552" y="5833872"/>
            <a:ext cx="10241280" cy="3566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250" b="0">
                <a:solidFill>
                  <a:srgbClr val="FFFFFF"/>
                </a:solidFill>
                <a:latin typeface="Segoe UI"/>
              </a:rPr>
              <a:t>If a sensor is dead, the explanation shows the decision rested on something nobody actually measured.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98448"/>
          </a:xfrm>
          <a:prstGeom prst="rect">
            <a:avLst/>
          </a:prstGeom>
          <a:solidFill>
            <a:srgbClr val="141B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298448"/>
            <a:ext cx="12191695" cy="50292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237744"/>
            <a:ext cx="108813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4B8A6"/>
                </a:solidFill>
                <a:latin typeface="Segoe UI"/>
              </a:rPr>
              <a:t>IT CAN LEARN, WITH CARE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12064"/>
            <a:ext cx="10881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FFFFFF"/>
                </a:solidFill>
                <a:latin typeface="Segoe UI"/>
              </a:rPr>
              <a:t>It can draft a rulebook from past records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463040"/>
            <a:ext cx="10881360" cy="475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0">
                <a:solidFill>
                  <a:srgbClr val="5B677D"/>
                </a:solidFill>
                <a:latin typeface="Segoe UI"/>
              </a:rPr>
              <a:t>Give it a maintenance or incident history. It writes rules in the same plain language, for an expert to approve.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B677D"/>
                </a:solidFill>
                <a:latin typeface="Segoe UI"/>
              </a:rPr>
              <a:t>quorum  ·  BioDream LLC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64240" y="6419088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1">
                <a:solidFill>
                  <a:srgbClr val="5B677D"/>
                </a:solidFill>
                <a:latin typeface="Segoe UI"/>
              </a:rPr>
              <a:t>17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4754880"/>
            <a:ext cx="5120640" cy="27432"/>
          </a:xfrm>
          <a:prstGeom prst="rect">
            <a:avLst/>
          </a:prstGeom>
          <a:solidFill>
            <a:srgbClr val="5B6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554480" y="3429000"/>
            <a:ext cx="1371600" cy="1325880"/>
          </a:xfrm>
          <a:prstGeom prst="rect">
            <a:avLst/>
          </a:prstGeom>
          <a:solidFill>
            <a:srgbClr val="94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/>
            <a:r>
              <a:rPr sz="1500" b="1">
                <a:solidFill>
                  <a:srgbClr val="FFFFFF"/>
                </a:solidFill>
                <a:latin typeface="Segoe UI"/>
              </a:rPr>
              <a:t>50.0%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4828032"/>
            <a:ext cx="1737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</a:pPr>
            <a:r>
              <a:rPr sz="1100" b="1">
                <a:solidFill>
                  <a:srgbClr val="1E293B"/>
                </a:solidFill>
                <a:latin typeface="Segoe UI"/>
              </a:rPr>
              <a:t>guessing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749040" y="2994111"/>
            <a:ext cx="1371600" cy="1760768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/>
            <a:r>
              <a:rPr sz="1500" b="1">
                <a:solidFill>
                  <a:srgbClr val="FFFFFF"/>
                </a:solidFill>
                <a:latin typeface="Segoe UI"/>
              </a:rPr>
              <a:t>66.4%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66160" y="4828032"/>
            <a:ext cx="1737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</a:pPr>
            <a:r>
              <a:rPr sz="1100" b="1">
                <a:solidFill>
                  <a:srgbClr val="1E293B"/>
                </a:solidFill>
                <a:latin typeface="Segoe UI"/>
              </a:rPr>
              <a:t>learned
rulebook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" y="2057400"/>
            <a:ext cx="5120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150" b="1">
                <a:solidFill>
                  <a:srgbClr val="1E293B"/>
                </a:solidFill>
                <a:latin typeface="Segoe UI"/>
              </a:rPr>
              <a:t>Spotting machine failures in a public dataset of 10,000 records (AI4I)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0" y="2057400"/>
            <a:ext cx="5120640" cy="137160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E4E9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400800" y="2057400"/>
            <a:ext cx="68580" cy="13716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675120" y="2313432"/>
            <a:ext cx="475488" cy="475488"/>
          </a:xfrm>
          <a:prstGeom prst="round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75120" y="2377440"/>
            <a:ext cx="47548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700" b="1">
                <a:solidFill>
                  <a:srgbClr val="FFFFFF"/>
                </a:solidFill>
                <a:latin typeface="Segoe UI"/>
              </a:rPr>
              <a:t>⚠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296912" y="2313432"/>
            <a:ext cx="393192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>
                <a:solidFill>
                  <a:srgbClr val="1E293B"/>
                </a:solidFill>
                <a:latin typeface="Segoe UI"/>
              </a:rPr>
              <a:t>It catches cheating columns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693408" y="2971800"/>
            <a:ext cx="451713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200" b="0">
                <a:solidFill>
                  <a:srgbClr val="5B677D"/>
                </a:solidFill>
                <a:latin typeface="Segoe UI"/>
              </a:rPr>
              <a:t>It warns when a column is only filled in after a failure, which would make it look 98.5% accurate and useless in real life.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400800" y="3566160"/>
            <a:ext cx="5120640" cy="160020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E4E9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400800" y="3566160"/>
            <a:ext cx="68580" cy="1600200"/>
          </a:xfrm>
          <a:prstGeom prst="rect">
            <a:avLst/>
          </a:prstGeom>
          <a:solidFill>
            <a:srgbClr val="6C4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6675120" y="3822192"/>
            <a:ext cx="475488" cy="475488"/>
          </a:xfrm>
          <a:prstGeom prst="roundRect">
            <a:avLst/>
          </a:prstGeom>
          <a:solidFill>
            <a:srgbClr val="6C4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675120" y="3886200"/>
            <a:ext cx="47548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700" b="1">
                <a:solidFill>
                  <a:srgbClr val="FFFFFF"/>
                </a:solidFill>
                <a:latin typeface="Segoe UI"/>
              </a:rPr>
              <a:t>≈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96912" y="3822192"/>
            <a:ext cx="393192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>
                <a:solidFill>
                  <a:srgbClr val="1E293B"/>
                </a:solidFill>
                <a:latin typeface="Segoe UI"/>
              </a:rPr>
              <a:t>What we can honestly say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693408" y="4480560"/>
            <a:ext cx="4517136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200" b="0">
                <a:solidFill>
                  <a:srgbClr val="5B677D"/>
                </a:solidFill>
                <a:latin typeface="Segoe UI"/>
              </a:rPr>
              <a:t>In four tests set up in advance, learning added 8 to 20 points on average, but never cleared every bar.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40080" y="5440680"/>
            <a:ext cx="10908792" cy="868680"/>
          </a:xfrm>
          <a:prstGeom prst="roundRect">
            <a:avLst/>
          </a:prstGeom>
          <a:solidFill>
            <a:srgbClr val="141B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40080" y="5440680"/>
            <a:ext cx="82296" cy="86868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87552" y="5605272"/>
            <a:ext cx="10241280" cy="6309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250" b="1">
                <a:solidFill>
                  <a:srgbClr val="14B8A6"/>
                </a:solidFill>
                <a:latin typeface="Segoe UI"/>
              </a:rPr>
              <a:t>So: drafts, not decisions</a:t>
            </a:r>
          </a:p>
          <a:p>
            <a:pPr algn="l">
              <a:lnSpc>
                <a:spcPct val="118000"/>
              </a:lnSpc>
              <a:spcBef>
                <a:spcPts val="500"/>
              </a:spcBef>
            </a:pPr>
            <a:r>
              <a:rPr sz="1250" b="0">
                <a:solidFill>
                  <a:srgbClr val="FFFFFF"/>
                </a:solidFill>
                <a:latin typeface="Segoe UI"/>
              </a:rPr>
              <a:t>Learning happens on a computer and only produces a draft. A person approves it, and it must pass the same every-case check.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98448"/>
          </a:xfrm>
          <a:prstGeom prst="rect">
            <a:avLst/>
          </a:prstGeom>
          <a:solidFill>
            <a:srgbClr val="141B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298448"/>
            <a:ext cx="12191695" cy="50292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237744"/>
            <a:ext cx="108813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4B8A6"/>
                </a:solidFill>
                <a:latin typeface="Segoe UI"/>
              </a:rPr>
              <a:t>TWO LAYERS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12064"/>
            <a:ext cx="10881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FFFFFF"/>
                </a:solidFill>
                <a:latin typeface="Segoe UI"/>
              </a:rPr>
              <a:t>The chip decides. A bigger computer double-checks.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463040"/>
            <a:ext cx="10881360" cy="475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0">
                <a:solidFill>
                  <a:srgbClr val="5B677D"/>
                </a:solidFill>
                <a:latin typeface="Segoe UI"/>
              </a:rPr>
              <a:t>And mathematically, the two can never contradict each other.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B677D"/>
                </a:solidFill>
                <a:latin typeface="Segoe UI"/>
              </a:rPr>
              <a:t>quorum  ·  BioDream LLC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64240" y="6419088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1">
                <a:solidFill>
                  <a:srgbClr val="5B677D"/>
                </a:solidFill>
                <a:latin typeface="Segoe UI"/>
              </a:rPr>
              <a:t>18</a:t>
            </a:r>
          </a:p>
        </p:txBody>
      </p:sp>
      <p:sp>
        <p:nvSpPr>
          <p:cNvPr id="10" name="Oval 9"/>
          <p:cNvSpPr/>
          <p:nvPr/>
        </p:nvSpPr>
        <p:spPr>
          <a:xfrm>
            <a:off x="822960" y="2011680"/>
            <a:ext cx="4023360" cy="3291840"/>
          </a:xfrm>
          <a:prstGeom prst="ellipse">
            <a:avLst/>
          </a:prstGeom>
          <a:solidFill>
            <a:srgbClr val="EAE4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600200" y="2697480"/>
            <a:ext cx="2468880" cy="1920240"/>
          </a:xfrm>
          <a:prstGeom prst="ellipse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/>
            <a:r>
              <a:rPr sz="1400" b="1">
                <a:solidFill>
                  <a:srgbClr val="FFFFFF"/>
                </a:solidFill>
                <a:latin typeface="Segoe UI"/>
              </a:rPr>
              <a:t>what the chip</a:t>
            </a:r>
          </a:p>
          <a:p>
            <a:pPr algn="ctr"/>
            <a:r>
              <a:rPr sz="1400" b="1">
                <a:solidFill>
                  <a:srgbClr val="FFFFFF"/>
                </a:solidFill>
                <a:latin typeface="Segoe UI"/>
              </a:rPr>
              <a:t>is sure of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7280" y="2148840"/>
            <a:ext cx="34747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</a:pPr>
            <a:r>
              <a:rPr sz="1200" b="1">
                <a:solidFill>
                  <a:srgbClr val="6C4BE8"/>
                </a:solidFill>
                <a:latin typeface="Segoe UI"/>
              </a:rPr>
              <a:t>what the Pi 5 considers possible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574323" y="2176272"/>
            <a:ext cx="87923" cy="109728"/>
          </a:xfrm>
          <a:prstGeom prst="rect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574323" y="3429000"/>
            <a:ext cx="87923" cy="109728"/>
          </a:xfrm>
          <a:prstGeom prst="rect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750169" y="2176272"/>
            <a:ext cx="87923" cy="109728"/>
          </a:xfrm>
          <a:prstGeom prst="rect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750169" y="3429000"/>
            <a:ext cx="87923" cy="109728"/>
          </a:xfrm>
          <a:prstGeom prst="rect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926015" y="2176272"/>
            <a:ext cx="87923" cy="109728"/>
          </a:xfrm>
          <a:prstGeom prst="rect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926015" y="3429000"/>
            <a:ext cx="87923" cy="109728"/>
          </a:xfrm>
          <a:prstGeom prst="rect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101861" y="2176272"/>
            <a:ext cx="87923" cy="109728"/>
          </a:xfrm>
          <a:prstGeom prst="rect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101861" y="3429000"/>
            <a:ext cx="87923" cy="109728"/>
          </a:xfrm>
          <a:prstGeom prst="rect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277707" y="2176272"/>
            <a:ext cx="87923" cy="109728"/>
          </a:xfrm>
          <a:prstGeom prst="rect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277707" y="3429000"/>
            <a:ext cx="87923" cy="109728"/>
          </a:xfrm>
          <a:prstGeom prst="rect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453553" y="2176272"/>
            <a:ext cx="87923" cy="109728"/>
          </a:xfrm>
          <a:prstGeom prst="rect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453553" y="3429000"/>
            <a:ext cx="87923" cy="109728"/>
          </a:xfrm>
          <a:prstGeom prst="rect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5376672" y="2373923"/>
            <a:ext cx="109728" cy="87923"/>
          </a:xfrm>
          <a:prstGeom prst="rect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629400" y="2373923"/>
            <a:ext cx="109728" cy="87923"/>
          </a:xfrm>
          <a:prstGeom prst="rect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5376672" y="2549769"/>
            <a:ext cx="109728" cy="87923"/>
          </a:xfrm>
          <a:prstGeom prst="rect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629400" y="2549769"/>
            <a:ext cx="109728" cy="87923"/>
          </a:xfrm>
          <a:prstGeom prst="rect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5376672" y="2725615"/>
            <a:ext cx="109728" cy="87923"/>
          </a:xfrm>
          <a:prstGeom prst="rect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6629400" y="2725615"/>
            <a:ext cx="109728" cy="87923"/>
          </a:xfrm>
          <a:prstGeom prst="rect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5376672" y="2901461"/>
            <a:ext cx="109728" cy="87923"/>
          </a:xfrm>
          <a:prstGeom prst="rect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6629400" y="2901461"/>
            <a:ext cx="109728" cy="87923"/>
          </a:xfrm>
          <a:prstGeom prst="rect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5376672" y="3077307"/>
            <a:ext cx="109728" cy="87923"/>
          </a:xfrm>
          <a:prstGeom prst="rect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6629400" y="3077307"/>
            <a:ext cx="109728" cy="87923"/>
          </a:xfrm>
          <a:prstGeom prst="rect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5376672" y="3253153"/>
            <a:ext cx="109728" cy="87923"/>
          </a:xfrm>
          <a:prstGeom prst="rect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6629400" y="3253153"/>
            <a:ext cx="109728" cy="87923"/>
          </a:xfrm>
          <a:prstGeom prst="rect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5486400" y="2286000"/>
            <a:ext cx="1143000" cy="1143000"/>
          </a:xfrm>
          <a:prstGeom prst="roundRect">
            <a:avLst/>
          </a:prstGeom>
          <a:solidFill>
            <a:srgbClr val="1F29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Oval 37"/>
          <p:cNvSpPr/>
          <p:nvPr/>
        </p:nvSpPr>
        <p:spPr>
          <a:xfrm>
            <a:off x="5568696" y="2368296"/>
            <a:ext cx="100584" cy="100584"/>
          </a:xfrm>
          <a:prstGeom prst="ellipse">
            <a:avLst/>
          </a:prstGeom>
          <a:solidFill>
            <a:srgbClr val="3741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486400" y="2571750"/>
            <a:ext cx="1143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</a:pPr>
            <a:r>
              <a:rPr sz="1500" b="1">
                <a:solidFill>
                  <a:srgbClr val="FFFFFF"/>
                </a:solidFill>
                <a:latin typeface="Segoe UI"/>
              </a:rPr>
              <a:t>chip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5257800" y="3977639"/>
            <a:ext cx="1645920" cy="777240"/>
          </a:xfrm>
          <a:prstGeom prst="roundRect">
            <a:avLst/>
          </a:prstGeom>
          <a:solidFill>
            <a:srgbClr val="0B5E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1" name="Oval 40"/>
          <p:cNvSpPr/>
          <p:nvPr/>
        </p:nvSpPr>
        <p:spPr>
          <a:xfrm>
            <a:off x="5349240" y="4032503"/>
            <a:ext cx="73152" cy="73152"/>
          </a:xfrm>
          <a:prstGeom prst="ellipse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2" name="Oval 41"/>
          <p:cNvSpPr/>
          <p:nvPr/>
        </p:nvSpPr>
        <p:spPr>
          <a:xfrm>
            <a:off x="5349240" y="4626863"/>
            <a:ext cx="73152" cy="73152"/>
          </a:xfrm>
          <a:prstGeom prst="ellipse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3" name="Oval 42"/>
          <p:cNvSpPr/>
          <p:nvPr/>
        </p:nvSpPr>
        <p:spPr>
          <a:xfrm>
            <a:off x="5513832" y="4032503"/>
            <a:ext cx="73152" cy="73152"/>
          </a:xfrm>
          <a:prstGeom prst="ellipse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4" name="Oval 43"/>
          <p:cNvSpPr/>
          <p:nvPr/>
        </p:nvSpPr>
        <p:spPr>
          <a:xfrm>
            <a:off x="5513832" y="4626863"/>
            <a:ext cx="73152" cy="73152"/>
          </a:xfrm>
          <a:prstGeom prst="ellipse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>
            <a:off x="5678424" y="4032503"/>
            <a:ext cx="73152" cy="73152"/>
          </a:xfrm>
          <a:prstGeom prst="ellipse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6" name="Oval 45"/>
          <p:cNvSpPr/>
          <p:nvPr/>
        </p:nvSpPr>
        <p:spPr>
          <a:xfrm>
            <a:off x="5678424" y="4626863"/>
            <a:ext cx="73152" cy="73152"/>
          </a:xfrm>
          <a:prstGeom prst="ellipse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7" name="Oval 46"/>
          <p:cNvSpPr/>
          <p:nvPr/>
        </p:nvSpPr>
        <p:spPr>
          <a:xfrm>
            <a:off x="5843016" y="4032503"/>
            <a:ext cx="73152" cy="73152"/>
          </a:xfrm>
          <a:prstGeom prst="ellipse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8" name="Oval 47"/>
          <p:cNvSpPr/>
          <p:nvPr/>
        </p:nvSpPr>
        <p:spPr>
          <a:xfrm>
            <a:off x="5843016" y="4626863"/>
            <a:ext cx="73152" cy="73152"/>
          </a:xfrm>
          <a:prstGeom prst="ellipse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9" name="Oval 48"/>
          <p:cNvSpPr/>
          <p:nvPr/>
        </p:nvSpPr>
        <p:spPr>
          <a:xfrm>
            <a:off x="6007608" y="4032503"/>
            <a:ext cx="73152" cy="73152"/>
          </a:xfrm>
          <a:prstGeom prst="ellipse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0" name="Oval 49"/>
          <p:cNvSpPr/>
          <p:nvPr/>
        </p:nvSpPr>
        <p:spPr>
          <a:xfrm>
            <a:off x="6007608" y="4626863"/>
            <a:ext cx="73152" cy="73152"/>
          </a:xfrm>
          <a:prstGeom prst="ellipse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1" name="Oval 50"/>
          <p:cNvSpPr/>
          <p:nvPr/>
        </p:nvSpPr>
        <p:spPr>
          <a:xfrm>
            <a:off x="6172200" y="4032503"/>
            <a:ext cx="73152" cy="73152"/>
          </a:xfrm>
          <a:prstGeom prst="ellipse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2" name="Oval 51"/>
          <p:cNvSpPr/>
          <p:nvPr/>
        </p:nvSpPr>
        <p:spPr>
          <a:xfrm>
            <a:off x="6172200" y="4626863"/>
            <a:ext cx="73152" cy="73152"/>
          </a:xfrm>
          <a:prstGeom prst="ellipse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3" name="Oval 52"/>
          <p:cNvSpPr/>
          <p:nvPr/>
        </p:nvSpPr>
        <p:spPr>
          <a:xfrm>
            <a:off x="6336792" y="4032503"/>
            <a:ext cx="73152" cy="73152"/>
          </a:xfrm>
          <a:prstGeom prst="ellipse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4" name="Oval 53"/>
          <p:cNvSpPr/>
          <p:nvPr/>
        </p:nvSpPr>
        <p:spPr>
          <a:xfrm>
            <a:off x="6336792" y="4626863"/>
            <a:ext cx="73152" cy="73152"/>
          </a:xfrm>
          <a:prstGeom prst="ellipse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5" name="Oval 54"/>
          <p:cNvSpPr/>
          <p:nvPr/>
        </p:nvSpPr>
        <p:spPr>
          <a:xfrm>
            <a:off x="6501384" y="4032503"/>
            <a:ext cx="73152" cy="73152"/>
          </a:xfrm>
          <a:prstGeom prst="ellipse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6" name="Oval 55"/>
          <p:cNvSpPr/>
          <p:nvPr/>
        </p:nvSpPr>
        <p:spPr>
          <a:xfrm>
            <a:off x="6501384" y="4626863"/>
            <a:ext cx="73152" cy="73152"/>
          </a:xfrm>
          <a:prstGeom prst="ellipse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7" name="Oval 56"/>
          <p:cNvSpPr/>
          <p:nvPr/>
        </p:nvSpPr>
        <p:spPr>
          <a:xfrm>
            <a:off x="6665976" y="4032503"/>
            <a:ext cx="73152" cy="73152"/>
          </a:xfrm>
          <a:prstGeom prst="ellipse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8" name="Oval 57"/>
          <p:cNvSpPr/>
          <p:nvPr/>
        </p:nvSpPr>
        <p:spPr>
          <a:xfrm>
            <a:off x="6665976" y="4626863"/>
            <a:ext cx="73152" cy="73152"/>
          </a:xfrm>
          <a:prstGeom prst="ellipse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9" name="Oval 58"/>
          <p:cNvSpPr/>
          <p:nvPr/>
        </p:nvSpPr>
        <p:spPr>
          <a:xfrm>
            <a:off x="6830568" y="4032503"/>
            <a:ext cx="73152" cy="73152"/>
          </a:xfrm>
          <a:prstGeom prst="ellipse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0" name="Oval 59"/>
          <p:cNvSpPr/>
          <p:nvPr/>
        </p:nvSpPr>
        <p:spPr>
          <a:xfrm>
            <a:off x="6830568" y="4626863"/>
            <a:ext cx="73152" cy="73152"/>
          </a:xfrm>
          <a:prstGeom prst="ellipse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5184648" y="4247387"/>
            <a:ext cx="274320" cy="237744"/>
          </a:xfrm>
          <a:prstGeom prst="rect">
            <a:avLst/>
          </a:prstGeom>
          <a:solidFill>
            <a:srgbClr val="94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5751576" y="4037075"/>
            <a:ext cx="658368" cy="658368"/>
          </a:xfrm>
          <a:prstGeom prst="rect">
            <a:avLst/>
          </a:prstGeom>
          <a:solidFill>
            <a:srgbClr val="1F29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5257800" y="4828031"/>
            <a:ext cx="16459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</a:pPr>
            <a:r>
              <a:rPr sz="1300" b="1">
                <a:solidFill>
                  <a:srgbClr val="1E293B"/>
                </a:solidFill>
                <a:latin typeface="Segoe UI"/>
              </a:rPr>
              <a:t>Pi 5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5074920" y="5102351"/>
            <a:ext cx="2011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</a:pPr>
            <a:r>
              <a:rPr sz="1050" b="0">
                <a:solidFill>
                  <a:srgbClr val="5B677D"/>
                </a:solidFill>
                <a:latin typeface="Segoe UI"/>
              </a:rPr>
              <a:t/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7498079" y="2011680"/>
            <a:ext cx="4023360" cy="160020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E4E9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7498079" y="2011680"/>
            <a:ext cx="68580" cy="16002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7" name="Rounded Rectangle 66"/>
          <p:cNvSpPr/>
          <p:nvPr/>
        </p:nvSpPr>
        <p:spPr>
          <a:xfrm>
            <a:off x="7772399" y="2267712"/>
            <a:ext cx="475488" cy="475488"/>
          </a:xfrm>
          <a:prstGeom prst="round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7772399" y="2331720"/>
            <a:ext cx="47548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700" b="1">
                <a:solidFill>
                  <a:srgbClr val="FFFFFF"/>
                </a:solidFill>
                <a:latin typeface="Segoe UI"/>
              </a:rPr>
              <a:t>⚡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8394191" y="2267712"/>
            <a:ext cx="283464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>
                <a:solidFill>
                  <a:srgbClr val="1E293B"/>
                </a:solidFill>
                <a:latin typeface="Segoe UI"/>
              </a:rPr>
              <a:t>The chip: fast and certain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7790687" y="2926080"/>
            <a:ext cx="3419856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200" b="0">
                <a:solidFill>
                  <a:srgbClr val="5B677D"/>
                </a:solidFill>
                <a:latin typeface="Segoe UI"/>
              </a:rPr>
              <a:t>Gives the one cautious answer, on time, every time, on the machine itself.</a:t>
            </a:r>
          </a:p>
        </p:txBody>
      </p:sp>
      <p:sp>
        <p:nvSpPr>
          <p:cNvPr id="71" name="Rounded Rectangle 70"/>
          <p:cNvSpPr/>
          <p:nvPr/>
        </p:nvSpPr>
        <p:spPr>
          <a:xfrm>
            <a:off x="7498079" y="3749039"/>
            <a:ext cx="4023360" cy="160020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E4E9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2" name="Rectangle 71"/>
          <p:cNvSpPr/>
          <p:nvPr/>
        </p:nvSpPr>
        <p:spPr>
          <a:xfrm>
            <a:off x="7498079" y="3749039"/>
            <a:ext cx="68580" cy="1600200"/>
          </a:xfrm>
          <a:prstGeom prst="rect">
            <a:avLst/>
          </a:prstGeom>
          <a:solidFill>
            <a:srgbClr val="6C4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3" name="Rounded Rectangle 72"/>
          <p:cNvSpPr/>
          <p:nvPr/>
        </p:nvSpPr>
        <p:spPr>
          <a:xfrm>
            <a:off x="7772399" y="4005071"/>
            <a:ext cx="475488" cy="475488"/>
          </a:xfrm>
          <a:prstGeom prst="roundRect">
            <a:avLst/>
          </a:prstGeom>
          <a:solidFill>
            <a:srgbClr val="6C4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7772399" y="4069079"/>
            <a:ext cx="47548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700" b="1">
                <a:solidFill>
                  <a:srgbClr val="FFFFFF"/>
                </a:solidFill>
                <a:latin typeface="Segoe UI"/>
              </a:rPr>
              <a:t>☰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8394191" y="4005071"/>
            <a:ext cx="283464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>
                <a:solidFill>
                  <a:srgbClr val="1E293B"/>
                </a:solidFill>
                <a:latin typeface="Segoe UI"/>
              </a:rPr>
              <a:t>The Pi 5: every other reading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7790687" y="4663439"/>
            <a:ext cx="3419856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200" b="0">
                <a:solidFill>
                  <a:srgbClr val="5B677D"/>
                </a:solidFill>
                <a:latin typeface="Segoe UI"/>
              </a:rPr>
              <a:t>Lists every other reasonable way to read the same facts, for a person to look at. It only advises.</a:t>
            </a:r>
          </a:p>
        </p:txBody>
      </p:sp>
      <p:sp>
        <p:nvSpPr>
          <p:cNvPr id="77" name="Rounded Rectangle 76"/>
          <p:cNvSpPr/>
          <p:nvPr/>
        </p:nvSpPr>
        <p:spPr>
          <a:xfrm>
            <a:off x="640080" y="5623560"/>
            <a:ext cx="10908792" cy="685800"/>
          </a:xfrm>
          <a:prstGeom prst="roundRect">
            <a:avLst/>
          </a:prstGeom>
          <a:solidFill>
            <a:srgbClr val="141B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8" name="Rectangle 77"/>
          <p:cNvSpPr/>
          <p:nvPr/>
        </p:nvSpPr>
        <p:spPr>
          <a:xfrm>
            <a:off x="640080" y="5623560"/>
            <a:ext cx="82296" cy="6858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987552" y="5788152"/>
            <a:ext cx="10241280" cy="448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250" b="0">
                <a:solidFill>
                  <a:srgbClr val="FFFFFF"/>
                </a:solidFill>
                <a:latin typeface="Segoe UI"/>
              </a:rPr>
              <a:t>Checked: across every situation of three rulebooks, 50,432 comparisons, the bigger computer never disagreed with anything the chip was sure of.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98448"/>
          </a:xfrm>
          <a:prstGeom prst="rect">
            <a:avLst/>
          </a:prstGeom>
          <a:solidFill>
            <a:srgbClr val="141B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298448"/>
            <a:ext cx="12191695" cy="50292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237744"/>
            <a:ext cx="108813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4B8A6"/>
                </a:solidFill>
                <a:latin typeface="Segoe UI"/>
              </a:rPr>
              <a:t>A SAFETY NET FOR AI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12064"/>
            <a:ext cx="10881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FFFFFF"/>
                </a:solidFill>
                <a:latin typeface="Segoe UI"/>
              </a:rPr>
              <a:t>Another system can propose; quorum has the last word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463040"/>
            <a:ext cx="10881360" cy="475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0">
                <a:solidFill>
                  <a:srgbClr val="5B677D"/>
                </a:solidFill>
                <a:latin typeface="Segoe UI"/>
              </a:rPr>
              <a:t>An AI model or an ordinary controller suggests an action. quorum lets it through only if it is at least as cautious as the rulebook's own answer.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B677D"/>
                </a:solidFill>
                <a:latin typeface="Segoe UI"/>
              </a:rPr>
              <a:t>quorum  ·  BioDream LLC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64240" y="6419088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1">
                <a:solidFill>
                  <a:srgbClr val="5B677D"/>
                </a:solidFill>
                <a:latin typeface="Segoe UI"/>
              </a:rPr>
              <a:t>19</a:t>
            </a:r>
          </a:p>
        </p:txBody>
      </p:sp>
      <p:sp>
        <p:nvSpPr>
          <p:cNvPr id="10" name="Rounded Rectangular Callout 9"/>
          <p:cNvSpPr/>
          <p:nvPr/>
        </p:nvSpPr>
        <p:spPr>
          <a:xfrm>
            <a:off x="822960" y="2103120"/>
            <a:ext cx="2743200" cy="914400"/>
          </a:xfrm>
          <a:prstGeom prst="wedgeRoundRectCallout">
            <a:avLst/>
          </a:prstGeom>
          <a:solidFill>
            <a:srgbClr val="6C4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050" b="1">
                <a:solidFill>
                  <a:srgbClr val="FFFFFF"/>
                </a:solidFill>
                <a:latin typeface="Segoe UI"/>
              </a:rPr>
              <a:t>AI SUGGESTS</a:t>
            </a:r>
          </a:p>
          <a:p>
            <a:pPr algn="ctr"/>
            <a:r>
              <a:rPr sz="1200">
                <a:solidFill>
                  <a:srgbClr val="FFFFFF"/>
                </a:solidFill>
                <a:latin typeface="Segoe UI"/>
              </a:rPr>
              <a:t>"Keep the pump running."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3611880" y="2560320"/>
            <a:ext cx="1051560" cy="0"/>
          </a:xfrm>
          <a:prstGeom prst="line">
            <a:avLst/>
          </a:prstGeom>
          <a:ln w="28575">
            <a:solidFill>
              <a:srgbClr val="94A3B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ectangle 11"/>
          <p:cNvSpPr/>
          <p:nvPr/>
        </p:nvSpPr>
        <p:spPr>
          <a:xfrm>
            <a:off x="4842803" y="1901952"/>
            <a:ext cx="87923" cy="109728"/>
          </a:xfrm>
          <a:prstGeom prst="rect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842803" y="3154680"/>
            <a:ext cx="87923" cy="109728"/>
          </a:xfrm>
          <a:prstGeom prst="rect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018649" y="1901952"/>
            <a:ext cx="87923" cy="109728"/>
          </a:xfrm>
          <a:prstGeom prst="rect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018649" y="3154680"/>
            <a:ext cx="87923" cy="109728"/>
          </a:xfrm>
          <a:prstGeom prst="rect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194495" y="1901952"/>
            <a:ext cx="87923" cy="109728"/>
          </a:xfrm>
          <a:prstGeom prst="rect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194495" y="3154680"/>
            <a:ext cx="87923" cy="109728"/>
          </a:xfrm>
          <a:prstGeom prst="rect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370341" y="1901952"/>
            <a:ext cx="87923" cy="109728"/>
          </a:xfrm>
          <a:prstGeom prst="rect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370341" y="3154680"/>
            <a:ext cx="87923" cy="109728"/>
          </a:xfrm>
          <a:prstGeom prst="rect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546187" y="1901952"/>
            <a:ext cx="87923" cy="109728"/>
          </a:xfrm>
          <a:prstGeom prst="rect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5546187" y="3154680"/>
            <a:ext cx="87923" cy="109728"/>
          </a:xfrm>
          <a:prstGeom prst="rect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722033" y="1901952"/>
            <a:ext cx="87923" cy="109728"/>
          </a:xfrm>
          <a:prstGeom prst="rect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5722033" y="3154680"/>
            <a:ext cx="87923" cy="109728"/>
          </a:xfrm>
          <a:prstGeom prst="rect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4645152" y="2099603"/>
            <a:ext cx="109728" cy="87923"/>
          </a:xfrm>
          <a:prstGeom prst="rect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5897880" y="2099603"/>
            <a:ext cx="109728" cy="87923"/>
          </a:xfrm>
          <a:prstGeom prst="rect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645152" y="2275449"/>
            <a:ext cx="109728" cy="87923"/>
          </a:xfrm>
          <a:prstGeom prst="rect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5897880" y="2275449"/>
            <a:ext cx="109728" cy="87923"/>
          </a:xfrm>
          <a:prstGeom prst="rect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4645152" y="2451295"/>
            <a:ext cx="109728" cy="87923"/>
          </a:xfrm>
          <a:prstGeom prst="rect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5897880" y="2451295"/>
            <a:ext cx="109728" cy="87923"/>
          </a:xfrm>
          <a:prstGeom prst="rect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4645152" y="2627141"/>
            <a:ext cx="109728" cy="87923"/>
          </a:xfrm>
          <a:prstGeom prst="rect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5897880" y="2627141"/>
            <a:ext cx="109728" cy="87923"/>
          </a:xfrm>
          <a:prstGeom prst="rect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4645152" y="2802987"/>
            <a:ext cx="109728" cy="87923"/>
          </a:xfrm>
          <a:prstGeom prst="rect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5897880" y="2802987"/>
            <a:ext cx="109728" cy="87923"/>
          </a:xfrm>
          <a:prstGeom prst="rect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4645152" y="2978833"/>
            <a:ext cx="109728" cy="87923"/>
          </a:xfrm>
          <a:prstGeom prst="rect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5897880" y="2978833"/>
            <a:ext cx="109728" cy="87923"/>
          </a:xfrm>
          <a:prstGeom prst="rect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4754880" y="2011680"/>
            <a:ext cx="1143000" cy="1143000"/>
          </a:xfrm>
          <a:prstGeom prst="roundRect">
            <a:avLst/>
          </a:prstGeom>
          <a:solidFill>
            <a:srgbClr val="1F29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4837176" y="2093976"/>
            <a:ext cx="100584" cy="100584"/>
          </a:xfrm>
          <a:prstGeom prst="ellipse">
            <a:avLst/>
          </a:prstGeom>
          <a:solidFill>
            <a:srgbClr val="3741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754880" y="2297430"/>
            <a:ext cx="1143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</a:pPr>
            <a:r>
              <a:rPr sz="1500" b="1">
                <a:solidFill>
                  <a:srgbClr val="FFFFFF"/>
                </a:solidFill>
                <a:latin typeface="Segoe UI"/>
              </a:rPr>
              <a:t>quorum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754880" y="2674620"/>
            <a:ext cx="1143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</a:pPr>
            <a:r>
              <a:rPr sz="950" b="0">
                <a:solidFill>
                  <a:srgbClr val="E4E9F2"/>
                </a:solidFill>
                <a:latin typeface="Segoe UI"/>
              </a:rPr>
              <a:t>guard</a:t>
            </a:r>
          </a:p>
        </p:txBody>
      </p:sp>
      <p:cxnSp>
        <p:nvCxnSpPr>
          <p:cNvPr id="40" name="Connector 39"/>
          <p:cNvCxnSpPr/>
          <p:nvPr/>
        </p:nvCxnSpPr>
        <p:spPr>
          <a:xfrm>
            <a:off x="5989320" y="2560320"/>
            <a:ext cx="1051560" cy="0"/>
          </a:xfrm>
          <a:prstGeom prst="line">
            <a:avLst/>
          </a:prstGeom>
          <a:ln w="28575">
            <a:solidFill>
              <a:srgbClr val="94A3B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Rounded Rectangular Callout 40"/>
          <p:cNvSpPr/>
          <p:nvPr/>
        </p:nvSpPr>
        <p:spPr>
          <a:xfrm>
            <a:off x="7132320" y="2103120"/>
            <a:ext cx="4389120" cy="914400"/>
          </a:xfrm>
          <a:prstGeom prst="wedgeRoundRectCallou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050" b="1">
                <a:solidFill>
                  <a:srgbClr val="FFFFFF"/>
                </a:solidFill>
                <a:latin typeface="Segoe UI"/>
              </a:rPr>
              <a:t>QUORUM ANSWERS</a:t>
            </a:r>
          </a:p>
          <a:p>
            <a:pPr algn="ctr"/>
            <a:r>
              <a:rPr sz="1200">
                <a:solidFill>
                  <a:srgbClr val="FFFFFF"/>
                </a:solidFill>
                <a:latin typeface="Segoe UI"/>
              </a:rPr>
              <a:t>"No: bearing too hot. Stop the pump."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640080" y="3429000"/>
            <a:ext cx="3520440" cy="178308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E4E9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640080" y="3429000"/>
            <a:ext cx="68580" cy="1783080"/>
          </a:xfrm>
          <a:prstGeom prst="rect">
            <a:avLst/>
          </a:prstGeom>
          <a:solidFill>
            <a:srgbClr val="22A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4" name="Rounded Rectangle 43"/>
          <p:cNvSpPr/>
          <p:nvPr/>
        </p:nvSpPr>
        <p:spPr>
          <a:xfrm>
            <a:off x="914400" y="3685032"/>
            <a:ext cx="475488" cy="475488"/>
          </a:xfrm>
          <a:prstGeom prst="roundRect">
            <a:avLst/>
          </a:prstGeom>
          <a:solidFill>
            <a:srgbClr val="22A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914400" y="3749040"/>
            <a:ext cx="47548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700" b="1">
                <a:solidFill>
                  <a:srgbClr val="FFFFFF"/>
                </a:solidFill>
                <a:latin typeface="Segoe UI"/>
              </a:rPr>
              <a:t>✓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536192" y="3685032"/>
            <a:ext cx="233172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>
                <a:solidFill>
                  <a:srgbClr val="1E293B"/>
                </a:solidFill>
                <a:latin typeface="Segoe UI"/>
              </a:rPr>
              <a:t>Checked every pairing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932688" y="4343400"/>
            <a:ext cx="2916936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200" b="0">
                <a:solidFill>
                  <a:srgbClr val="5B677D"/>
                </a:solidFill>
                <a:latin typeface="Segoe UI"/>
              </a:rPr>
              <a:t>Every situation times every possible suggestion: 49,152 for the pump, 131,072 for the tank. Never once less cautious than the rulebook.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4343400" y="3429000"/>
            <a:ext cx="3520440" cy="178308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E4E9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4343400" y="3429000"/>
            <a:ext cx="68580" cy="1783080"/>
          </a:xfrm>
          <a:prstGeom prst="rect">
            <a:avLst/>
          </a:prstGeom>
          <a:solidFill>
            <a:srgbClr val="2E8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0" name="Rounded Rectangle 49"/>
          <p:cNvSpPr/>
          <p:nvPr/>
        </p:nvSpPr>
        <p:spPr>
          <a:xfrm>
            <a:off x="4617720" y="3685032"/>
            <a:ext cx="475488" cy="475488"/>
          </a:xfrm>
          <a:prstGeom prst="roundRect">
            <a:avLst/>
          </a:prstGeom>
          <a:solidFill>
            <a:srgbClr val="2E8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4617720" y="3749040"/>
            <a:ext cx="47548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700" b="1">
                <a:solidFill>
                  <a:srgbClr val="FFFFFF"/>
                </a:solidFill>
                <a:latin typeface="Segoe UI"/>
              </a:rPr>
              <a:t>⚙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5239512" y="3685032"/>
            <a:ext cx="233172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>
                <a:solidFill>
                  <a:srgbClr val="1E293B"/>
                </a:solidFill>
                <a:latin typeface="Segoe UI"/>
              </a:rPr>
              <a:t>Same on the chips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4636008" y="4343400"/>
            <a:ext cx="2916936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200" b="0">
                <a:solidFill>
                  <a:srgbClr val="5B677D"/>
                </a:solidFill>
                <a:latin typeface="Segoe UI"/>
              </a:rPr>
              <a:t>The same result was reproduced on the Uno R4 and the Pico 2, not just on the PC.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8046720" y="3429000"/>
            <a:ext cx="3520440" cy="178308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E4E9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8046720" y="3429000"/>
            <a:ext cx="68580" cy="178308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6" name="Rounded Rectangle 55"/>
          <p:cNvSpPr/>
          <p:nvPr/>
        </p:nvSpPr>
        <p:spPr>
          <a:xfrm>
            <a:off x="8321040" y="3685032"/>
            <a:ext cx="475488" cy="475488"/>
          </a:xfrm>
          <a:prstGeom prst="round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8321040" y="3749040"/>
            <a:ext cx="47548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700" b="1">
                <a:solidFill>
                  <a:srgbClr val="FFFFFF"/>
                </a:solidFill>
                <a:latin typeface="Segoe UI"/>
              </a:rPr>
              <a:t>!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8942832" y="3685032"/>
            <a:ext cx="233172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>
                <a:solidFill>
                  <a:srgbClr val="1E293B"/>
                </a:solidFill>
                <a:latin typeface="Segoe UI"/>
              </a:rPr>
              <a:t>Only as good as the rulebook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8339328" y="4343400"/>
            <a:ext cx="2916936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200" b="0">
                <a:solidFill>
                  <a:srgbClr val="5B677D"/>
                </a:solidFill>
                <a:latin typeface="Segoe UI"/>
              </a:rPr>
              <a:t>It enforces the rulebook a person approved, including its ranking of actions. A wrong rulebook is enforced too.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640080" y="5486400"/>
            <a:ext cx="10908792" cy="548640"/>
          </a:xfrm>
          <a:prstGeom prst="roundRect">
            <a:avLst/>
          </a:prstGeom>
          <a:solidFill>
            <a:srgbClr val="141B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640080" y="5486400"/>
            <a:ext cx="82296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987552" y="5650992"/>
            <a:ext cx="1024128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250" b="0">
                <a:solidFill>
                  <a:srgbClr val="FFFFFF"/>
                </a:solidFill>
                <a:latin typeface="Segoe UI"/>
              </a:rPr>
              <a:t>This is a possibility for AI in control rooms, not yet proven in the field.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98448"/>
          </a:xfrm>
          <a:prstGeom prst="rect">
            <a:avLst/>
          </a:prstGeom>
          <a:solidFill>
            <a:srgbClr val="141B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298448"/>
            <a:ext cx="12191695" cy="50292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237744"/>
            <a:ext cx="108813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4B8A6"/>
                </a:solidFill>
                <a:latin typeface="Segoe UI"/>
              </a:rPr>
              <a:t>TALKS TO PLANT EQUIPMENT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12064"/>
            <a:ext cx="10881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FFFFFF"/>
                </a:solidFill>
                <a:latin typeface="Segoe UI"/>
              </a:rPr>
              <a:t>It speaks Modbus, the language most factory controllers use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463040"/>
            <a:ext cx="10881360" cy="475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0">
                <a:solidFill>
                  <a:srgbClr val="5B677D"/>
                </a:solidFill>
                <a:latin typeface="Segoe UI"/>
              </a:rPr>
              <a:t>A PLC writes sensor values into quorum's registers and reads back the decision and the reason.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B677D"/>
                </a:solidFill>
                <a:latin typeface="Segoe UI"/>
              </a:rPr>
              <a:t>quorum  ·  BioDream LLC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64240" y="6419088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1">
                <a:solidFill>
                  <a:srgbClr val="5B677D"/>
                </a:solidFill>
                <a:latin typeface="Segoe UI"/>
              </a:rPr>
              <a:t>20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2194560"/>
            <a:ext cx="2194560" cy="1188720"/>
          </a:xfrm>
          <a:prstGeom prst="roundRect">
            <a:avLst/>
          </a:prstGeom>
          <a:solidFill>
            <a:srgbClr val="3341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914400" y="2249424"/>
            <a:ext cx="73152" cy="73152"/>
          </a:xfrm>
          <a:prstGeom prst="ellipse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914400" y="3255264"/>
            <a:ext cx="73152" cy="73152"/>
          </a:xfrm>
          <a:prstGeom prst="ellipse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078992" y="2249424"/>
            <a:ext cx="73152" cy="73152"/>
          </a:xfrm>
          <a:prstGeom prst="ellipse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078992" y="3255264"/>
            <a:ext cx="73152" cy="73152"/>
          </a:xfrm>
          <a:prstGeom prst="ellipse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1243584" y="2249424"/>
            <a:ext cx="73152" cy="73152"/>
          </a:xfrm>
          <a:prstGeom prst="ellipse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1243584" y="3255264"/>
            <a:ext cx="73152" cy="73152"/>
          </a:xfrm>
          <a:prstGeom prst="ellipse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408176" y="2249424"/>
            <a:ext cx="73152" cy="73152"/>
          </a:xfrm>
          <a:prstGeom prst="ellipse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408176" y="3255264"/>
            <a:ext cx="73152" cy="73152"/>
          </a:xfrm>
          <a:prstGeom prst="ellipse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572768" y="2249424"/>
            <a:ext cx="73152" cy="73152"/>
          </a:xfrm>
          <a:prstGeom prst="ellipse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572768" y="3255264"/>
            <a:ext cx="73152" cy="73152"/>
          </a:xfrm>
          <a:prstGeom prst="ellipse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737360" y="2249424"/>
            <a:ext cx="73152" cy="73152"/>
          </a:xfrm>
          <a:prstGeom prst="ellipse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1737360" y="3255264"/>
            <a:ext cx="73152" cy="73152"/>
          </a:xfrm>
          <a:prstGeom prst="ellipse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1901952" y="2249424"/>
            <a:ext cx="73152" cy="73152"/>
          </a:xfrm>
          <a:prstGeom prst="ellipse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1901952" y="3255264"/>
            <a:ext cx="73152" cy="73152"/>
          </a:xfrm>
          <a:prstGeom prst="ellipse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2066544" y="2249424"/>
            <a:ext cx="73152" cy="73152"/>
          </a:xfrm>
          <a:prstGeom prst="ellipse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2066544" y="3255264"/>
            <a:ext cx="73152" cy="73152"/>
          </a:xfrm>
          <a:prstGeom prst="ellipse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2231136" y="2249424"/>
            <a:ext cx="73152" cy="73152"/>
          </a:xfrm>
          <a:prstGeom prst="ellipse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2231136" y="3255264"/>
            <a:ext cx="73152" cy="73152"/>
          </a:xfrm>
          <a:prstGeom prst="ellipse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2395728" y="2249424"/>
            <a:ext cx="73152" cy="73152"/>
          </a:xfrm>
          <a:prstGeom prst="ellipse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2395728" y="3255264"/>
            <a:ext cx="73152" cy="73152"/>
          </a:xfrm>
          <a:prstGeom prst="ellipse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2560320" y="2249424"/>
            <a:ext cx="73152" cy="73152"/>
          </a:xfrm>
          <a:prstGeom prst="ellipse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2560320" y="3255264"/>
            <a:ext cx="73152" cy="73152"/>
          </a:xfrm>
          <a:prstGeom prst="ellipse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2724912" y="2249424"/>
            <a:ext cx="73152" cy="73152"/>
          </a:xfrm>
          <a:prstGeom prst="ellipse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2724912" y="3255264"/>
            <a:ext cx="73152" cy="73152"/>
          </a:xfrm>
          <a:prstGeom prst="ellipse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2889504" y="2249424"/>
            <a:ext cx="73152" cy="73152"/>
          </a:xfrm>
          <a:prstGeom prst="ellipse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2889504" y="3255264"/>
            <a:ext cx="73152" cy="73152"/>
          </a:xfrm>
          <a:prstGeom prst="ellipse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749808" y="2670048"/>
            <a:ext cx="274320" cy="237744"/>
          </a:xfrm>
          <a:prstGeom prst="rect">
            <a:avLst/>
          </a:prstGeom>
          <a:solidFill>
            <a:srgbClr val="94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1547164" y="2415844"/>
            <a:ext cx="746150" cy="746150"/>
          </a:xfrm>
          <a:prstGeom prst="rect">
            <a:avLst/>
          </a:prstGeom>
          <a:solidFill>
            <a:srgbClr val="1F29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822960" y="3456432"/>
            <a:ext cx="21945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</a:pPr>
            <a:r>
              <a:rPr sz="1300" b="1">
                <a:solidFill>
                  <a:srgbClr val="1E293B"/>
                </a:solidFill>
                <a:latin typeface="Segoe UI"/>
              </a:rPr>
              <a:t>PLC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40080" y="3730752"/>
            <a:ext cx="25603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</a:pPr>
            <a:r>
              <a:rPr sz="1050" b="0">
                <a:solidFill>
                  <a:srgbClr val="5B677D"/>
                </a:solidFill>
                <a:latin typeface="Segoe UI"/>
              </a:rPr>
              <a:t>plant controller</a:t>
            </a:r>
          </a:p>
        </p:txBody>
      </p:sp>
      <p:cxnSp>
        <p:nvCxnSpPr>
          <p:cNvPr id="41" name="Connector 40"/>
          <p:cNvCxnSpPr/>
          <p:nvPr/>
        </p:nvCxnSpPr>
        <p:spPr>
          <a:xfrm>
            <a:off x="3108960" y="2606040"/>
            <a:ext cx="1463040" cy="0"/>
          </a:xfrm>
          <a:prstGeom prst="line">
            <a:avLst/>
          </a:prstGeom>
          <a:ln w="28575">
            <a:solidFill>
              <a:srgbClr val="94A3B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/>
          <p:nvPr/>
        </p:nvCxnSpPr>
        <p:spPr>
          <a:xfrm flipH="1">
            <a:off x="3108960" y="3017520"/>
            <a:ext cx="1463040" cy="0"/>
          </a:xfrm>
          <a:prstGeom prst="line">
            <a:avLst/>
          </a:prstGeom>
          <a:ln w="28575">
            <a:solidFill>
              <a:srgbClr val="94A3B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TextBox 42"/>
          <p:cNvSpPr txBox="1"/>
          <p:nvPr/>
        </p:nvSpPr>
        <p:spPr>
          <a:xfrm>
            <a:off x="3017520" y="2148840"/>
            <a:ext cx="1737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</a:pPr>
            <a:r>
              <a:rPr sz="1100" b="1">
                <a:solidFill>
                  <a:srgbClr val="5B677D"/>
                </a:solidFill>
                <a:latin typeface="Segoe UI"/>
              </a:rPr>
              <a:t>readings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017520" y="3108960"/>
            <a:ext cx="1737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</a:pPr>
            <a:r>
              <a:rPr sz="1100" b="1">
                <a:solidFill>
                  <a:srgbClr val="5B677D"/>
                </a:solidFill>
                <a:latin typeface="Segoe UI"/>
              </a:rPr>
              <a:t>decision + why</a:t>
            </a:r>
          </a:p>
        </p:txBody>
      </p:sp>
      <p:sp>
        <p:nvSpPr>
          <p:cNvPr id="45" name="Rectangle 44"/>
          <p:cNvSpPr/>
          <p:nvPr/>
        </p:nvSpPr>
        <p:spPr>
          <a:xfrm>
            <a:off x="4807633" y="2039112"/>
            <a:ext cx="98473" cy="109728"/>
          </a:xfrm>
          <a:prstGeom prst="rect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4807633" y="3429000"/>
            <a:ext cx="98473" cy="109728"/>
          </a:xfrm>
          <a:prstGeom prst="rect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5004581" y="2039112"/>
            <a:ext cx="98473" cy="109728"/>
          </a:xfrm>
          <a:prstGeom prst="rect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5004581" y="3429000"/>
            <a:ext cx="98473" cy="109728"/>
          </a:xfrm>
          <a:prstGeom prst="rect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5201529" y="2039112"/>
            <a:ext cx="98473" cy="109728"/>
          </a:xfrm>
          <a:prstGeom prst="rect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5201529" y="3429000"/>
            <a:ext cx="98473" cy="109728"/>
          </a:xfrm>
          <a:prstGeom prst="rect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5398476" y="2039112"/>
            <a:ext cx="98473" cy="109728"/>
          </a:xfrm>
          <a:prstGeom prst="rect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5398476" y="3429000"/>
            <a:ext cx="98473" cy="109728"/>
          </a:xfrm>
          <a:prstGeom prst="rect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5595424" y="2039112"/>
            <a:ext cx="98473" cy="109728"/>
          </a:xfrm>
          <a:prstGeom prst="rect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5595424" y="3429000"/>
            <a:ext cx="98473" cy="109728"/>
          </a:xfrm>
          <a:prstGeom prst="rect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5792372" y="2039112"/>
            <a:ext cx="98473" cy="109728"/>
          </a:xfrm>
          <a:prstGeom prst="rect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5792372" y="3429000"/>
            <a:ext cx="98473" cy="109728"/>
          </a:xfrm>
          <a:prstGeom prst="rect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4599432" y="2247313"/>
            <a:ext cx="109728" cy="98473"/>
          </a:xfrm>
          <a:prstGeom prst="rect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5989320" y="2247313"/>
            <a:ext cx="109728" cy="98473"/>
          </a:xfrm>
          <a:prstGeom prst="rect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4599432" y="2444261"/>
            <a:ext cx="109728" cy="98473"/>
          </a:xfrm>
          <a:prstGeom prst="rect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5989320" y="2444261"/>
            <a:ext cx="109728" cy="98473"/>
          </a:xfrm>
          <a:prstGeom prst="rect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4599432" y="2641209"/>
            <a:ext cx="109728" cy="98473"/>
          </a:xfrm>
          <a:prstGeom prst="rect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5989320" y="2641209"/>
            <a:ext cx="109728" cy="98473"/>
          </a:xfrm>
          <a:prstGeom prst="rect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4599432" y="2838156"/>
            <a:ext cx="109728" cy="98473"/>
          </a:xfrm>
          <a:prstGeom prst="rect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5989320" y="2838156"/>
            <a:ext cx="109728" cy="98473"/>
          </a:xfrm>
          <a:prstGeom prst="rect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4599432" y="3035104"/>
            <a:ext cx="109728" cy="98473"/>
          </a:xfrm>
          <a:prstGeom prst="rect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5989320" y="3035104"/>
            <a:ext cx="109728" cy="98473"/>
          </a:xfrm>
          <a:prstGeom prst="rect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4599432" y="3232052"/>
            <a:ext cx="109728" cy="98473"/>
          </a:xfrm>
          <a:prstGeom prst="rect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>
            <a:off x="5989320" y="3232052"/>
            <a:ext cx="109728" cy="98473"/>
          </a:xfrm>
          <a:prstGeom prst="rect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9" name="Rounded Rectangle 68"/>
          <p:cNvSpPr/>
          <p:nvPr/>
        </p:nvSpPr>
        <p:spPr>
          <a:xfrm>
            <a:off x="4709160" y="2148840"/>
            <a:ext cx="1280160" cy="1280160"/>
          </a:xfrm>
          <a:prstGeom prst="roundRect">
            <a:avLst/>
          </a:prstGeom>
          <a:solidFill>
            <a:srgbClr val="1F29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0" name="Oval 69"/>
          <p:cNvSpPr/>
          <p:nvPr/>
        </p:nvSpPr>
        <p:spPr>
          <a:xfrm>
            <a:off x="4791456" y="2231136"/>
            <a:ext cx="100584" cy="100584"/>
          </a:xfrm>
          <a:prstGeom prst="ellipse">
            <a:avLst/>
          </a:prstGeom>
          <a:solidFill>
            <a:srgbClr val="3741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4709160" y="2468880"/>
            <a:ext cx="12801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</a:pPr>
            <a:r>
              <a:rPr sz="1500" b="1">
                <a:solidFill>
                  <a:srgbClr val="FFFFFF"/>
                </a:solidFill>
                <a:latin typeface="Segoe UI"/>
              </a:rPr>
              <a:t>quorum</a:t>
            </a:r>
          </a:p>
        </p:txBody>
      </p:sp>
      <p:sp>
        <p:nvSpPr>
          <p:cNvPr id="72" name="Rounded Rectangle 71"/>
          <p:cNvSpPr/>
          <p:nvPr/>
        </p:nvSpPr>
        <p:spPr>
          <a:xfrm>
            <a:off x="6583680" y="2011680"/>
            <a:ext cx="4937760" cy="146304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E4E9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3" name="Rectangle 72"/>
          <p:cNvSpPr/>
          <p:nvPr/>
        </p:nvSpPr>
        <p:spPr>
          <a:xfrm>
            <a:off x="6583680" y="2011680"/>
            <a:ext cx="68580" cy="14630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4" name="Rounded Rectangle 73"/>
          <p:cNvSpPr/>
          <p:nvPr/>
        </p:nvSpPr>
        <p:spPr>
          <a:xfrm>
            <a:off x="6858000" y="2267712"/>
            <a:ext cx="475488" cy="475488"/>
          </a:xfrm>
          <a:prstGeom prst="round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6858000" y="2331720"/>
            <a:ext cx="47548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700" b="1">
                <a:solidFill>
                  <a:srgbClr val="FFFFFF"/>
                </a:solidFill>
                <a:latin typeface="Segoe UI"/>
              </a:rPr>
              <a:t>=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7479792" y="2267712"/>
            <a:ext cx="374904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>
                <a:solidFill>
                  <a:srgbClr val="1E293B"/>
                </a:solidFill>
                <a:latin typeface="Segoe UI"/>
              </a:rPr>
              <a:t>Same answer either way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6876288" y="2926080"/>
            <a:ext cx="433425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200" b="0">
                <a:solidFill>
                  <a:srgbClr val="5B677D"/>
                </a:solidFill>
                <a:latin typeface="Segoe UI"/>
              </a:rPr>
              <a:t>All 16,384 pump situations, sent through the registers, got exactly the decision the chip makes directly. On the Uno R4 and the Pico 2.</a:t>
            </a:r>
          </a:p>
        </p:txBody>
      </p:sp>
      <p:sp>
        <p:nvSpPr>
          <p:cNvPr id="78" name="Rounded Rectangle 77"/>
          <p:cNvSpPr/>
          <p:nvPr/>
        </p:nvSpPr>
        <p:spPr>
          <a:xfrm>
            <a:off x="6583680" y="3611880"/>
            <a:ext cx="4937760" cy="146304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E4E9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9" name="Rectangle 78"/>
          <p:cNvSpPr/>
          <p:nvPr/>
        </p:nvSpPr>
        <p:spPr>
          <a:xfrm>
            <a:off x="6583680" y="3611880"/>
            <a:ext cx="68580" cy="1463040"/>
          </a:xfrm>
          <a:prstGeom prst="rect">
            <a:avLst/>
          </a:prstGeom>
          <a:solidFill>
            <a:srgbClr val="6C4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0" name="Rounded Rectangle 79"/>
          <p:cNvSpPr/>
          <p:nvPr/>
        </p:nvSpPr>
        <p:spPr>
          <a:xfrm>
            <a:off x="6858000" y="3867912"/>
            <a:ext cx="475488" cy="475488"/>
          </a:xfrm>
          <a:prstGeom prst="roundRect">
            <a:avLst/>
          </a:prstGeom>
          <a:solidFill>
            <a:srgbClr val="6C4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6858000" y="3931920"/>
            <a:ext cx="47548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700" b="1">
                <a:solidFill>
                  <a:srgbClr val="FFFFFF"/>
                </a:solidFill>
                <a:latin typeface="Segoe UI"/>
              </a:rPr>
              <a:t>✕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7479792" y="3867912"/>
            <a:ext cx="374904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>
                <a:solidFill>
                  <a:srgbClr val="1E293B"/>
                </a:solidFill>
                <a:latin typeface="Segoe UI"/>
              </a:rPr>
              <a:t>Ignores garbage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6876288" y="4526280"/>
            <a:ext cx="433425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200" b="0">
                <a:solidFill>
                  <a:srgbClr val="5B677D"/>
                </a:solidFill>
                <a:latin typeface="Segoe UI"/>
              </a:rPr>
              <a:t>A damaged message is dropped. A command it does not know is refused. It changes nothing unless a request is valid.</a:t>
            </a:r>
          </a:p>
        </p:txBody>
      </p:sp>
      <p:sp>
        <p:nvSpPr>
          <p:cNvPr id="84" name="Rounded Rectangle 83"/>
          <p:cNvSpPr/>
          <p:nvPr/>
        </p:nvSpPr>
        <p:spPr>
          <a:xfrm>
            <a:off x="640080" y="5349240"/>
            <a:ext cx="10908792" cy="868680"/>
          </a:xfrm>
          <a:prstGeom prst="roundRect">
            <a:avLst/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5" name="Rectangle 84"/>
          <p:cNvSpPr/>
          <p:nvPr/>
        </p:nvSpPr>
        <p:spPr>
          <a:xfrm>
            <a:off x="640080" y="5349240"/>
            <a:ext cx="82296" cy="86868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987552" y="5513832"/>
            <a:ext cx="10241280" cy="6309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250" b="1">
                <a:solidFill>
                  <a:srgbClr val="14B8A6"/>
                </a:solidFill>
                <a:latin typeface="Segoe UI"/>
              </a:rPr>
              <a:t>Important limit</a:t>
            </a:r>
          </a:p>
          <a:p>
            <a:pPr algn="l">
              <a:lnSpc>
                <a:spcPct val="118000"/>
              </a:lnSpc>
              <a:spcBef>
                <a:spcPts val="500"/>
              </a:spcBef>
            </a:pPr>
            <a:r>
              <a:rPr sz="1250" b="0">
                <a:solidFill>
                  <a:srgbClr val="FFFFFF"/>
                </a:solidFill>
                <a:latin typeface="Segoe UI"/>
              </a:rPr>
              <a:t>Modbus has no password. Anyone on the same wire can send it readings. It must sit on a closed, trusted network, as Modbus devices always should.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98448"/>
          </a:xfrm>
          <a:prstGeom prst="rect">
            <a:avLst/>
          </a:prstGeom>
          <a:solidFill>
            <a:srgbClr val="141B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298448"/>
            <a:ext cx="12191695" cy="50292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237744"/>
            <a:ext cx="108813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4B8A6"/>
                </a:solidFill>
                <a:latin typeface="Segoe UI"/>
              </a:rPr>
              <a:t>PROOF YOU CAN CHECK YOURSELF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12064"/>
            <a:ext cx="10881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FFFFFF"/>
                </a:solidFill>
                <a:latin typeface="Segoe UI"/>
              </a:rPr>
              <a:t>Every situation checked at once, with a receipt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463040"/>
            <a:ext cx="10881360" cy="475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0">
                <a:solidFill>
                  <a:srgbClr val="5B677D"/>
                </a:solidFill>
                <a:latin typeface="Segoe UI"/>
              </a:rPr>
              <a:t>No need to trust quorum's own checker. It hands over a proof that a separate small program verifies.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B677D"/>
                </a:solidFill>
                <a:latin typeface="Segoe UI"/>
              </a:rPr>
              <a:t>quorum  ·  BioDream LLC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64240" y="6419088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1">
                <a:solidFill>
                  <a:srgbClr val="5B677D"/>
                </a:solidFill>
                <a:latin typeface="Segoe UI"/>
              </a:rPr>
              <a:t>21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2011680"/>
            <a:ext cx="3520440" cy="210312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E4E9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0080" y="2011680"/>
            <a:ext cx="68580" cy="2103120"/>
          </a:xfrm>
          <a:prstGeom prst="rect">
            <a:avLst/>
          </a:prstGeom>
          <a:solidFill>
            <a:srgbClr val="6C4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914400" y="2267712"/>
            <a:ext cx="475488" cy="475488"/>
          </a:xfrm>
          <a:prstGeom prst="roundRect">
            <a:avLst/>
          </a:prstGeom>
          <a:solidFill>
            <a:srgbClr val="6C4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14400" y="2331720"/>
            <a:ext cx="47548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700" b="1">
                <a:solidFill>
                  <a:srgbClr val="FFFFFF"/>
                </a:solidFill>
                <a:latin typeface="Segoe UI"/>
              </a:rPr>
              <a:t>∀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36192" y="2267712"/>
            <a:ext cx="233172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>
                <a:solidFill>
                  <a:srgbClr val="1E293B"/>
                </a:solidFill>
                <a:latin typeface="Segoe UI"/>
              </a:rPr>
              <a:t>All at once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32688" y="2926080"/>
            <a:ext cx="2916936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200" b="0">
                <a:solidFill>
                  <a:srgbClr val="5B677D"/>
                </a:solidFill>
                <a:latin typeface="Segoe UI"/>
              </a:rPr>
              <a:t>A second checker reasons about every situation together. Two rulebooks sharing one chip: all 536,870,912 combinations, with no rulebook affecting the other.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343400" y="2011680"/>
            <a:ext cx="3520440" cy="210312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E4E9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343400" y="2011680"/>
            <a:ext cx="68580" cy="210312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4617720" y="2267712"/>
            <a:ext cx="475488" cy="475488"/>
          </a:xfrm>
          <a:prstGeom prst="round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617720" y="2331720"/>
            <a:ext cx="47548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700" b="1">
                <a:solidFill>
                  <a:srgbClr val="FFFFFF"/>
                </a:solidFill>
                <a:latin typeface="Segoe UI"/>
              </a:rPr>
              <a:t>▤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239512" y="2267712"/>
            <a:ext cx="233172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>
                <a:solidFill>
                  <a:srgbClr val="1E293B"/>
                </a:solidFill>
                <a:latin typeface="Segoe UI"/>
              </a:rPr>
              <a:t>A certificate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636008" y="2926080"/>
            <a:ext cx="2916936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200" b="0">
                <a:solidFill>
                  <a:srgbClr val="5B677D"/>
                </a:solidFill>
                <a:latin typeface="Segoe UI"/>
              </a:rPr>
              <a:t>A file listing, for every situation, what quorum decided and why. Tied to the exact rulebook by its fingerprint.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046720" y="2011680"/>
            <a:ext cx="3520440" cy="210312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E4E9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046720" y="2011680"/>
            <a:ext cx="68580" cy="2103120"/>
          </a:xfrm>
          <a:prstGeom prst="rect">
            <a:avLst/>
          </a:prstGeom>
          <a:solidFill>
            <a:srgbClr val="22A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8321040" y="2267712"/>
            <a:ext cx="475488" cy="475488"/>
          </a:xfrm>
          <a:prstGeom prst="roundRect">
            <a:avLst/>
          </a:prstGeom>
          <a:solidFill>
            <a:srgbClr val="22A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321040" y="2331720"/>
            <a:ext cx="47548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700" b="1">
                <a:solidFill>
                  <a:srgbClr val="FFFFFF"/>
                </a:solidFill>
                <a:latin typeface="Segoe UI"/>
              </a:rPr>
              <a:t>✓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942832" y="2267712"/>
            <a:ext cx="233172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>
                <a:solidFill>
                  <a:srgbClr val="1E293B"/>
                </a:solidFill>
                <a:latin typeface="Segoe UI"/>
              </a:rPr>
              <a:t>An independent check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339328" y="2926080"/>
            <a:ext cx="2916936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200" b="0">
                <a:solidFill>
                  <a:srgbClr val="5B677D"/>
                </a:solidFill>
                <a:latin typeface="Segoe UI"/>
              </a:rPr>
              <a:t>About 200 lines of separate code re-check the certificate. Every forgery we tried was caught: a changed answer, a moved rule, a nudged alarm limit.</a:t>
            </a:r>
          </a:p>
        </p:txBody>
      </p:sp>
      <p:sp>
        <p:nvSpPr>
          <p:cNvPr id="28" name="Folded Corner 27"/>
          <p:cNvSpPr/>
          <p:nvPr/>
        </p:nvSpPr>
        <p:spPr>
          <a:xfrm>
            <a:off x="5394960" y="4343400"/>
            <a:ext cx="1371600" cy="914400"/>
          </a:xfrm>
          <a:prstGeom prst="foldedCorner">
            <a:avLst/>
          </a:prstGeom>
          <a:solidFill>
            <a:srgbClr val="FFFFFF"/>
          </a:solidFill>
          <a:ln w="15875">
            <a:solidFill>
              <a:srgbClr val="E4E9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5532120" y="4489704"/>
            <a:ext cx="617220" cy="64008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5532120" y="4690872"/>
            <a:ext cx="768096" cy="41148"/>
          </a:xfrm>
          <a:prstGeom prst="rect">
            <a:avLst/>
          </a:prstGeom>
          <a:solidFill>
            <a:srgbClr val="E4E9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5532120" y="4751832"/>
            <a:ext cx="1042416" cy="41148"/>
          </a:xfrm>
          <a:prstGeom prst="rect">
            <a:avLst/>
          </a:prstGeom>
          <a:solidFill>
            <a:srgbClr val="E4E9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5532120" y="4812792"/>
            <a:ext cx="1042416" cy="41148"/>
          </a:xfrm>
          <a:prstGeom prst="rect">
            <a:avLst/>
          </a:prstGeom>
          <a:solidFill>
            <a:srgbClr val="E4E9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5532120" y="4873752"/>
            <a:ext cx="768096" cy="41148"/>
          </a:xfrm>
          <a:prstGeom prst="rect">
            <a:avLst/>
          </a:prstGeom>
          <a:solidFill>
            <a:srgbClr val="E4E9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5532120" y="4934712"/>
            <a:ext cx="1042416" cy="41148"/>
          </a:xfrm>
          <a:prstGeom prst="rect">
            <a:avLst/>
          </a:prstGeom>
          <a:solidFill>
            <a:srgbClr val="E4E9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5532120" y="4995672"/>
            <a:ext cx="1042416" cy="41148"/>
          </a:xfrm>
          <a:prstGeom prst="rect">
            <a:avLst/>
          </a:prstGeom>
          <a:solidFill>
            <a:srgbClr val="E4E9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394960" y="5312664"/>
            <a:ext cx="1371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</a:pPr>
            <a:r>
              <a:rPr sz="1000" b="1">
                <a:solidFill>
                  <a:srgbClr val="1E293B"/>
                </a:solidFill>
                <a:latin typeface="Segoe UI"/>
              </a:rPr>
              <a:t>CERT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640080" y="5486400"/>
            <a:ext cx="10908792" cy="548640"/>
          </a:xfrm>
          <a:prstGeom prst="roundRect">
            <a:avLst/>
          </a:prstGeom>
          <a:solidFill>
            <a:srgbClr val="141B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640080" y="5486400"/>
            <a:ext cx="82296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987552" y="5650992"/>
            <a:ext cx="1024128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250" b="0">
                <a:solidFill>
                  <a:srgbClr val="FFFFFF"/>
                </a:solidFill>
                <a:latin typeface="Segoe UI"/>
              </a:rPr>
              <a:t>An auditor can confirm the rulebook was checked without trusting us or our software.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98448"/>
          </a:xfrm>
          <a:prstGeom prst="rect">
            <a:avLst/>
          </a:prstGeom>
          <a:solidFill>
            <a:srgbClr val="141B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298448"/>
            <a:ext cx="12191695" cy="50292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237744"/>
            <a:ext cx="108813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4B8A6"/>
                </a:solidFill>
                <a:latin typeface="Segoe UI"/>
              </a:rPr>
              <a:t>IT WAITS BEFORE IT ACTS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12064"/>
            <a:ext cx="10881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FFFFFF"/>
                </a:solidFill>
                <a:latin typeface="Segoe UI"/>
              </a:rPr>
              <a:t>"Hot for 5 seconds", not "hot for a moment"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463040"/>
            <a:ext cx="10881360" cy="475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0">
                <a:solidFill>
                  <a:srgbClr val="5B677D"/>
                </a:solidFill>
                <a:latin typeface="Segoe UI"/>
              </a:rPr>
              <a:t>A spike should not stop a plant. Rules can say a reading must last before it counts.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B677D"/>
                </a:solidFill>
                <a:latin typeface="Segoe UI"/>
              </a:rPr>
              <a:t>quorum  ·  BioDream LLC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64240" y="6419088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1">
                <a:solidFill>
                  <a:srgbClr val="5B677D"/>
                </a:solidFill>
                <a:latin typeface="Segoe UI"/>
              </a:rPr>
              <a:t>22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4572000"/>
            <a:ext cx="5852160" cy="27432"/>
          </a:xfrm>
          <a:prstGeom prst="rect">
            <a:avLst/>
          </a:prstGeom>
          <a:solidFill>
            <a:srgbClr val="5B6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22960" y="2926080"/>
            <a:ext cx="5852160" cy="18288"/>
          </a:xfrm>
          <a:prstGeom prst="rect">
            <a:avLst/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212080" y="2606040"/>
            <a:ext cx="1463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</a:pPr>
            <a:r>
              <a:rPr sz="1050" b="1">
                <a:solidFill>
                  <a:srgbClr val="DC2626"/>
                </a:solidFill>
                <a:latin typeface="Segoe UI"/>
              </a:rPr>
              <a:t>alarm limit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051560" y="4114800"/>
            <a:ext cx="292608" cy="457200"/>
          </a:xfrm>
          <a:prstGeom prst="rect">
            <a:avLst/>
          </a:prstGeom>
          <a:solidFill>
            <a:srgbClr val="2E8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508760" y="4023360"/>
            <a:ext cx="292608" cy="548640"/>
          </a:xfrm>
          <a:prstGeom prst="rect">
            <a:avLst/>
          </a:prstGeom>
          <a:solidFill>
            <a:srgbClr val="2E8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965960" y="2560320"/>
            <a:ext cx="292608" cy="201168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2423160" y="4023360"/>
            <a:ext cx="292608" cy="548640"/>
          </a:xfrm>
          <a:prstGeom prst="rect">
            <a:avLst/>
          </a:prstGeom>
          <a:solidFill>
            <a:srgbClr val="2E8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2880360" y="3931920"/>
            <a:ext cx="292608" cy="640080"/>
          </a:xfrm>
          <a:prstGeom prst="rect">
            <a:avLst/>
          </a:prstGeom>
          <a:solidFill>
            <a:srgbClr val="2E8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337560" y="3840480"/>
            <a:ext cx="292608" cy="731520"/>
          </a:xfrm>
          <a:prstGeom prst="rect">
            <a:avLst/>
          </a:prstGeom>
          <a:solidFill>
            <a:srgbClr val="2E8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3794760" y="2834640"/>
            <a:ext cx="292608" cy="173736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251960" y="2743200"/>
            <a:ext cx="292608" cy="18288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709160" y="2651760"/>
            <a:ext cx="292608" cy="192024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166360" y="2560320"/>
            <a:ext cx="292608" cy="201168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5623560" y="2651760"/>
            <a:ext cx="292608" cy="192024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080760" y="2560320"/>
            <a:ext cx="292608" cy="201168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645920" y="4645152"/>
            <a:ext cx="1463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100" b="1">
                <a:solidFill>
                  <a:srgbClr val="1E293B"/>
                </a:solidFill>
                <a:latin typeface="Segoe UI"/>
              </a:rPr>
              <a:t>spike: ignored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749040" y="4645152"/>
            <a:ext cx="2926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100" b="1">
                <a:solidFill>
                  <a:srgbClr val="1E293B"/>
                </a:solidFill>
                <a:latin typeface="Segoe UI"/>
              </a:rPr>
              <a:t>lasts 5 s: counts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178040" y="2011680"/>
            <a:ext cx="4343400" cy="146304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E4E9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178040" y="2011680"/>
            <a:ext cx="68580" cy="14630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7452360" y="2267712"/>
            <a:ext cx="475488" cy="475488"/>
          </a:xfrm>
          <a:prstGeom prst="round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452360" y="2331720"/>
            <a:ext cx="47548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700" b="1">
                <a:solidFill>
                  <a:srgbClr val="FFFFFF"/>
                </a:solidFill>
                <a:latin typeface="Segoe UI"/>
              </a:rPr>
              <a:t>⏱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074152" y="2267712"/>
            <a:ext cx="315468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>
                <a:solidFill>
                  <a:srgbClr val="1E293B"/>
                </a:solidFill>
                <a:latin typeface="Segoe UI"/>
              </a:rPr>
              <a:t>Waits only in the safe direction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470648" y="2926080"/>
            <a:ext cx="373989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200" b="0">
                <a:solidFill>
                  <a:srgbClr val="5B677D"/>
                </a:solidFill>
                <a:latin typeface="Segoe UI"/>
              </a:rPr>
              <a:t>Turning an alarm ON waits. Turning it OFF never does, because delaying that is the dangerous way.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7178040" y="3611880"/>
            <a:ext cx="4343400" cy="146304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E4E9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7178040" y="3611880"/>
            <a:ext cx="68580" cy="1463040"/>
          </a:xfrm>
          <a:prstGeom prst="rect">
            <a:avLst/>
          </a:prstGeom>
          <a:solidFill>
            <a:srgbClr val="6C4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7452360" y="3867912"/>
            <a:ext cx="475488" cy="475488"/>
          </a:xfrm>
          <a:prstGeom prst="roundRect">
            <a:avLst/>
          </a:prstGeom>
          <a:solidFill>
            <a:srgbClr val="6C4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452360" y="3931920"/>
            <a:ext cx="47548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700" b="1">
                <a:solidFill>
                  <a:srgbClr val="FFFFFF"/>
                </a:solidFill>
                <a:latin typeface="Segoe UI"/>
              </a:rPr>
              <a:t>∀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074152" y="3867912"/>
            <a:ext cx="315468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>
                <a:solidFill>
                  <a:srgbClr val="1E293B"/>
                </a:solidFill>
                <a:latin typeface="Segoe UI"/>
              </a:rPr>
              <a:t>Still every case checked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470648" y="4526280"/>
            <a:ext cx="373989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200" b="0">
                <a:solidFill>
                  <a:srgbClr val="5B677D"/>
                </a:solidFill>
                <a:latin typeface="Segoe UI"/>
              </a:rPr>
              <a:t>Time only decides when a reading becomes true, so the every-situation check stays complete.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640080" y="5349240"/>
            <a:ext cx="10908792" cy="548640"/>
          </a:xfrm>
          <a:prstGeom prst="roundRect">
            <a:avLst/>
          </a:prstGeom>
          <a:solidFill>
            <a:srgbClr val="141B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640080" y="5349240"/>
            <a:ext cx="82296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987552" y="5513832"/>
            <a:ext cx="1024128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250" b="0">
                <a:solidFill>
                  <a:srgbClr val="FFFFFF"/>
                </a:solidFill>
                <a:latin typeface="Segoe UI"/>
              </a:rPr>
              <a:t>This is how alarm standards are already written (ISA-18.2), now in plain words.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98448"/>
          </a:xfrm>
          <a:prstGeom prst="rect">
            <a:avLst/>
          </a:prstGeom>
          <a:solidFill>
            <a:srgbClr val="141B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298448"/>
            <a:ext cx="12191695" cy="50292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237744"/>
            <a:ext cx="108813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4B8A6"/>
                </a:solidFill>
                <a:latin typeface="Segoe UI"/>
              </a:rPr>
              <a:t>DRAFTING FROM A MANUAL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12064"/>
            <a:ext cx="10881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FFFFFF"/>
                </a:solidFill>
                <a:latin typeface="Segoe UI"/>
              </a:rPr>
              <a:t>An AI can write a first draft. A person must approve it.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463040"/>
            <a:ext cx="10881360" cy="475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0">
                <a:solidFill>
                  <a:srgbClr val="5B677D"/>
                </a:solidFill>
                <a:latin typeface="Segoe UI"/>
              </a:rPr>
              <a:t>Tried with a small AI on our own computer, and with large ones through a service that keeps no copy.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B677D"/>
                </a:solidFill>
                <a:latin typeface="Segoe UI"/>
              </a:rPr>
              <a:t>quorum  ·  BioDream LLC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64240" y="6419088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1">
                <a:solidFill>
                  <a:srgbClr val="5B677D"/>
                </a:solidFill>
                <a:latin typeface="Segoe UI"/>
              </a:rPr>
              <a:t>23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4480560"/>
            <a:ext cx="5303520" cy="27432"/>
          </a:xfrm>
          <a:prstGeom prst="rect">
            <a:avLst/>
          </a:prstGeom>
          <a:solidFill>
            <a:srgbClr val="5B6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188720" y="3200400"/>
            <a:ext cx="1188720" cy="1280160"/>
          </a:xfrm>
          <a:prstGeom prst="rect">
            <a:avLst/>
          </a:prstGeom>
          <a:solidFill>
            <a:srgbClr val="94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/>
            <a:r>
              <a:rPr sz="1300" b="1">
                <a:solidFill>
                  <a:srgbClr val="FFFFFF"/>
                </a:solidFill>
                <a:latin typeface="Segoe UI"/>
              </a:rPr>
              <a:t>7 / 13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4553712"/>
            <a:ext cx="15544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</a:pPr>
            <a:r>
              <a:rPr sz="1100" b="1">
                <a:solidFill>
                  <a:srgbClr val="1E293B"/>
                </a:solidFill>
                <a:latin typeface="Segoe UI"/>
              </a:rPr>
              <a:t>small AI,
first try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880360" y="2468880"/>
            <a:ext cx="1188720" cy="2011680"/>
          </a:xfrm>
          <a:prstGeom prst="rect">
            <a:avLst/>
          </a:prstGeom>
          <a:solidFill>
            <a:srgbClr val="2E8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/>
            <a:r>
              <a:rPr sz="1300" b="1">
                <a:solidFill>
                  <a:srgbClr val="FFFFFF"/>
                </a:solidFill>
                <a:latin typeface="Segoe UI"/>
              </a:rPr>
              <a:t>11 / 13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697480" y="4553712"/>
            <a:ext cx="15544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</a:pPr>
            <a:r>
              <a:rPr sz="1100" b="1">
                <a:solidFill>
                  <a:srgbClr val="1E293B"/>
                </a:solidFill>
                <a:latin typeface="Segoe UI"/>
              </a:rPr>
              <a:t>small AI,
best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0" y="2103120"/>
            <a:ext cx="1188720" cy="23774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/>
            <a:r>
              <a:rPr sz="1300" b="1">
                <a:solidFill>
                  <a:srgbClr val="FFFFFF"/>
                </a:solidFill>
                <a:latin typeface="Segoe UI"/>
              </a:rPr>
              <a:t>12-13 / 13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389120" y="4553712"/>
            <a:ext cx="15544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</a:pPr>
            <a:r>
              <a:rPr sz="1100" b="1">
                <a:solidFill>
                  <a:srgbClr val="1E293B"/>
                </a:solidFill>
                <a:latin typeface="Segoe UI"/>
              </a:rPr>
              <a:t>large AI
(Claude)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" y="2011680"/>
            <a:ext cx="5303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150" b="1">
                <a:solidFill>
                  <a:srgbClr val="1E293B"/>
                </a:solidFill>
                <a:latin typeface="Segoe UI"/>
              </a:rPr>
              <a:t>Rules right, on a short manual we wrote for the test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583680" y="2011680"/>
            <a:ext cx="4937760" cy="146304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E4E9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583680" y="2011680"/>
            <a:ext cx="68580" cy="146304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6858000" y="2267712"/>
            <a:ext cx="475488" cy="475488"/>
          </a:xfrm>
          <a:prstGeom prst="round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858000" y="2331720"/>
            <a:ext cx="47548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700" b="1">
                <a:solidFill>
                  <a:srgbClr val="FFFFFF"/>
                </a:solidFill>
                <a:latin typeface="Segoe UI"/>
              </a:rPr>
              <a:t>≈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479792" y="2267712"/>
            <a:ext cx="374904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>
                <a:solidFill>
                  <a:srgbClr val="1E293B"/>
                </a:solidFill>
                <a:latin typeface="Segoe UI"/>
              </a:rPr>
              <a:t>On real documents: getting there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876288" y="2926080"/>
            <a:ext cx="433425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200" b="0">
                <a:solidFill>
                  <a:srgbClr val="5B677D"/>
                </a:solidFill>
                <a:latin typeface="Segoe UI"/>
              </a:rPr>
              <a:t>Four regulations it had never seen, answers written down first: 86% of checks right, 5 runs each.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583680" y="3611880"/>
            <a:ext cx="4937760" cy="146304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E4E9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583680" y="3611880"/>
            <a:ext cx="68580" cy="1463040"/>
          </a:xfrm>
          <a:prstGeom prst="rect">
            <a:avLst/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6858000" y="3867912"/>
            <a:ext cx="475488" cy="475488"/>
          </a:xfrm>
          <a:prstGeom prst="roundRect">
            <a:avLst/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858000" y="3931920"/>
            <a:ext cx="47548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700" b="1">
                <a:solidFill>
                  <a:srgbClr val="FFFFFF"/>
                </a:solidFill>
                <a:latin typeface="Segoe UI"/>
              </a:rPr>
              <a:t>!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479792" y="3867912"/>
            <a:ext cx="374904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>
                <a:solidFill>
                  <a:srgbClr val="1E293B"/>
                </a:solidFill>
                <a:latin typeface="Segoe UI"/>
              </a:rPr>
              <a:t>The worst mistake sounded reasonable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876288" y="4526280"/>
            <a:ext cx="433425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200" b="0">
                <a:solidFill>
                  <a:srgbClr val="5B677D"/>
                </a:solidFill>
                <a:latin typeface="Segoe UI"/>
              </a:rPr>
              <a:t>One draft let a power blip cancel real shutdowns. The review flagged it; only a person can judge it.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40080" y="5349240"/>
            <a:ext cx="10908792" cy="868680"/>
          </a:xfrm>
          <a:prstGeom prst="roundRect">
            <a:avLst/>
          </a:prstGeom>
          <a:solidFill>
            <a:srgbClr val="141B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640080" y="5349240"/>
            <a:ext cx="82296" cy="86868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87552" y="5513832"/>
            <a:ext cx="10241280" cy="6309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250" b="1">
                <a:solidFill>
                  <a:srgbClr val="14B8A6"/>
                </a:solidFill>
                <a:latin typeface="Segoe UI"/>
              </a:rPr>
              <a:t>So: a helper, not an author</a:t>
            </a:r>
          </a:p>
          <a:p>
            <a:pPr algn="l">
              <a:lnSpc>
                <a:spcPct val="118000"/>
              </a:lnSpc>
              <a:spcBef>
                <a:spcPts val="500"/>
              </a:spcBef>
            </a:pPr>
            <a:r>
              <a:rPr sz="1250" b="0">
                <a:solidFill>
                  <a:srgbClr val="FFFFFF"/>
                </a:solidFill>
                <a:latin typeface="Segoe UI"/>
              </a:rPr>
              <a:t>Results still vary from run to run. Every rule must quote the manual, and an unapproved draft can never reach a chip.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98448"/>
          </a:xfrm>
          <a:prstGeom prst="rect">
            <a:avLst/>
          </a:prstGeom>
          <a:solidFill>
            <a:srgbClr val="141B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298448"/>
            <a:ext cx="12191695" cy="50292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237744"/>
            <a:ext cx="108813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4B8A6"/>
                </a:solidFill>
                <a:latin typeface="Segoe UI"/>
              </a:rPr>
              <a:t>WHY THIS MATTERS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12064"/>
            <a:ext cx="10881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FFFFFF"/>
                </a:solidFill>
                <a:latin typeface="Segoe UI"/>
              </a:rPr>
              <a:t>AI-drafted, machine-checked, engineer-approved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463040"/>
            <a:ext cx="10881360" cy="475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0">
                <a:solidFill>
                  <a:srgbClr val="5B677D"/>
                </a:solidFill>
                <a:latin typeface="Segoe UI"/>
              </a:rPr>
              <a:t>AI is fast but makes mistakes. quorum's checks catch most of them. A person makes the final call.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B677D"/>
                </a:solidFill>
                <a:latin typeface="Segoe UI"/>
              </a:rPr>
              <a:t>quorum  ·  BioDream LLC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64240" y="6419088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1">
                <a:solidFill>
                  <a:srgbClr val="5B677D"/>
                </a:solidFill>
                <a:latin typeface="Segoe UI"/>
              </a:rPr>
              <a:t>24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2011680"/>
            <a:ext cx="3520440" cy="214884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E4E9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0080" y="2011680"/>
            <a:ext cx="3520440" cy="64008"/>
          </a:xfrm>
          <a:prstGeom prst="rect">
            <a:avLst/>
          </a:prstGeom>
          <a:solidFill>
            <a:srgbClr val="6C4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868680" y="2240280"/>
            <a:ext cx="548640" cy="548640"/>
          </a:xfrm>
          <a:prstGeom prst="ellipse">
            <a:avLst/>
          </a:prstGeom>
          <a:solidFill>
            <a:srgbClr val="6C4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/>
            <a:r>
              <a:rPr sz="1800" b="1">
                <a:solidFill>
                  <a:srgbClr val="FFFFFF"/>
                </a:solidFill>
                <a:latin typeface="Segoe UI"/>
              </a:rPr>
              <a:t>1</a:t>
            </a:r>
          </a:p>
        </p:txBody>
      </p:sp>
      <p:sp>
        <p:nvSpPr>
          <p:cNvPr id="13" name="Folded Corner 12"/>
          <p:cNvSpPr/>
          <p:nvPr/>
        </p:nvSpPr>
        <p:spPr>
          <a:xfrm>
            <a:off x="3346704" y="2185416"/>
            <a:ext cx="438912" cy="603504"/>
          </a:xfrm>
          <a:prstGeom prst="foldedCorner">
            <a:avLst/>
          </a:prstGeom>
          <a:solidFill>
            <a:srgbClr val="FFFFFF"/>
          </a:solidFill>
          <a:ln w="25400">
            <a:solidFill>
              <a:srgbClr val="6C4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429000" y="2313432"/>
            <a:ext cx="274320" cy="36576"/>
          </a:xfrm>
          <a:prstGeom prst="rect">
            <a:avLst/>
          </a:prstGeom>
          <a:solidFill>
            <a:srgbClr val="6C4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429000" y="2423160"/>
            <a:ext cx="274320" cy="36576"/>
          </a:xfrm>
          <a:prstGeom prst="rect">
            <a:avLst/>
          </a:prstGeom>
          <a:solidFill>
            <a:srgbClr val="6C4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429000" y="2532888"/>
            <a:ext cx="274320" cy="36576"/>
          </a:xfrm>
          <a:prstGeom prst="rect">
            <a:avLst/>
          </a:prstGeom>
          <a:solidFill>
            <a:srgbClr val="6C4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429000" y="2642616"/>
            <a:ext cx="274320" cy="36576"/>
          </a:xfrm>
          <a:prstGeom prst="rect">
            <a:avLst/>
          </a:prstGeom>
          <a:solidFill>
            <a:srgbClr val="6C4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68680" y="2926080"/>
            <a:ext cx="3108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500" b="1">
                <a:solidFill>
                  <a:srgbClr val="1E293B"/>
                </a:solidFill>
                <a:latin typeface="Segoe UI"/>
              </a:rPr>
              <a:t>AI drafts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" y="3310128"/>
            <a:ext cx="310896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5B677D"/>
                </a:solidFill>
                <a:latin typeface="Segoe UI"/>
              </a:rPr>
              <a:t>Reads the manual and writes every rule, each with the exact sentence it came from. Minutes, not weeks.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4187952" y="3154680"/>
            <a:ext cx="137160" cy="0"/>
          </a:xfrm>
          <a:prstGeom prst="line">
            <a:avLst/>
          </a:prstGeom>
          <a:ln w="28575">
            <a:solidFill>
              <a:srgbClr val="94A3B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ounded Rectangle 20"/>
          <p:cNvSpPr/>
          <p:nvPr/>
        </p:nvSpPr>
        <p:spPr>
          <a:xfrm>
            <a:off x="4343400" y="2011680"/>
            <a:ext cx="3520440" cy="214884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E4E9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343400" y="2011680"/>
            <a:ext cx="3520440" cy="64008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4572000" y="2240280"/>
            <a:ext cx="548640" cy="548640"/>
          </a:xfrm>
          <a:prstGeom prst="ellipse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/>
            <a:r>
              <a:rPr sz="1800" b="1">
                <a:solidFill>
                  <a:srgbClr val="FFFFFF"/>
                </a:solidFill>
                <a:latin typeface="Segoe UI"/>
              </a:rPr>
              <a:t>2</a:t>
            </a:r>
          </a:p>
        </p:txBody>
      </p:sp>
      <p:sp>
        <p:nvSpPr>
          <p:cNvPr id="24" name="Gear 6 23"/>
          <p:cNvSpPr/>
          <p:nvPr/>
        </p:nvSpPr>
        <p:spPr>
          <a:xfrm>
            <a:off x="6976872" y="2221992"/>
            <a:ext cx="585216" cy="585216"/>
          </a:xfrm>
          <a:prstGeom prst="gear6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7178040" y="2423160"/>
            <a:ext cx="182880" cy="18288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572000" y="2926080"/>
            <a:ext cx="3108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500" b="1">
                <a:solidFill>
                  <a:srgbClr val="1E293B"/>
                </a:solidFill>
                <a:latin typeface="Segoe UI"/>
              </a:rPr>
              <a:t>quorum checks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572000" y="3310128"/>
            <a:ext cx="310896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5B677D"/>
                </a:solidFill>
                <a:latin typeface="Segoe UI"/>
              </a:rPr>
              <a:t>Throws out any rule that misquotes the manual, sends every refusal back to the AI to fix, and checks every possible situation.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7891272" y="3154680"/>
            <a:ext cx="137160" cy="0"/>
          </a:xfrm>
          <a:prstGeom prst="line">
            <a:avLst/>
          </a:prstGeom>
          <a:ln w="28575">
            <a:solidFill>
              <a:srgbClr val="94A3B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Rounded Rectangle 28"/>
          <p:cNvSpPr/>
          <p:nvPr/>
        </p:nvSpPr>
        <p:spPr>
          <a:xfrm>
            <a:off x="8046719" y="2011680"/>
            <a:ext cx="3520440" cy="214884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E4E9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8046719" y="2011680"/>
            <a:ext cx="3520440" cy="6400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8275319" y="2240280"/>
            <a:ext cx="548640" cy="54864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/>
            <a:r>
              <a:rPr sz="1800" b="1">
                <a:solidFill>
                  <a:srgbClr val="FFFFFF"/>
                </a:solidFill>
                <a:latin typeface="Segoe UI"/>
              </a:rPr>
              <a:t>3</a:t>
            </a:r>
          </a:p>
        </p:txBody>
      </p:sp>
      <p:sp>
        <p:nvSpPr>
          <p:cNvPr id="32" name="Off-page Connector 31"/>
          <p:cNvSpPr/>
          <p:nvPr/>
        </p:nvSpPr>
        <p:spPr>
          <a:xfrm>
            <a:off x="10716767" y="2203704"/>
            <a:ext cx="512064" cy="621792"/>
          </a:xfrm>
          <a:prstGeom prst="flowChartOffpageConnector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0716767" y="2331720"/>
            <a:ext cx="51206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</a:pPr>
            <a:r>
              <a:rPr sz="2000" b="1">
                <a:solidFill>
                  <a:srgbClr val="FFFFFF"/>
                </a:solidFill>
                <a:latin typeface="Segoe UI"/>
              </a:rPr>
              <a:t>✓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275319" y="2926080"/>
            <a:ext cx="3108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500" b="1">
                <a:solidFill>
                  <a:srgbClr val="1E293B"/>
                </a:solidFill>
                <a:latin typeface="Segoe UI"/>
              </a:rPr>
              <a:t>An engineer approves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275319" y="3310128"/>
            <a:ext cx="310896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5B677D"/>
                </a:solidFill>
                <a:latin typeface="Segoe UI"/>
              </a:rPr>
              <a:t>Reviews a short list of flagged items instead of writing from scratch. Nothing reaches a chip without this.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640080" y="4297680"/>
            <a:ext cx="5440680" cy="141732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E4E9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640080" y="4297680"/>
            <a:ext cx="68580" cy="1417320"/>
          </a:xfrm>
          <a:prstGeom prst="rect">
            <a:avLst/>
          </a:prstGeom>
          <a:solidFill>
            <a:srgbClr val="22A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Rounded Rectangle 37"/>
          <p:cNvSpPr/>
          <p:nvPr/>
        </p:nvSpPr>
        <p:spPr>
          <a:xfrm>
            <a:off x="914400" y="4553712"/>
            <a:ext cx="475488" cy="475488"/>
          </a:xfrm>
          <a:prstGeom prst="roundRect">
            <a:avLst/>
          </a:prstGeom>
          <a:solidFill>
            <a:srgbClr val="22A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914400" y="4617720"/>
            <a:ext cx="47548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700" b="1">
                <a:solidFill>
                  <a:srgbClr val="FFFFFF"/>
                </a:solidFill>
                <a:latin typeface="Segoe UI"/>
              </a:rPr>
              <a:t>✓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536192" y="4553712"/>
            <a:ext cx="425196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>
                <a:solidFill>
                  <a:srgbClr val="1E293B"/>
                </a:solidFill>
                <a:latin typeface="Segoe UI"/>
              </a:rPr>
              <a:t>What the checks guarantee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32688" y="5212080"/>
            <a:ext cx="4837176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200" b="0">
                <a:solidFill>
                  <a:srgbClr val="5B677D"/>
                </a:solidFill>
                <a:latin typeface="Segoe UI"/>
              </a:rPr>
              <a:t>Every rule traces to the manual, every situation gets exactly one answer, nothing contradicts itself.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6263640" y="4297680"/>
            <a:ext cx="5303520" cy="141732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E4E9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6263640" y="4297680"/>
            <a:ext cx="68580" cy="1417320"/>
          </a:xfrm>
          <a:prstGeom prst="rect">
            <a:avLst/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4" name="Rounded Rectangle 43"/>
          <p:cNvSpPr/>
          <p:nvPr/>
        </p:nvSpPr>
        <p:spPr>
          <a:xfrm>
            <a:off x="6537960" y="4553712"/>
            <a:ext cx="475488" cy="475488"/>
          </a:xfrm>
          <a:prstGeom prst="roundRect">
            <a:avLst/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537960" y="4617720"/>
            <a:ext cx="47548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700" b="1">
                <a:solidFill>
                  <a:srgbClr val="FFFFFF"/>
                </a:solidFill>
                <a:latin typeface="Segoe UI"/>
              </a:rPr>
              <a:t>!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159752" y="4553712"/>
            <a:ext cx="411480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>
                <a:solidFill>
                  <a:srgbClr val="1E293B"/>
                </a:solidFill>
                <a:latin typeface="Segoe UI"/>
              </a:rPr>
              <a:t>What they cannot guarantee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556248" y="5212080"/>
            <a:ext cx="4700016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200" b="0">
                <a:solidFill>
                  <a:srgbClr val="5B677D"/>
                </a:solidFill>
                <a:latin typeface="Segoe UI"/>
              </a:rPr>
              <a:t>That a rule means what the manual meant. A tidy but wrong rule still needs the engineer.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640080" y="5852160"/>
            <a:ext cx="10908792" cy="457200"/>
          </a:xfrm>
          <a:prstGeom prst="roundRect">
            <a:avLst/>
          </a:prstGeom>
          <a:solidFill>
            <a:srgbClr val="141B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640080" y="5852160"/>
            <a:ext cx="82296" cy="4572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987552" y="6016752"/>
            <a:ext cx="1024128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250" b="0">
                <a:solidFill>
                  <a:srgbClr val="FFFFFF"/>
                </a:solidFill>
                <a:latin typeface="Segoe UI"/>
              </a:rPr>
              <a:t>The AI never has the last word. That is what lets it near a machine.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98448"/>
          </a:xfrm>
          <a:prstGeom prst="rect">
            <a:avLst/>
          </a:prstGeom>
          <a:solidFill>
            <a:srgbClr val="141B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298448"/>
            <a:ext cx="12191695" cy="50292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237744"/>
            <a:ext cx="108813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4B8A6"/>
                </a:solidFill>
                <a:latin typeface="Segoe UI"/>
              </a:rPr>
              <a:t>WHY IT'S DIFFERENT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12064"/>
            <a:ext cx="10881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FFFFFF"/>
                </a:solidFill>
                <a:latin typeface="Segoe UI"/>
              </a:rPr>
              <a:t>What other approaches can't do all at once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463040"/>
            <a:ext cx="10881360" cy="475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0">
                <a:solidFill>
                  <a:srgbClr val="5B677D"/>
                </a:solidFill>
                <a:latin typeface="Segoe UI"/>
              </a:rPr>
              <a:t>A fair comparison: each alternative does some of this well. Doing all of it together is the unusual part.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B677D"/>
                </a:solidFill>
                <a:latin typeface="Segoe UI"/>
              </a:rPr>
              <a:t>quorum  ·  BioDream LLC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64240" y="6419088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1">
                <a:solidFill>
                  <a:srgbClr val="5B677D"/>
                </a:solidFill>
                <a:latin typeface="Segoe UI"/>
              </a:rPr>
              <a:t>25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931920" y="2011680"/>
            <a:ext cx="1920240" cy="566928"/>
          </a:xfrm>
          <a:prstGeom prst="round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/>
            <a:r>
              <a:rPr sz="1100" b="1">
                <a:solidFill>
                  <a:srgbClr val="FFFFFF"/>
                </a:solidFill>
                <a:latin typeface="Segoe UI"/>
              </a:rPr>
              <a:t>Simple alarm</a:t>
            </a:r>
          </a:p>
          <a:p>
            <a:pPr algn="ctr"/>
            <a:r>
              <a:rPr sz="1100" b="1">
                <a:solidFill>
                  <a:srgbClr val="FFFFFF"/>
                </a:solidFill>
                <a:latin typeface="Segoe UI"/>
              </a:rPr>
              <a:t>thresholds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943600" y="2011680"/>
            <a:ext cx="1920240" cy="566928"/>
          </a:xfrm>
          <a:prstGeom prst="round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/>
            <a:r>
              <a:rPr sz="1100" b="1">
                <a:solidFill>
                  <a:srgbClr val="FFFFFF"/>
                </a:solidFill>
                <a:latin typeface="Segoe UI"/>
              </a:rPr>
              <a:t>AI / machine-</a:t>
            </a:r>
          </a:p>
          <a:p>
            <a:pPr algn="ctr"/>
            <a:r>
              <a:rPr sz="1100" b="1">
                <a:solidFill>
                  <a:srgbClr val="FFFFFF"/>
                </a:solidFill>
                <a:latin typeface="Segoe UI"/>
              </a:rPr>
              <a:t>learning model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955280" y="2011680"/>
            <a:ext cx="1920240" cy="566928"/>
          </a:xfrm>
          <a:prstGeom prst="round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/>
            <a:r>
              <a:rPr sz="1100" b="1">
                <a:solidFill>
                  <a:srgbClr val="FFFFFF"/>
                </a:solidFill>
                <a:latin typeface="Segoe UI"/>
              </a:rPr>
              <a:t>Classic rules</a:t>
            </a:r>
          </a:p>
          <a:p>
            <a:pPr algn="ctr"/>
            <a:r>
              <a:rPr sz="1100" b="1">
                <a:solidFill>
                  <a:srgbClr val="FFFFFF"/>
                </a:solidFill>
                <a:latin typeface="Segoe UI"/>
              </a:rPr>
              <a:t>engine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966960" y="2011680"/>
            <a:ext cx="1920240" cy="566928"/>
          </a:xfrm>
          <a:prstGeom prst="round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/>
            <a:r>
              <a:rPr sz="1100" b="1">
                <a:solidFill>
                  <a:srgbClr val="FFFFFF"/>
                </a:solidFill>
                <a:latin typeface="Segoe UI"/>
              </a:rPr>
              <a:t>quorum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22960" y="2670048"/>
            <a:ext cx="10972800" cy="448056"/>
          </a:xfrm>
          <a:prstGeom prst="rect">
            <a:avLst/>
          </a:prstGeom>
          <a:solidFill>
            <a:srgbClr val="E4E9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60120" y="2779776"/>
            <a:ext cx="2926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200" b="1">
                <a:solidFill>
                  <a:srgbClr val="1E293B"/>
                </a:solidFill>
                <a:latin typeface="Segoe UI"/>
              </a:rPr>
              <a:t>Says why it decided</a:t>
            </a:r>
          </a:p>
        </p:txBody>
      </p:sp>
      <p:sp>
        <p:nvSpPr>
          <p:cNvPr id="16" name="Oval 15"/>
          <p:cNvSpPr/>
          <p:nvPr/>
        </p:nvSpPr>
        <p:spPr>
          <a:xfrm>
            <a:off x="4754880" y="2715768"/>
            <a:ext cx="347472" cy="347472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/>
            <a:r>
              <a:rPr sz="1600" b="1">
                <a:solidFill>
                  <a:srgbClr val="FFFFFF"/>
                </a:solidFill>
                <a:latin typeface="Segoe UI"/>
              </a:rPr>
              <a:t>~</a:t>
            </a:r>
          </a:p>
        </p:txBody>
      </p:sp>
      <p:sp>
        <p:nvSpPr>
          <p:cNvPr id="17" name="Oval 16"/>
          <p:cNvSpPr/>
          <p:nvPr/>
        </p:nvSpPr>
        <p:spPr>
          <a:xfrm>
            <a:off x="6766560" y="2715768"/>
            <a:ext cx="347472" cy="347472"/>
          </a:xfrm>
          <a:prstGeom prst="ellipse">
            <a:avLst/>
          </a:prstGeom>
          <a:solidFill>
            <a:srgbClr val="94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/>
            <a:r>
              <a:rPr sz="1300" b="1">
                <a:solidFill>
                  <a:srgbClr val="FFFFFF"/>
                </a:solidFill>
                <a:latin typeface="Segoe UI"/>
              </a:rPr>
              <a:t>✕</a:t>
            </a:r>
          </a:p>
        </p:txBody>
      </p:sp>
      <p:sp>
        <p:nvSpPr>
          <p:cNvPr id="18" name="Oval 17"/>
          <p:cNvSpPr/>
          <p:nvPr/>
        </p:nvSpPr>
        <p:spPr>
          <a:xfrm>
            <a:off x="8778240" y="2715768"/>
            <a:ext cx="347472" cy="347472"/>
          </a:xfrm>
          <a:prstGeom prst="ellipse">
            <a:avLst/>
          </a:prstGeom>
          <a:solidFill>
            <a:srgbClr val="22A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/>
            <a:r>
              <a:rPr sz="1500" b="1">
                <a:solidFill>
                  <a:srgbClr val="FFFFFF"/>
                </a:solidFill>
                <a:latin typeface="Segoe UI"/>
              </a:rPr>
              <a:t>✓</a:t>
            </a:r>
          </a:p>
        </p:txBody>
      </p:sp>
      <p:sp>
        <p:nvSpPr>
          <p:cNvPr id="19" name="Oval 18"/>
          <p:cNvSpPr/>
          <p:nvPr/>
        </p:nvSpPr>
        <p:spPr>
          <a:xfrm>
            <a:off x="10789920" y="2715768"/>
            <a:ext cx="347472" cy="347472"/>
          </a:xfrm>
          <a:prstGeom prst="ellipse">
            <a:avLst/>
          </a:prstGeom>
          <a:solidFill>
            <a:srgbClr val="22A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/>
            <a:r>
              <a:rPr sz="1500" b="1">
                <a:solidFill>
                  <a:srgbClr val="FFFFFF"/>
                </a:solidFill>
                <a:latin typeface="Segoe UI"/>
              </a:rPr>
              <a:t>✓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22960" y="3172968"/>
            <a:ext cx="10972800" cy="44805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60120" y="3282696"/>
            <a:ext cx="2926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200" b="1">
                <a:solidFill>
                  <a:srgbClr val="1E293B"/>
                </a:solidFill>
                <a:latin typeface="Segoe UI"/>
              </a:rPr>
              <a:t>Says what it had to assume</a:t>
            </a:r>
          </a:p>
        </p:txBody>
      </p:sp>
      <p:sp>
        <p:nvSpPr>
          <p:cNvPr id="22" name="Oval 21"/>
          <p:cNvSpPr/>
          <p:nvPr/>
        </p:nvSpPr>
        <p:spPr>
          <a:xfrm>
            <a:off x="4754880" y="3218688"/>
            <a:ext cx="347472" cy="347472"/>
          </a:xfrm>
          <a:prstGeom prst="ellipse">
            <a:avLst/>
          </a:prstGeom>
          <a:solidFill>
            <a:srgbClr val="94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/>
            <a:r>
              <a:rPr sz="1300" b="1">
                <a:solidFill>
                  <a:srgbClr val="FFFFFF"/>
                </a:solidFill>
                <a:latin typeface="Segoe UI"/>
              </a:rPr>
              <a:t>✕</a:t>
            </a:r>
          </a:p>
        </p:txBody>
      </p:sp>
      <p:sp>
        <p:nvSpPr>
          <p:cNvPr id="23" name="Oval 22"/>
          <p:cNvSpPr/>
          <p:nvPr/>
        </p:nvSpPr>
        <p:spPr>
          <a:xfrm>
            <a:off x="6766560" y="3218688"/>
            <a:ext cx="347472" cy="347472"/>
          </a:xfrm>
          <a:prstGeom prst="ellipse">
            <a:avLst/>
          </a:prstGeom>
          <a:solidFill>
            <a:srgbClr val="94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/>
            <a:r>
              <a:rPr sz="1300" b="1">
                <a:solidFill>
                  <a:srgbClr val="FFFFFF"/>
                </a:solidFill>
                <a:latin typeface="Segoe UI"/>
              </a:rPr>
              <a:t>✕</a:t>
            </a:r>
          </a:p>
        </p:txBody>
      </p:sp>
      <p:sp>
        <p:nvSpPr>
          <p:cNvPr id="24" name="Oval 23"/>
          <p:cNvSpPr/>
          <p:nvPr/>
        </p:nvSpPr>
        <p:spPr>
          <a:xfrm>
            <a:off x="8778240" y="3218688"/>
            <a:ext cx="347472" cy="347472"/>
          </a:xfrm>
          <a:prstGeom prst="ellipse">
            <a:avLst/>
          </a:prstGeom>
          <a:solidFill>
            <a:srgbClr val="94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/>
            <a:r>
              <a:rPr sz="1300" b="1">
                <a:solidFill>
                  <a:srgbClr val="FFFFFF"/>
                </a:solidFill>
                <a:latin typeface="Segoe UI"/>
              </a:rPr>
              <a:t>✕</a:t>
            </a:r>
          </a:p>
        </p:txBody>
      </p:sp>
      <p:sp>
        <p:nvSpPr>
          <p:cNvPr id="25" name="Oval 24"/>
          <p:cNvSpPr/>
          <p:nvPr/>
        </p:nvSpPr>
        <p:spPr>
          <a:xfrm>
            <a:off x="10789920" y="3218688"/>
            <a:ext cx="347472" cy="347472"/>
          </a:xfrm>
          <a:prstGeom prst="ellipse">
            <a:avLst/>
          </a:prstGeom>
          <a:solidFill>
            <a:srgbClr val="22A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/>
            <a:r>
              <a:rPr sz="1500" b="1">
                <a:solidFill>
                  <a:srgbClr val="FFFFFF"/>
                </a:solidFill>
                <a:latin typeface="Segoe UI"/>
              </a:rPr>
              <a:t>✓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22960" y="3675888"/>
            <a:ext cx="10972800" cy="448056"/>
          </a:xfrm>
          <a:prstGeom prst="rect">
            <a:avLst/>
          </a:prstGeom>
          <a:solidFill>
            <a:srgbClr val="E4E9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60120" y="3785616"/>
            <a:ext cx="2926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200" b="1">
                <a:solidFill>
                  <a:srgbClr val="1E293B"/>
                </a:solidFill>
                <a:latin typeface="Segoe UI"/>
              </a:rPr>
              <a:t>Checked against every case first</a:t>
            </a:r>
          </a:p>
        </p:txBody>
      </p:sp>
      <p:sp>
        <p:nvSpPr>
          <p:cNvPr id="28" name="Oval 27"/>
          <p:cNvSpPr/>
          <p:nvPr/>
        </p:nvSpPr>
        <p:spPr>
          <a:xfrm>
            <a:off x="4754880" y="3721608"/>
            <a:ext cx="347472" cy="347472"/>
          </a:xfrm>
          <a:prstGeom prst="ellipse">
            <a:avLst/>
          </a:prstGeom>
          <a:solidFill>
            <a:srgbClr val="94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/>
            <a:r>
              <a:rPr sz="1300" b="1">
                <a:solidFill>
                  <a:srgbClr val="FFFFFF"/>
                </a:solidFill>
                <a:latin typeface="Segoe UI"/>
              </a:rPr>
              <a:t>✕</a:t>
            </a:r>
          </a:p>
        </p:txBody>
      </p:sp>
      <p:sp>
        <p:nvSpPr>
          <p:cNvPr id="29" name="Oval 28"/>
          <p:cNvSpPr/>
          <p:nvPr/>
        </p:nvSpPr>
        <p:spPr>
          <a:xfrm>
            <a:off x="6766560" y="3721608"/>
            <a:ext cx="347472" cy="347472"/>
          </a:xfrm>
          <a:prstGeom prst="ellipse">
            <a:avLst/>
          </a:prstGeom>
          <a:solidFill>
            <a:srgbClr val="94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/>
            <a:r>
              <a:rPr sz="1300" b="1">
                <a:solidFill>
                  <a:srgbClr val="FFFFFF"/>
                </a:solidFill>
                <a:latin typeface="Segoe UI"/>
              </a:rPr>
              <a:t>✕</a:t>
            </a:r>
          </a:p>
        </p:txBody>
      </p:sp>
      <p:sp>
        <p:nvSpPr>
          <p:cNvPr id="30" name="Oval 29"/>
          <p:cNvSpPr/>
          <p:nvPr/>
        </p:nvSpPr>
        <p:spPr>
          <a:xfrm>
            <a:off x="8778240" y="3721608"/>
            <a:ext cx="347472" cy="347472"/>
          </a:xfrm>
          <a:prstGeom prst="ellipse">
            <a:avLst/>
          </a:prstGeom>
          <a:solidFill>
            <a:srgbClr val="94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/>
            <a:r>
              <a:rPr sz="1300" b="1">
                <a:solidFill>
                  <a:srgbClr val="FFFFFF"/>
                </a:solidFill>
                <a:latin typeface="Segoe UI"/>
              </a:rPr>
              <a:t>✕</a:t>
            </a:r>
          </a:p>
        </p:txBody>
      </p:sp>
      <p:sp>
        <p:nvSpPr>
          <p:cNvPr id="31" name="Oval 30"/>
          <p:cNvSpPr/>
          <p:nvPr/>
        </p:nvSpPr>
        <p:spPr>
          <a:xfrm>
            <a:off x="10789920" y="3721608"/>
            <a:ext cx="347472" cy="347472"/>
          </a:xfrm>
          <a:prstGeom prst="ellipse">
            <a:avLst/>
          </a:prstGeom>
          <a:solidFill>
            <a:srgbClr val="22A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/>
            <a:r>
              <a:rPr sz="1500" b="1">
                <a:solidFill>
                  <a:srgbClr val="FFFFFF"/>
                </a:solidFill>
                <a:latin typeface="Segoe UI"/>
              </a:rPr>
              <a:t>✓</a:t>
            </a:r>
          </a:p>
        </p:txBody>
      </p:sp>
      <p:sp>
        <p:nvSpPr>
          <p:cNvPr id="32" name="Rectangle 31"/>
          <p:cNvSpPr/>
          <p:nvPr/>
        </p:nvSpPr>
        <p:spPr>
          <a:xfrm>
            <a:off x="822960" y="4178808"/>
            <a:ext cx="10972800" cy="44805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60120" y="4288536"/>
            <a:ext cx="2926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200" b="1">
                <a:solidFill>
                  <a:srgbClr val="1E293B"/>
                </a:solidFill>
                <a:latin typeface="Segoe UI"/>
              </a:rPr>
              <a:t>Proven time limit</a:t>
            </a:r>
          </a:p>
        </p:txBody>
      </p:sp>
      <p:sp>
        <p:nvSpPr>
          <p:cNvPr id="34" name="Oval 33"/>
          <p:cNvSpPr/>
          <p:nvPr/>
        </p:nvSpPr>
        <p:spPr>
          <a:xfrm>
            <a:off x="4754880" y="4224528"/>
            <a:ext cx="347472" cy="347472"/>
          </a:xfrm>
          <a:prstGeom prst="ellipse">
            <a:avLst/>
          </a:prstGeom>
          <a:solidFill>
            <a:srgbClr val="22A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/>
            <a:r>
              <a:rPr sz="1500" b="1">
                <a:solidFill>
                  <a:srgbClr val="FFFFFF"/>
                </a:solidFill>
                <a:latin typeface="Segoe UI"/>
              </a:rPr>
              <a:t>✓</a:t>
            </a:r>
          </a:p>
        </p:txBody>
      </p:sp>
      <p:sp>
        <p:nvSpPr>
          <p:cNvPr id="35" name="Oval 34"/>
          <p:cNvSpPr/>
          <p:nvPr/>
        </p:nvSpPr>
        <p:spPr>
          <a:xfrm>
            <a:off x="6766560" y="4224528"/>
            <a:ext cx="347472" cy="347472"/>
          </a:xfrm>
          <a:prstGeom prst="ellipse">
            <a:avLst/>
          </a:prstGeom>
          <a:solidFill>
            <a:srgbClr val="22A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/>
            <a:r>
              <a:rPr sz="1500" b="1">
                <a:solidFill>
                  <a:srgbClr val="FFFFFF"/>
                </a:solidFill>
                <a:latin typeface="Segoe UI"/>
              </a:rPr>
              <a:t>✓</a:t>
            </a:r>
          </a:p>
        </p:txBody>
      </p:sp>
      <p:sp>
        <p:nvSpPr>
          <p:cNvPr id="36" name="Oval 35"/>
          <p:cNvSpPr/>
          <p:nvPr/>
        </p:nvSpPr>
        <p:spPr>
          <a:xfrm>
            <a:off x="8778240" y="4224528"/>
            <a:ext cx="347472" cy="347472"/>
          </a:xfrm>
          <a:prstGeom prst="ellipse">
            <a:avLst/>
          </a:prstGeom>
          <a:solidFill>
            <a:srgbClr val="94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/>
            <a:r>
              <a:rPr sz="1300" b="1">
                <a:solidFill>
                  <a:srgbClr val="FFFFFF"/>
                </a:solidFill>
                <a:latin typeface="Segoe UI"/>
              </a:rPr>
              <a:t>✕</a:t>
            </a:r>
          </a:p>
        </p:txBody>
      </p:sp>
      <p:sp>
        <p:nvSpPr>
          <p:cNvPr id="37" name="Oval 36"/>
          <p:cNvSpPr/>
          <p:nvPr/>
        </p:nvSpPr>
        <p:spPr>
          <a:xfrm>
            <a:off x="10789920" y="4224528"/>
            <a:ext cx="347472" cy="347472"/>
          </a:xfrm>
          <a:prstGeom prst="ellipse">
            <a:avLst/>
          </a:prstGeom>
          <a:solidFill>
            <a:srgbClr val="22A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/>
            <a:r>
              <a:rPr sz="1500" b="1">
                <a:solidFill>
                  <a:srgbClr val="FFFFFF"/>
                </a:solidFill>
                <a:latin typeface="Segoe UI"/>
              </a:rPr>
              <a:t>✓</a:t>
            </a:r>
          </a:p>
        </p:txBody>
      </p:sp>
      <p:sp>
        <p:nvSpPr>
          <p:cNvPr id="38" name="Rectangle 37"/>
          <p:cNvSpPr/>
          <p:nvPr/>
        </p:nvSpPr>
        <p:spPr>
          <a:xfrm>
            <a:off x="822960" y="4681728"/>
            <a:ext cx="10972800" cy="448056"/>
          </a:xfrm>
          <a:prstGeom prst="rect">
            <a:avLst/>
          </a:prstGeom>
          <a:solidFill>
            <a:srgbClr val="E4E9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960120" y="4791456"/>
            <a:ext cx="2926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200" b="1">
                <a:solidFill>
                  <a:srgbClr val="1E293B"/>
                </a:solidFill>
                <a:latin typeface="Segoe UI"/>
              </a:rPr>
              <a:t>Fits a very small chip</a:t>
            </a:r>
          </a:p>
        </p:txBody>
      </p:sp>
      <p:sp>
        <p:nvSpPr>
          <p:cNvPr id="40" name="Oval 39"/>
          <p:cNvSpPr/>
          <p:nvPr/>
        </p:nvSpPr>
        <p:spPr>
          <a:xfrm>
            <a:off x="4754880" y="4727448"/>
            <a:ext cx="347472" cy="347472"/>
          </a:xfrm>
          <a:prstGeom prst="ellipse">
            <a:avLst/>
          </a:prstGeom>
          <a:solidFill>
            <a:srgbClr val="22A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/>
            <a:r>
              <a:rPr sz="1500" b="1">
                <a:solidFill>
                  <a:srgbClr val="FFFFFF"/>
                </a:solidFill>
                <a:latin typeface="Segoe UI"/>
              </a:rPr>
              <a:t>✓</a:t>
            </a:r>
          </a:p>
        </p:txBody>
      </p:sp>
      <p:sp>
        <p:nvSpPr>
          <p:cNvPr id="41" name="Oval 40"/>
          <p:cNvSpPr/>
          <p:nvPr/>
        </p:nvSpPr>
        <p:spPr>
          <a:xfrm>
            <a:off x="6766560" y="4727448"/>
            <a:ext cx="347472" cy="347472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/>
            <a:r>
              <a:rPr sz="1600" b="1">
                <a:solidFill>
                  <a:srgbClr val="FFFFFF"/>
                </a:solidFill>
                <a:latin typeface="Segoe UI"/>
              </a:rPr>
              <a:t>~</a:t>
            </a:r>
          </a:p>
        </p:txBody>
      </p:sp>
      <p:sp>
        <p:nvSpPr>
          <p:cNvPr id="42" name="Oval 41"/>
          <p:cNvSpPr/>
          <p:nvPr/>
        </p:nvSpPr>
        <p:spPr>
          <a:xfrm>
            <a:off x="8778240" y="4727448"/>
            <a:ext cx="347472" cy="347472"/>
          </a:xfrm>
          <a:prstGeom prst="ellipse">
            <a:avLst/>
          </a:prstGeom>
          <a:solidFill>
            <a:srgbClr val="94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/>
            <a:r>
              <a:rPr sz="1300" b="1">
                <a:solidFill>
                  <a:srgbClr val="FFFFFF"/>
                </a:solidFill>
                <a:latin typeface="Segoe UI"/>
              </a:rPr>
              <a:t>✕</a:t>
            </a:r>
          </a:p>
        </p:txBody>
      </p:sp>
      <p:sp>
        <p:nvSpPr>
          <p:cNvPr id="43" name="Oval 42"/>
          <p:cNvSpPr/>
          <p:nvPr/>
        </p:nvSpPr>
        <p:spPr>
          <a:xfrm>
            <a:off x="10789920" y="4727448"/>
            <a:ext cx="347472" cy="347472"/>
          </a:xfrm>
          <a:prstGeom prst="ellipse">
            <a:avLst/>
          </a:prstGeom>
          <a:solidFill>
            <a:srgbClr val="22A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/>
            <a:r>
              <a:rPr sz="1500" b="1">
                <a:solidFill>
                  <a:srgbClr val="FFFFFF"/>
                </a:solidFill>
                <a:latin typeface="Segoe UI"/>
              </a:rPr>
              <a:t>✓</a:t>
            </a:r>
          </a:p>
        </p:txBody>
      </p:sp>
      <p:sp>
        <p:nvSpPr>
          <p:cNvPr id="44" name="Rectangle 43"/>
          <p:cNvSpPr/>
          <p:nvPr/>
        </p:nvSpPr>
        <p:spPr>
          <a:xfrm>
            <a:off x="822960" y="5184648"/>
            <a:ext cx="10972800" cy="44805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960120" y="5294376"/>
            <a:ext cx="2926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200" b="1">
                <a:solidFill>
                  <a:srgbClr val="1E293B"/>
                </a:solidFill>
                <a:latin typeface="Segoe UI"/>
              </a:rPr>
              <a:t>Learns from data</a:t>
            </a:r>
          </a:p>
        </p:txBody>
      </p:sp>
      <p:sp>
        <p:nvSpPr>
          <p:cNvPr id="46" name="Oval 45"/>
          <p:cNvSpPr/>
          <p:nvPr/>
        </p:nvSpPr>
        <p:spPr>
          <a:xfrm>
            <a:off x="4754880" y="5230368"/>
            <a:ext cx="347472" cy="347472"/>
          </a:xfrm>
          <a:prstGeom prst="ellipse">
            <a:avLst/>
          </a:prstGeom>
          <a:solidFill>
            <a:srgbClr val="94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/>
            <a:r>
              <a:rPr sz="1300" b="1">
                <a:solidFill>
                  <a:srgbClr val="FFFFFF"/>
                </a:solidFill>
                <a:latin typeface="Segoe UI"/>
              </a:rPr>
              <a:t>✕</a:t>
            </a:r>
          </a:p>
        </p:txBody>
      </p:sp>
      <p:sp>
        <p:nvSpPr>
          <p:cNvPr id="47" name="Oval 46"/>
          <p:cNvSpPr/>
          <p:nvPr/>
        </p:nvSpPr>
        <p:spPr>
          <a:xfrm>
            <a:off x="6766560" y="5230368"/>
            <a:ext cx="347472" cy="347472"/>
          </a:xfrm>
          <a:prstGeom prst="ellipse">
            <a:avLst/>
          </a:prstGeom>
          <a:solidFill>
            <a:srgbClr val="22A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/>
            <a:r>
              <a:rPr sz="1500" b="1">
                <a:solidFill>
                  <a:srgbClr val="FFFFFF"/>
                </a:solidFill>
                <a:latin typeface="Segoe UI"/>
              </a:rPr>
              <a:t>✓</a:t>
            </a:r>
          </a:p>
        </p:txBody>
      </p:sp>
      <p:sp>
        <p:nvSpPr>
          <p:cNvPr id="48" name="Oval 47"/>
          <p:cNvSpPr/>
          <p:nvPr/>
        </p:nvSpPr>
        <p:spPr>
          <a:xfrm>
            <a:off x="8778240" y="5230368"/>
            <a:ext cx="347472" cy="347472"/>
          </a:xfrm>
          <a:prstGeom prst="ellipse">
            <a:avLst/>
          </a:prstGeom>
          <a:solidFill>
            <a:srgbClr val="94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/>
            <a:r>
              <a:rPr sz="1300" b="1">
                <a:solidFill>
                  <a:srgbClr val="FFFFFF"/>
                </a:solidFill>
                <a:latin typeface="Segoe UI"/>
              </a:rPr>
              <a:t>✕</a:t>
            </a:r>
          </a:p>
        </p:txBody>
      </p:sp>
      <p:sp>
        <p:nvSpPr>
          <p:cNvPr id="49" name="Oval 48"/>
          <p:cNvSpPr/>
          <p:nvPr/>
        </p:nvSpPr>
        <p:spPr>
          <a:xfrm>
            <a:off x="10789920" y="5230368"/>
            <a:ext cx="347472" cy="347472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/>
            <a:r>
              <a:rPr sz="1600" b="1">
                <a:solidFill>
                  <a:srgbClr val="FFFFFF"/>
                </a:solidFill>
                <a:latin typeface="Segoe UI"/>
              </a:rPr>
              <a:t>~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22960" y="5623560"/>
            <a:ext cx="106984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100" b="0">
                <a:solidFill>
                  <a:srgbClr val="5B677D"/>
                </a:solidFill>
                <a:latin typeface="Segoe UI"/>
              </a:rPr>
              <a:t>✓ yes   ~ partly   ✕ not usually.  quorum's learning is "partly" because it only drafts rules for a person to approve. Small AI models can fit on chips, but cannot be checked case by case.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98448"/>
          </a:xfrm>
          <a:prstGeom prst="rect">
            <a:avLst/>
          </a:prstGeom>
          <a:solidFill>
            <a:srgbClr val="141B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298448"/>
            <a:ext cx="12191695" cy="50292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237744"/>
            <a:ext cx="108813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4B8A6"/>
                </a:solidFill>
                <a:latin typeface="Segoe UI"/>
              </a:rPr>
              <a:t>BEYOND FACTORIES (1 OF 5)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12064"/>
            <a:ext cx="10881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FFFFFF"/>
                </a:solidFill>
                <a:latin typeface="Segoe UI"/>
              </a:rPr>
              <a:t>Anywhere a few sensors drive a decision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463040"/>
            <a:ext cx="10881360" cy="475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0">
                <a:solidFill>
                  <a:srgbClr val="5B677D"/>
                </a:solidFill>
                <a:latin typeface="Segoe UI"/>
              </a:rPr>
              <a:t>The same idea fits many everyday places. These are possibilities, not yet proven in the field.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B677D"/>
                </a:solidFill>
                <a:latin typeface="Segoe UI"/>
              </a:rPr>
              <a:t>quorum  ·  BioDream LLC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64240" y="6419088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1">
                <a:solidFill>
                  <a:srgbClr val="5B677D"/>
                </a:solidFill>
                <a:latin typeface="Segoe UI"/>
              </a:rPr>
              <a:t>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2011680"/>
            <a:ext cx="2606040" cy="269748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E4E9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0080" y="2011680"/>
            <a:ext cx="2606040" cy="64008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485900" y="2212848"/>
            <a:ext cx="914400" cy="914400"/>
          </a:xfrm>
          <a:prstGeom prst="ellipse">
            <a:avLst/>
          </a:prstGeom>
          <a:solidFill>
            <a:srgbClr val="D5F5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Isosceles Triangle 12"/>
          <p:cNvSpPr/>
          <p:nvPr/>
        </p:nvSpPr>
        <p:spPr>
          <a:xfrm>
            <a:off x="1613916" y="2322576"/>
            <a:ext cx="658368" cy="310896"/>
          </a:xfrm>
          <a:prstGeom prst="triangle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696212" y="2624328"/>
            <a:ext cx="493776" cy="347472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879092" y="2761488"/>
            <a:ext cx="128016" cy="21031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77240" y="3218688"/>
            <a:ext cx="233172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</a:pPr>
            <a:r>
              <a:rPr sz="1350" b="1">
                <a:solidFill>
                  <a:srgbClr val="1E293B"/>
                </a:solidFill>
                <a:latin typeface="Segoe UI"/>
              </a:rPr>
              <a:t>Buildings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" y="3566160"/>
            <a:ext cx="2240280" cy="1051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6000"/>
              </a:lnSpc>
            </a:pPr>
            <a:r>
              <a:rPr sz="1050" b="0">
                <a:solidFill>
                  <a:srgbClr val="5B677D"/>
                </a:solidFill>
                <a:latin typeface="Segoe UI"/>
              </a:rPr>
              <a:t>Boilers, heating and cooling, sump pumps: "run, shut down, or call someone" with the reason.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429000" y="2011680"/>
            <a:ext cx="2606040" cy="269748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E4E9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3429000" y="2011680"/>
            <a:ext cx="2606040" cy="64008"/>
          </a:xfrm>
          <a:prstGeom prst="rect">
            <a:avLst/>
          </a:prstGeom>
          <a:solidFill>
            <a:srgbClr val="22A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4274820" y="2212848"/>
            <a:ext cx="914400" cy="914400"/>
          </a:xfrm>
          <a:prstGeom prst="ellipse">
            <a:avLst/>
          </a:prstGeom>
          <a:solidFill>
            <a:srgbClr val="DCF5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704588" y="2578608"/>
            <a:ext cx="54864" cy="384048"/>
          </a:xfrm>
          <a:prstGeom prst="rect">
            <a:avLst/>
          </a:prstGeom>
          <a:solidFill>
            <a:srgbClr val="9240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 rot="19800000">
            <a:off x="4457700" y="2377440"/>
            <a:ext cx="274320" cy="164592"/>
          </a:xfrm>
          <a:prstGeom prst="ellipse">
            <a:avLst/>
          </a:prstGeom>
          <a:solidFill>
            <a:srgbClr val="22A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 rot="1800000">
            <a:off x="4732020" y="2505456"/>
            <a:ext cx="274320" cy="164592"/>
          </a:xfrm>
          <a:prstGeom prst="ellipse">
            <a:avLst/>
          </a:prstGeom>
          <a:solidFill>
            <a:srgbClr val="22A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Wave 23"/>
          <p:cNvSpPr/>
          <p:nvPr/>
        </p:nvSpPr>
        <p:spPr>
          <a:xfrm>
            <a:off x="4384548" y="2871216"/>
            <a:ext cx="694944" cy="128016"/>
          </a:xfrm>
          <a:prstGeom prst="wave">
            <a:avLst/>
          </a:prstGeom>
          <a:solidFill>
            <a:srgbClr val="2E8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566160" y="3218688"/>
            <a:ext cx="233172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</a:pPr>
            <a:r>
              <a:rPr sz="1350" b="1">
                <a:solidFill>
                  <a:srgbClr val="1E293B"/>
                </a:solidFill>
                <a:latin typeface="Segoe UI"/>
              </a:rPr>
              <a:t>Farms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611880" y="3566160"/>
            <a:ext cx="2240280" cy="1051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6000"/>
              </a:lnSpc>
            </a:pPr>
            <a:r>
              <a:rPr sz="1050" b="0">
                <a:solidFill>
                  <a:srgbClr val="5B677D"/>
                </a:solidFill>
                <a:latin typeface="Segoe UI"/>
              </a:rPr>
              <a:t>Irrigation pumps, barn ventilation and grain dryers, often far from help and the internet.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217920" y="2011680"/>
            <a:ext cx="2606040" cy="269748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E4E9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217920" y="2011680"/>
            <a:ext cx="2606040" cy="64008"/>
          </a:xfrm>
          <a:prstGeom prst="rect">
            <a:avLst/>
          </a:prstGeom>
          <a:solidFill>
            <a:srgbClr val="2E8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7063740" y="2212848"/>
            <a:ext cx="914400" cy="914400"/>
          </a:xfrm>
          <a:prstGeom prst="ellipse">
            <a:avLst/>
          </a:prstGeom>
          <a:solidFill>
            <a:srgbClr val="DBEA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Teardrop 29"/>
          <p:cNvSpPr/>
          <p:nvPr/>
        </p:nvSpPr>
        <p:spPr>
          <a:xfrm rot="18900000">
            <a:off x="7319772" y="2395728"/>
            <a:ext cx="402336" cy="548640"/>
          </a:xfrm>
          <a:prstGeom prst="teardrop">
            <a:avLst/>
          </a:prstGeom>
          <a:solidFill>
            <a:srgbClr val="2E8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355080" y="3218688"/>
            <a:ext cx="233172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</a:pPr>
            <a:r>
              <a:rPr sz="1350" b="1">
                <a:solidFill>
                  <a:srgbClr val="1E293B"/>
                </a:solidFill>
                <a:latin typeface="Segoe UI"/>
              </a:rPr>
              <a:t>Water and sewer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00800" y="3566160"/>
            <a:ext cx="2240280" cy="1051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6000"/>
              </a:lnSpc>
            </a:pPr>
            <a:r>
              <a:rPr sz="1050" b="0">
                <a:solidFill>
                  <a:srgbClr val="5B677D"/>
                </a:solidFill>
                <a:latin typeface="Segoe UI"/>
              </a:rPr>
              <a:t>A town's lift stations and pumps: catch the dead float switch before the overflow.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9006839" y="2011680"/>
            <a:ext cx="2606040" cy="269748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E4E9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9006839" y="2011680"/>
            <a:ext cx="2606040" cy="64008"/>
          </a:xfrm>
          <a:prstGeom prst="rect">
            <a:avLst/>
          </a:prstGeom>
          <a:solidFill>
            <a:srgbClr val="6C4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9852659" y="2212848"/>
            <a:ext cx="914400" cy="914400"/>
          </a:xfrm>
          <a:prstGeom prst="ellipse">
            <a:avLst/>
          </a:prstGeom>
          <a:solidFill>
            <a:srgbClr val="EAE4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10090403" y="2340864"/>
            <a:ext cx="438912" cy="640080"/>
          </a:xfrm>
          <a:prstGeom prst="roundRect">
            <a:avLst/>
          </a:prstGeom>
          <a:solidFill>
            <a:srgbClr val="6C4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10090403" y="2596896"/>
            <a:ext cx="438912" cy="365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10428731" y="2414016"/>
            <a:ext cx="36576" cy="12801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10428731" y="2670048"/>
            <a:ext cx="36576" cy="1645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8-Point Star 39"/>
          <p:cNvSpPr/>
          <p:nvPr/>
        </p:nvSpPr>
        <p:spPr>
          <a:xfrm>
            <a:off x="10163555" y="2688336"/>
            <a:ext cx="201168" cy="201168"/>
          </a:xfrm>
          <a:prstGeom prst="star8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9143999" y="3218688"/>
            <a:ext cx="233172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</a:pPr>
            <a:r>
              <a:rPr sz="1350" b="1">
                <a:solidFill>
                  <a:srgbClr val="1E293B"/>
                </a:solidFill>
                <a:latin typeface="Segoe UI"/>
              </a:rPr>
              <a:t>Labs and cold storage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189719" y="3566160"/>
            <a:ext cx="2240280" cy="1051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6000"/>
              </a:lnSpc>
            </a:pPr>
            <a:r>
              <a:rPr sz="1050" b="0">
                <a:solidFill>
                  <a:srgbClr val="5B677D"/>
                </a:solidFill>
                <a:latin typeface="Segoe UI"/>
              </a:rPr>
              <a:t>Freezers holding samples or vaccines: a door, a compressor and a thermometer that can lie.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640080" y="4983480"/>
            <a:ext cx="10908792" cy="1143000"/>
          </a:xfrm>
          <a:prstGeom prst="roundRect">
            <a:avLst/>
          </a:prstGeom>
          <a:solidFill>
            <a:srgbClr val="141B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640080" y="4983480"/>
            <a:ext cx="82296" cy="11430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987552" y="5148072"/>
            <a:ext cx="10241280" cy="9052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250" b="1">
                <a:solidFill>
                  <a:srgbClr val="14B8A6"/>
                </a:solidFill>
                <a:latin typeface="Segoe UI"/>
              </a:rPr>
              <a:t>What these have in common</a:t>
            </a:r>
          </a:p>
          <a:p>
            <a:pPr algn="l">
              <a:lnSpc>
                <a:spcPct val="118000"/>
              </a:lnSpc>
              <a:spcBef>
                <a:spcPts val="500"/>
              </a:spcBef>
            </a:pPr>
            <a:r>
              <a:rPr sz="1250" b="0">
                <a:solidFill>
                  <a:srgbClr val="FFFFFF"/>
                </a:solidFill>
                <a:latin typeface="Segoe UI"/>
              </a:rPr>
              <a:t>A handful of sensors, a few possible actions, a cost to getting it wrong, and a person who will later ask "why did it do that?". That is exactly the shape of problem quorum was built for.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98448"/>
          </a:xfrm>
          <a:prstGeom prst="rect">
            <a:avLst/>
          </a:prstGeom>
          <a:solidFill>
            <a:srgbClr val="141B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298448"/>
            <a:ext cx="12191695" cy="50292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237744"/>
            <a:ext cx="108813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4B8A6"/>
                </a:solidFill>
                <a:latin typeface="Segoe UI"/>
              </a:rPr>
              <a:t>BEYOND FACTORIES (2 OF 5)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12064"/>
            <a:ext cx="10881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FFFFFF"/>
                </a:solidFill>
                <a:latin typeface="Segoe UI"/>
              </a:rPr>
              <a:t>It also works where the "machine" is a set of rules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463040"/>
            <a:ext cx="10881360" cy="475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0">
                <a:solidFill>
                  <a:srgbClr val="5B677D"/>
                </a:solidFill>
                <a:latin typeface="Segoe UI"/>
              </a:rPr>
              <a:t>quorum checks any rulebook with exceptions. It does not have to run on a chip at all.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B677D"/>
                </a:solidFill>
                <a:latin typeface="Segoe UI"/>
              </a:rPr>
              <a:t>quorum  ·  BioDream LLC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64240" y="6419088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1">
                <a:solidFill>
                  <a:srgbClr val="5B677D"/>
                </a:solidFill>
                <a:latin typeface="Segoe UI"/>
              </a:rPr>
              <a:t>27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1965960"/>
            <a:ext cx="3520440" cy="205740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E4E9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0080" y="1965960"/>
            <a:ext cx="3520440" cy="64008"/>
          </a:xfrm>
          <a:prstGeom prst="rect">
            <a:avLst/>
          </a:prstGeom>
          <a:solidFill>
            <a:srgbClr val="E11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943100" y="2167128"/>
            <a:ext cx="914400" cy="914400"/>
          </a:xfrm>
          <a:prstGeom prst="ellipse">
            <a:avLst/>
          </a:prstGeom>
          <a:solidFill>
            <a:srgbClr val="FCE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 rot="19800000">
            <a:off x="2071116" y="2505456"/>
            <a:ext cx="658368" cy="237744"/>
          </a:xfrm>
          <a:prstGeom prst="roundRect">
            <a:avLst/>
          </a:prstGeom>
          <a:solidFill>
            <a:srgbClr val="E11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 rot="19800000">
            <a:off x="2382012" y="2340864"/>
            <a:ext cx="329184" cy="237744"/>
          </a:xfrm>
          <a:prstGeom prst="roundRect">
            <a:avLst/>
          </a:prstGeom>
          <a:solidFill>
            <a:srgbClr val="6C4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3172968"/>
            <a:ext cx="324612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</a:pPr>
            <a:r>
              <a:rPr sz="1350" b="1">
                <a:solidFill>
                  <a:srgbClr val="1E293B"/>
                </a:solidFill>
                <a:latin typeface="Segoe UI"/>
              </a:rPr>
              <a:t>Hospital pharmacy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960" y="3520440"/>
            <a:ext cx="315468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6000"/>
              </a:lnSpc>
            </a:pPr>
            <a:r>
              <a:rPr sz="1050" b="0">
                <a:solidFill>
                  <a:srgbClr val="5B677D"/>
                </a:solidFill>
                <a:latin typeface="Segoe UI"/>
              </a:rPr>
              <a:t>Check the rules that flag patients for a pharmacist to review, with their exceptions.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343400" y="1965960"/>
            <a:ext cx="3520440" cy="205740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E4E9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343400" y="1965960"/>
            <a:ext cx="3520440" cy="64008"/>
          </a:xfrm>
          <a:prstGeom prst="rect">
            <a:avLst/>
          </a:prstGeom>
          <a:solidFill>
            <a:srgbClr val="22A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5646420" y="2167128"/>
            <a:ext cx="914400" cy="914400"/>
          </a:xfrm>
          <a:prstGeom prst="ellipse">
            <a:avLst/>
          </a:prstGeom>
          <a:solidFill>
            <a:srgbClr val="DCF5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5774436" y="2441448"/>
            <a:ext cx="603504" cy="365760"/>
          </a:xfrm>
          <a:prstGeom prst="roundRect">
            <a:avLst/>
          </a:prstGeom>
          <a:solidFill>
            <a:srgbClr val="FFFFFF"/>
          </a:solidFill>
          <a:ln w="38100">
            <a:solidFill>
              <a:srgbClr val="22A5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377940" y="2551176"/>
            <a:ext cx="64008" cy="146304"/>
          </a:xfrm>
          <a:prstGeom prst="rect">
            <a:avLst/>
          </a:prstGeom>
          <a:solidFill>
            <a:srgbClr val="22A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Lightning Bolt 21"/>
          <p:cNvSpPr/>
          <p:nvPr/>
        </p:nvSpPr>
        <p:spPr>
          <a:xfrm>
            <a:off x="5957316" y="2468880"/>
            <a:ext cx="274320" cy="310896"/>
          </a:xfrm>
          <a:prstGeom prst="lightningBol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480560" y="3172968"/>
            <a:ext cx="324612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</a:pPr>
            <a:r>
              <a:rPr sz="1350" b="1">
                <a:solidFill>
                  <a:srgbClr val="1E293B"/>
                </a:solidFill>
                <a:latin typeface="Segoe UI"/>
              </a:rPr>
              <a:t>Batteries and solar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26280" y="3520440"/>
            <a:ext cx="315468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6000"/>
              </a:lnSpc>
            </a:pPr>
            <a:r>
              <a:rPr sz="1050" b="0">
                <a:solidFill>
                  <a:srgbClr val="5B677D"/>
                </a:solidFill>
                <a:latin typeface="Segoe UI"/>
              </a:rPr>
              <a:t>Home batteries, EV chargers and solar inverters: charge, hold or disconnect, with reasons.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046719" y="1965960"/>
            <a:ext cx="3520440" cy="205740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E4E9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8046719" y="1965960"/>
            <a:ext cx="3520440" cy="64008"/>
          </a:xfrm>
          <a:prstGeom prst="rect">
            <a:avLst/>
          </a:prstGeom>
          <a:solidFill>
            <a:srgbClr val="2E8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9349739" y="2167128"/>
            <a:ext cx="914400" cy="914400"/>
          </a:xfrm>
          <a:prstGeom prst="ellipse">
            <a:avLst/>
          </a:prstGeom>
          <a:solidFill>
            <a:srgbClr val="DBEA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Trapezoid 27"/>
          <p:cNvSpPr/>
          <p:nvPr/>
        </p:nvSpPr>
        <p:spPr>
          <a:xfrm rot="10800000">
            <a:off x="9459467" y="2660904"/>
            <a:ext cx="694944" cy="182880"/>
          </a:xfrm>
          <a:prstGeom prst="trapezoid">
            <a:avLst/>
          </a:prstGeom>
          <a:solidFill>
            <a:srgbClr val="2E8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Right Triangle 28"/>
          <p:cNvSpPr/>
          <p:nvPr/>
        </p:nvSpPr>
        <p:spPr>
          <a:xfrm>
            <a:off x="9788651" y="2276856"/>
            <a:ext cx="274320" cy="347472"/>
          </a:xfrm>
          <a:prstGeom prst="rtTriangl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9779507" y="2258568"/>
            <a:ext cx="36576" cy="420624"/>
          </a:xfrm>
          <a:prstGeom prst="rect">
            <a:avLst/>
          </a:prstGeom>
          <a:solidFill>
            <a:srgbClr val="5B6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Wave 30"/>
          <p:cNvSpPr/>
          <p:nvPr/>
        </p:nvSpPr>
        <p:spPr>
          <a:xfrm>
            <a:off x="9422891" y="2852928"/>
            <a:ext cx="768096" cy="109728"/>
          </a:xfrm>
          <a:prstGeom prst="wave">
            <a:avLst/>
          </a:prstGeom>
          <a:solidFill>
            <a:srgbClr val="60A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183879" y="3172968"/>
            <a:ext cx="324612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</a:pPr>
            <a:r>
              <a:rPr sz="1350" b="1">
                <a:solidFill>
                  <a:srgbClr val="1E293B"/>
                </a:solidFill>
                <a:latin typeface="Segoe UI"/>
              </a:rPr>
              <a:t>Boats and RVs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229599" y="3520440"/>
            <a:ext cx="315468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6000"/>
              </a:lnSpc>
            </a:pPr>
            <a:r>
              <a:rPr sz="1050" b="0">
                <a:solidFill>
                  <a:srgbClr val="5B677D"/>
                </a:solidFill>
                <a:latin typeface="Segoe UI"/>
              </a:rPr>
              <a:t>Bilge pumps, generators and fridges on boats and RVs, where a silent sensor is common.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40080" y="4178808"/>
            <a:ext cx="3520440" cy="205740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E4E9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640080" y="4178808"/>
            <a:ext cx="3520440" cy="64008"/>
          </a:xfrm>
          <a:prstGeom prst="rect">
            <a:avLst/>
          </a:prstGeom>
          <a:solidFill>
            <a:srgbClr val="6C4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1943100" y="4379976"/>
            <a:ext cx="914400" cy="914400"/>
          </a:xfrm>
          <a:prstGeom prst="ellipse">
            <a:avLst/>
          </a:prstGeom>
          <a:solidFill>
            <a:srgbClr val="EAE4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2107692" y="4507992"/>
            <a:ext cx="585216" cy="182880"/>
          </a:xfrm>
          <a:prstGeom prst="roundRect">
            <a:avLst/>
          </a:prstGeom>
          <a:solidFill>
            <a:srgbClr val="6C4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Oval 37"/>
          <p:cNvSpPr/>
          <p:nvPr/>
        </p:nvSpPr>
        <p:spPr>
          <a:xfrm>
            <a:off x="2546604" y="4562856"/>
            <a:ext cx="73152" cy="73152"/>
          </a:xfrm>
          <a:prstGeom prst="ellipse">
            <a:avLst/>
          </a:prstGeom>
          <a:solidFill>
            <a:srgbClr val="22A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9" name="Rounded Rectangle 38"/>
          <p:cNvSpPr/>
          <p:nvPr/>
        </p:nvSpPr>
        <p:spPr>
          <a:xfrm>
            <a:off x="2107692" y="4736592"/>
            <a:ext cx="585216" cy="182880"/>
          </a:xfrm>
          <a:prstGeom prst="roundRect">
            <a:avLst/>
          </a:prstGeom>
          <a:solidFill>
            <a:srgbClr val="6C4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2546604" y="4791456"/>
            <a:ext cx="73152" cy="73152"/>
          </a:xfrm>
          <a:prstGeom prst="ellipse">
            <a:avLst/>
          </a:prstGeom>
          <a:solidFill>
            <a:srgbClr val="22A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2107692" y="4965192"/>
            <a:ext cx="585216" cy="182880"/>
          </a:xfrm>
          <a:prstGeom prst="roundRect">
            <a:avLst/>
          </a:prstGeom>
          <a:solidFill>
            <a:srgbClr val="6C4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2" name="Oval 41"/>
          <p:cNvSpPr/>
          <p:nvPr/>
        </p:nvSpPr>
        <p:spPr>
          <a:xfrm>
            <a:off x="2546604" y="5020056"/>
            <a:ext cx="73152" cy="73152"/>
          </a:xfrm>
          <a:prstGeom prst="ellipse">
            <a:avLst/>
          </a:prstGeom>
          <a:solidFill>
            <a:srgbClr val="22A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777240" y="5385816"/>
            <a:ext cx="324612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</a:pPr>
            <a:r>
              <a:rPr sz="1350" b="1">
                <a:solidFill>
                  <a:srgbClr val="1E293B"/>
                </a:solidFill>
                <a:latin typeface="Segoe UI"/>
              </a:rPr>
              <a:t>Computer systems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22960" y="5733288"/>
            <a:ext cx="315468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6000"/>
              </a:lnSpc>
            </a:pPr>
            <a:r>
              <a:rPr sz="1050" b="0">
                <a:solidFill>
                  <a:srgbClr val="5B677D"/>
                </a:solidFill>
                <a:latin typeface="Segoe UI"/>
              </a:rPr>
              <a:t>IT and data-centre alerts: cut the alarm flood and say which alert actually matters.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4343400" y="4178808"/>
            <a:ext cx="3520440" cy="205740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E4E9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4343400" y="4178808"/>
            <a:ext cx="3520440" cy="6400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7" name="Oval 46"/>
          <p:cNvSpPr/>
          <p:nvPr/>
        </p:nvSpPr>
        <p:spPr>
          <a:xfrm>
            <a:off x="5646420" y="4379976"/>
            <a:ext cx="914400" cy="914400"/>
          </a:xfrm>
          <a:prstGeom prst="ellipse">
            <a:avLst/>
          </a:prstGeom>
          <a:solidFill>
            <a:srgbClr val="FEF3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8" name="Folded Corner 47"/>
          <p:cNvSpPr/>
          <p:nvPr/>
        </p:nvSpPr>
        <p:spPr>
          <a:xfrm>
            <a:off x="5884164" y="4507992"/>
            <a:ext cx="438912" cy="603504"/>
          </a:xfrm>
          <a:prstGeom prst="foldedCorner">
            <a:avLst/>
          </a:prstGeom>
          <a:solidFill>
            <a:srgbClr val="FFFFFF"/>
          </a:solidFill>
          <a:ln w="254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5966460" y="4636008"/>
            <a:ext cx="274320" cy="36576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5966460" y="4745736"/>
            <a:ext cx="274320" cy="36576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5966460" y="4855464"/>
            <a:ext cx="274320" cy="36576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5966460" y="4965192"/>
            <a:ext cx="274320" cy="36576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4480560" y="5385816"/>
            <a:ext cx="324612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</a:pPr>
            <a:r>
              <a:rPr sz="1350" b="1">
                <a:solidFill>
                  <a:srgbClr val="1E293B"/>
                </a:solidFill>
                <a:latin typeface="Segoe UI"/>
              </a:rPr>
              <a:t>Business rules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4526280" y="5733288"/>
            <a:ext cx="315468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6000"/>
              </a:lnSpc>
            </a:pPr>
            <a:r>
              <a:rPr sz="1050" b="0">
                <a:solidFill>
                  <a:srgbClr val="5B677D"/>
                </a:solidFill>
                <a:latin typeface="Segoe UI"/>
              </a:rPr>
              <a:t>Insurance, lending or compliance checklists: find the case no rule covers, before a customer does.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8046719" y="4178808"/>
            <a:ext cx="3520440" cy="205740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E4E9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8046719" y="4178808"/>
            <a:ext cx="3520440" cy="64008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7" name="Oval 56"/>
          <p:cNvSpPr/>
          <p:nvPr/>
        </p:nvSpPr>
        <p:spPr>
          <a:xfrm>
            <a:off x="9349739" y="4379976"/>
            <a:ext cx="914400" cy="914400"/>
          </a:xfrm>
          <a:prstGeom prst="ellipse">
            <a:avLst/>
          </a:prstGeom>
          <a:solidFill>
            <a:srgbClr val="D5F5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9459467" y="4654296"/>
            <a:ext cx="438912" cy="292608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9" name="Rounded Rectangle 58"/>
          <p:cNvSpPr/>
          <p:nvPr/>
        </p:nvSpPr>
        <p:spPr>
          <a:xfrm>
            <a:off x="9916667" y="4764024"/>
            <a:ext cx="237744" cy="182880"/>
          </a:xfrm>
          <a:prstGeom prst="round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0" name="Oval 59"/>
          <p:cNvSpPr/>
          <p:nvPr/>
        </p:nvSpPr>
        <p:spPr>
          <a:xfrm>
            <a:off x="9532619" y="4928616"/>
            <a:ext cx="146304" cy="146304"/>
          </a:xfrm>
          <a:prstGeom prst="ellipse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1" name="Oval 60"/>
          <p:cNvSpPr/>
          <p:nvPr/>
        </p:nvSpPr>
        <p:spPr>
          <a:xfrm>
            <a:off x="9953243" y="4928616"/>
            <a:ext cx="146304" cy="146304"/>
          </a:xfrm>
          <a:prstGeom prst="ellipse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8183879" y="5385816"/>
            <a:ext cx="324612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</a:pPr>
            <a:r>
              <a:rPr sz="1350" b="1">
                <a:solidFill>
                  <a:srgbClr val="1E293B"/>
                </a:solidFill>
                <a:latin typeface="Segoe UI"/>
              </a:rPr>
              <a:t>Fleets and logistics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8229599" y="5733288"/>
            <a:ext cx="315468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6000"/>
              </a:lnSpc>
            </a:pPr>
            <a:r>
              <a:rPr sz="1050" b="0">
                <a:solidFill>
                  <a:srgbClr val="5B677D"/>
                </a:solidFill>
                <a:latin typeface="Segoe UI"/>
              </a:rPr>
              <a:t>Refrigerated trucks and delivery fleets: one small box per vehicle, no signal needed.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98448"/>
          </a:xfrm>
          <a:prstGeom prst="rect">
            <a:avLst/>
          </a:prstGeom>
          <a:solidFill>
            <a:srgbClr val="141B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298448"/>
            <a:ext cx="12191695" cy="50292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237744"/>
            <a:ext cx="108813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4B8A6"/>
                </a:solidFill>
                <a:latin typeface="Segoe UI"/>
              </a:rPr>
              <a:t>BEYOND FACTORIES (3 OF 5)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12064"/>
            <a:ext cx="10881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FFFFFF"/>
                </a:solidFill>
                <a:latin typeface="Segoe UI"/>
              </a:rPr>
              <a:t>Machines people trust with their lives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463040"/>
            <a:ext cx="10881360" cy="475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0">
                <a:solidFill>
                  <a:srgbClr val="5B677D"/>
                </a:solidFill>
                <a:latin typeface="Segoe UI"/>
              </a:rPr>
              <a:t>Where a dead sensor must never look like "all clear". Possibilities, not yet proven in the field.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B677D"/>
                </a:solidFill>
                <a:latin typeface="Segoe UI"/>
              </a:rPr>
              <a:t>quorum  ·  BioDream LLC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64240" y="6419088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1">
                <a:solidFill>
                  <a:srgbClr val="5B677D"/>
                </a:solidFill>
                <a:latin typeface="Segoe UI"/>
              </a:rPr>
              <a:t>28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1965960"/>
            <a:ext cx="3520440" cy="205740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E4E9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0080" y="1965960"/>
            <a:ext cx="3520440" cy="64008"/>
          </a:xfrm>
          <a:prstGeom prst="rect">
            <a:avLst/>
          </a:prstGeom>
          <a:solidFill>
            <a:srgbClr val="2E8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943100" y="2167128"/>
            <a:ext cx="914400" cy="914400"/>
          </a:xfrm>
          <a:prstGeom prst="ellipse">
            <a:avLst/>
          </a:prstGeom>
          <a:solidFill>
            <a:srgbClr val="DBEA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Off-page Connector 12"/>
          <p:cNvSpPr/>
          <p:nvPr/>
        </p:nvSpPr>
        <p:spPr>
          <a:xfrm>
            <a:off x="2144268" y="2313432"/>
            <a:ext cx="512064" cy="621792"/>
          </a:xfrm>
          <a:prstGeom prst="flowChartOffpageConnector">
            <a:avLst/>
          </a:prstGeom>
          <a:solidFill>
            <a:srgbClr val="2E8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144268" y="2441448"/>
            <a:ext cx="51206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</a:pPr>
            <a:r>
              <a:rPr sz="2000" b="1">
                <a:solidFill>
                  <a:srgbClr val="FFFFFF"/>
                </a:solidFill>
                <a:latin typeface="Segoe UI"/>
              </a:rPr>
              <a:t>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3172968"/>
            <a:ext cx="324612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</a:pPr>
            <a:r>
              <a:rPr sz="1350" b="1">
                <a:solidFill>
                  <a:srgbClr val="1E293B"/>
                </a:solidFill>
                <a:latin typeface="Segoe UI"/>
              </a:rPr>
              <a:t>Elevators and escalators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960" y="3520440"/>
            <a:ext cx="315468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6000"/>
              </a:lnSpc>
            </a:pPr>
            <a:r>
              <a:rPr sz="1050" b="0">
                <a:solidFill>
                  <a:srgbClr val="5B677D"/>
                </a:solidFill>
                <a:latin typeface="Segoe UI"/>
              </a:rPr>
              <a:t>Door, brake and overspeed sensors: take it out of service, and tell the technician exactly why.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343400" y="1965960"/>
            <a:ext cx="3520440" cy="205740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E4E9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343400" y="1965960"/>
            <a:ext cx="3520440" cy="64008"/>
          </a:xfrm>
          <a:prstGeom prst="rect">
            <a:avLst/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5646420" y="2167128"/>
            <a:ext cx="914400" cy="914400"/>
          </a:xfrm>
          <a:prstGeom prst="ellipse">
            <a:avLst/>
          </a:prstGeom>
          <a:solidFill>
            <a:srgbClr val="FCE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Chord 19"/>
          <p:cNvSpPr/>
          <p:nvPr/>
        </p:nvSpPr>
        <p:spPr>
          <a:xfrm rot="10800000">
            <a:off x="5847588" y="2313432"/>
            <a:ext cx="512064" cy="585216"/>
          </a:xfrm>
          <a:prstGeom prst="chord">
            <a:avLst/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5801868" y="2715768"/>
            <a:ext cx="603504" cy="73152"/>
          </a:xfrm>
          <a:prstGeom prst="rect">
            <a:avLst/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6039612" y="2788920"/>
            <a:ext cx="128016" cy="109728"/>
          </a:xfrm>
          <a:prstGeom prst="ellipse">
            <a:avLst/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480560" y="3172968"/>
            <a:ext cx="324612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</a:pPr>
            <a:r>
              <a:rPr sz="1350" b="1">
                <a:solidFill>
                  <a:srgbClr val="1E293B"/>
                </a:solidFill>
                <a:latin typeface="Segoe UI"/>
              </a:rPr>
              <a:t>Railway level crossings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26280" y="3520440"/>
            <a:ext cx="315468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6000"/>
              </a:lnSpc>
            </a:pPr>
            <a:r>
              <a:rPr sz="1050" b="0">
                <a:solidFill>
                  <a:srgbClr val="5B677D"/>
                </a:solidFill>
                <a:latin typeface="Segoe UI"/>
              </a:rPr>
              <a:t>Gates, lights and train detectors: a silent detector must never read as "no train coming".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046719" y="1965960"/>
            <a:ext cx="3520440" cy="205740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E4E9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8046719" y="1965960"/>
            <a:ext cx="3520440" cy="6400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9349739" y="2167128"/>
            <a:ext cx="914400" cy="914400"/>
          </a:xfrm>
          <a:prstGeom prst="ellipse">
            <a:avLst/>
          </a:prstGeom>
          <a:solidFill>
            <a:srgbClr val="FEF3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Teardrop 27"/>
          <p:cNvSpPr/>
          <p:nvPr/>
        </p:nvSpPr>
        <p:spPr>
          <a:xfrm rot="18900000">
            <a:off x="9624059" y="2313432"/>
            <a:ext cx="365760" cy="502920"/>
          </a:xfrm>
          <a:prstGeom prst="teardrop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9532619" y="2843784"/>
            <a:ext cx="548640" cy="73152"/>
          </a:xfrm>
          <a:prstGeom prst="rect">
            <a:avLst/>
          </a:prstGeom>
          <a:solidFill>
            <a:srgbClr val="5B6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183879" y="3172968"/>
            <a:ext cx="324612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</a:pPr>
            <a:r>
              <a:rPr sz="1350" b="1">
                <a:solidFill>
                  <a:srgbClr val="1E293B"/>
                </a:solidFill>
                <a:latin typeface="Segoe UI"/>
              </a:rPr>
              <a:t>Mines and road tunnels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229599" y="3520440"/>
            <a:ext cx="315468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6000"/>
              </a:lnSpc>
            </a:pPr>
            <a:r>
              <a:rPr sz="1050" b="0">
                <a:solidFill>
                  <a:srgbClr val="5B677D"/>
                </a:solidFill>
                <a:latin typeface="Segoe UI"/>
              </a:rPr>
              <a:t>Gas, airflow and fan sensors: when to ventilate, when to evacuate, and when the gas sensor is lying.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40080" y="4178808"/>
            <a:ext cx="3520440" cy="205740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E4E9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40080" y="4178808"/>
            <a:ext cx="3520440" cy="64008"/>
          </a:xfrm>
          <a:prstGeom prst="rect">
            <a:avLst/>
          </a:prstGeom>
          <a:solidFill>
            <a:srgbClr val="6C4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1943100" y="4379976"/>
            <a:ext cx="914400" cy="914400"/>
          </a:xfrm>
          <a:prstGeom prst="ellipse">
            <a:avLst/>
          </a:prstGeom>
          <a:solidFill>
            <a:srgbClr val="EAE4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Gear 6 34"/>
          <p:cNvSpPr/>
          <p:nvPr/>
        </p:nvSpPr>
        <p:spPr>
          <a:xfrm>
            <a:off x="2107692" y="4544568"/>
            <a:ext cx="585216" cy="585216"/>
          </a:xfrm>
          <a:prstGeom prst="gear6">
            <a:avLst/>
          </a:prstGeom>
          <a:solidFill>
            <a:srgbClr val="6C4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2308860" y="4745736"/>
            <a:ext cx="182880" cy="18288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77240" y="5385816"/>
            <a:ext cx="324612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</a:pPr>
            <a:r>
              <a:rPr sz="1350" b="1">
                <a:solidFill>
                  <a:srgbClr val="1E293B"/>
                </a:solidFill>
                <a:latin typeface="Segoe UI"/>
              </a:rPr>
              <a:t>Theme-park rides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22960" y="5733288"/>
            <a:ext cx="315468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6000"/>
              </a:lnSpc>
            </a:pPr>
            <a:r>
              <a:rPr sz="1050" b="0">
                <a:solidFill>
                  <a:srgbClr val="5B677D"/>
                </a:solidFill>
                <a:latin typeface="Segoe UI"/>
              </a:rPr>
              <a:t>Restraints, brakes and position sensors: the ride only starts when every check has positively passed.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4343400" y="4178808"/>
            <a:ext cx="3520440" cy="205740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E4E9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4343400" y="4178808"/>
            <a:ext cx="3520440" cy="64008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1" name="Oval 40"/>
          <p:cNvSpPr/>
          <p:nvPr/>
        </p:nvSpPr>
        <p:spPr>
          <a:xfrm>
            <a:off x="5646420" y="4379976"/>
            <a:ext cx="914400" cy="914400"/>
          </a:xfrm>
          <a:prstGeom prst="ellipse">
            <a:avLst/>
          </a:prstGeom>
          <a:solidFill>
            <a:srgbClr val="D5F5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2" name="Isosceles Triangle 41"/>
          <p:cNvSpPr/>
          <p:nvPr/>
        </p:nvSpPr>
        <p:spPr>
          <a:xfrm>
            <a:off x="5774436" y="4489704"/>
            <a:ext cx="658368" cy="310896"/>
          </a:xfrm>
          <a:prstGeom prst="triangle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5856732" y="4791456"/>
            <a:ext cx="493776" cy="347472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6039612" y="4928616"/>
            <a:ext cx="128016" cy="21031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4480560" y="5385816"/>
            <a:ext cx="324612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</a:pPr>
            <a:r>
              <a:rPr sz="1350" b="1">
                <a:solidFill>
                  <a:srgbClr val="1E293B"/>
                </a:solidFill>
                <a:latin typeface="Segoe UI"/>
              </a:rPr>
              <a:t>Fire alarms in buildings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526280" y="5733288"/>
            <a:ext cx="315468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6000"/>
              </a:lnSpc>
            </a:pPr>
            <a:r>
              <a:rPr sz="1050" b="0">
                <a:solidFill>
                  <a:srgbClr val="5B677D"/>
                </a:solidFill>
                <a:latin typeface="Segoe UI"/>
              </a:rPr>
              <a:t>Check the cause-and-effect rules: every alarm zone opens the right doors and starts the right fans.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8046719" y="4178808"/>
            <a:ext cx="3520440" cy="205740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E4E9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8046719" y="4178808"/>
            <a:ext cx="3520440" cy="64008"/>
          </a:xfrm>
          <a:prstGeom prst="rect">
            <a:avLst/>
          </a:prstGeom>
          <a:solidFill>
            <a:srgbClr val="E11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9" name="Oval 48"/>
          <p:cNvSpPr/>
          <p:nvPr/>
        </p:nvSpPr>
        <p:spPr>
          <a:xfrm>
            <a:off x="9349739" y="4379976"/>
            <a:ext cx="914400" cy="914400"/>
          </a:xfrm>
          <a:prstGeom prst="ellipse">
            <a:avLst/>
          </a:prstGeom>
          <a:solidFill>
            <a:srgbClr val="FCE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0" name="Rounded Rectangle 49"/>
          <p:cNvSpPr/>
          <p:nvPr/>
        </p:nvSpPr>
        <p:spPr>
          <a:xfrm>
            <a:off x="9477755" y="4654296"/>
            <a:ext cx="603504" cy="365760"/>
          </a:xfrm>
          <a:prstGeom prst="roundRect">
            <a:avLst/>
          </a:prstGeom>
          <a:solidFill>
            <a:srgbClr val="FFFFFF"/>
          </a:solidFill>
          <a:ln w="38100">
            <a:solidFill>
              <a:srgbClr val="E11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10081259" y="4764024"/>
            <a:ext cx="64008" cy="146304"/>
          </a:xfrm>
          <a:prstGeom prst="rect">
            <a:avLst/>
          </a:prstGeom>
          <a:solidFill>
            <a:srgbClr val="E11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2" name="Lightning Bolt 51"/>
          <p:cNvSpPr/>
          <p:nvPr/>
        </p:nvSpPr>
        <p:spPr>
          <a:xfrm>
            <a:off x="9660635" y="4681728"/>
            <a:ext cx="274320" cy="310896"/>
          </a:xfrm>
          <a:prstGeom prst="lightningBol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8183879" y="5385816"/>
            <a:ext cx="324612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</a:pPr>
            <a:r>
              <a:rPr sz="1350" b="1">
                <a:solidFill>
                  <a:srgbClr val="1E293B"/>
                </a:solidFill>
                <a:latin typeface="Segoe UI"/>
              </a:rPr>
              <a:t>Hospital backup power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8229599" y="5733288"/>
            <a:ext cx="315468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6000"/>
              </a:lnSpc>
            </a:pPr>
            <a:r>
              <a:rPr sz="1050" b="0">
                <a:solidFill>
                  <a:srgbClr val="5B677D"/>
                </a:solidFill>
                <a:latin typeface="Segoe UI"/>
              </a:rPr>
              <a:t>Generator start, fuel level and transfer switch: is the hospital really ready for a blackout?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98448"/>
          </a:xfrm>
          <a:prstGeom prst="rect">
            <a:avLst/>
          </a:prstGeom>
          <a:solidFill>
            <a:srgbClr val="141B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298448"/>
            <a:ext cx="12191695" cy="50292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237744"/>
            <a:ext cx="108813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4B8A6"/>
                </a:solidFill>
                <a:latin typeface="Segoe UI"/>
              </a:rPr>
              <a:t>BEYOND FACTORIES (4 OF 5)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12064"/>
            <a:ext cx="10881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FFFFFF"/>
                </a:solidFill>
                <a:latin typeface="Segoe UI"/>
              </a:rPr>
              <a:t>Food, farms and living things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463040"/>
            <a:ext cx="10881360" cy="475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0">
                <a:solidFill>
                  <a:srgbClr val="5B677D"/>
                </a:solidFill>
                <a:latin typeface="Segoe UI"/>
              </a:rPr>
              <a:t>Where a wrong call costs a harvest, a batch or a herd. Possibilities, not yet proven in the field.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B677D"/>
                </a:solidFill>
                <a:latin typeface="Segoe UI"/>
              </a:rPr>
              <a:t>quorum  ·  BioDream LLC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64240" y="6419088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1">
                <a:solidFill>
                  <a:srgbClr val="5B677D"/>
                </a:solidFill>
                <a:latin typeface="Segoe UI"/>
              </a:rPr>
              <a:t>29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1965960"/>
            <a:ext cx="3520440" cy="205740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E4E9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0080" y="1965960"/>
            <a:ext cx="3520440" cy="64008"/>
          </a:xfrm>
          <a:prstGeom prst="rect">
            <a:avLst/>
          </a:prstGeom>
          <a:solidFill>
            <a:srgbClr val="2E8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943100" y="2167128"/>
            <a:ext cx="914400" cy="914400"/>
          </a:xfrm>
          <a:prstGeom prst="ellipse">
            <a:avLst/>
          </a:prstGeom>
          <a:solidFill>
            <a:srgbClr val="DBEA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ardrop 12"/>
          <p:cNvSpPr/>
          <p:nvPr/>
        </p:nvSpPr>
        <p:spPr>
          <a:xfrm rot="18900000">
            <a:off x="2199132" y="2350008"/>
            <a:ext cx="402336" cy="548640"/>
          </a:xfrm>
          <a:prstGeom prst="teardrop">
            <a:avLst/>
          </a:prstGeom>
          <a:solidFill>
            <a:srgbClr val="2E8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7240" y="3172968"/>
            <a:ext cx="324612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</a:pPr>
            <a:r>
              <a:rPr sz="1350" b="1">
                <a:solidFill>
                  <a:srgbClr val="1E293B"/>
                </a:solidFill>
                <a:latin typeface="Segoe UI"/>
              </a:rPr>
              <a:t>Fish farms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" y="3520440"/>
            <a:ext cx="315468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6000"/>
              </a:lnSpc>
            </a:pPr>
            <a:r>
              <a:rPr sz="1050" b="0">
                <a:solidFill>
                  <a:srgbClr val="5B677D"/>
                </a:solidFill>
                <a:latin typeface="Segoe UI"/>
              </a:rPr>
              <a:t>Oxygen, temperature and aerators: a stuck oxygen probe can lose a whole pen overnight.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343400" y="1965960"/>
            <a:ext cx="3520440" cy="205740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E4E9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343400" y="1965960"/>
            <a:ext cx="3520440" cy="64008"/>
          </a:xfrm>
          <a:prstGeom prst="rect">
            <a:avLst/>
          </a:prstGeom>
          <a:solidFill>
            <a:srgbClr val="22A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5646420" y="2167128"/>
            <a:ext cx="914400" cy="914400"/>
          </a:xfrm>
          <a:prstGeom prst="ellipse">
            <a:avLst/>
          </a:prstGeom>
          <a:solidFill>
            <a:srgbClr val="DCF5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076188" y="2532888"/>
            <a:ext cx="54864" cy="384048"/>
          </a:xfrm>
          <a:prstGeom prst="rect">
            <a:avLst/>
          </a:prstGeom>
          <a:solidFill>
            <a:srgbClr val="9240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 rot="19800000">
            <a:off x="5829300" y="2331720"/>
            <a:ext cx="274320" cy="164592"/>
          </a:xfrm>
          <a:prstGeom prst="ellipse">
            <a:avLst/>
          </a:prstGeom>
          <a:solidFill>
            <a:srgbClr val="22A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 rot="1800000">
            <a:off x="6103620" y="2459736"/>
            <a:ext cx="274320" cy="164592"/>
          </a:xfrm>
          <a:prstGeom prst="ellipse">
            <a:avLst/>
          </a:prstGeom>
          <a:solidFill>
            <a:srgbClr val="22A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Wave 21"/>
          <p:cNvSpPr/>
          <p:nvPr/>
        </p:nvSpPr>
        <p:spPr>
          <a:xfrm>
            <a:off x="5756148" y="2825496"/>
            <a:ext cx="694944" cy="128016"/>
          </a:xfrm>
          <a:prstGeom prst="wave">
            <a:avLst/>
          </a:prstGeom>
          <a:solidFill>
            <a:srgbClr val="2E8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480560" y="3172968"/>
            <a:ext cx="324612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</a:pPr>
            <a:r>
              <a:rPr sz="1350" b="1">
                <a:solidFill>
                  <a:srgbClr val="1E293B"/>
                </a:solidFill>
                <a:latin typeface="Segoe UI"/>
              </a:rPr>
              <a:t>Greenhouses and vertical farms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26280" y="3520440"/>
            <a:ext cx="315468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6000"/>
              </a:lnSpc>
            </a:pPr>
            <a:r>
              <a:rPr sz="1050" b="0">
                <a:solidFill>
                  <a:srgbClr val="5B677D"/>
                </a:solidFill>
                <a:latin typeface="Segoe UI"/>
              </a:rPr>
              <a:t>Heat, humidity, CO2 and watering: act on the plants, not on a sensor that has dried out.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046719" y="1965960"/>
            <a:ext cx="3520440" cy="205740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E4E9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8046719" y="1965960"/>
            <a:ext cx="3520440" cy="6400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9349739" y="2167128"/>
            <a:ext cx="914400" cy="914400"/>
          </a:xfrm>
          <a:prstGeom prst="ellipse">
            <a:avLst/>
          </a:prstGeom>
          <a:solidFill>
            <a:srgbClr val="FEF3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Teardrop 27"/>
          <p:cNvSpPr/>
          <p:nvPr/>
        </p:nvSpPr>
        <p:spPr>
          <a:xfrm rot="18900000">
            <a:off x="9624059" y="2313432"/>
            <a:ext cx="365760" cy="502920"/>
          </a:xfrm>
          <a:prstGeom prst="teardrop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9532619" y="2843784"/>
            <a:ext cx="548640" cy="73152"/>
          </a:xfrm>
          <a:prstGeom prst="rect">
            <a:avLst/>
          </a:prstGeom>
          <a:solidFill>
            <a:srgbClr val="5B6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183879" y="3172968"/>
            <a:ext cx="324612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</a:pPr>
            <a:r>
              <a:rPr sz="1350" b="1">
                <a:solidFill>
                  <a:srgbClr val="1E293B"/>
                </a:solidFill>
                <a:latin typeface="Segoe UI"/>
              </a:rPr>
              <a:t>Breweries and wineries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229599" y="3520440"/>
            <a:ext cx="315468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6000"/>
              </a:lnSpc>
            </a:pPr>
            <a:r>
              <a:rPr sz="1050" b="0">
                <a:solidFill>
                  <a:srgbClr val="5B677D"/>
                </a:solidFill>
                <a:latin typeface="Segoe UI"/>
              </a:rPr>
              <a:t>Fermentation temperature and pressure: cool, vent or hold the tank, with a record for every batch.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40080" y="4178808"/>
            <a:ext cx="3520440" cy="205740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E4E9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40080" y="4178808"/>
            <a:ext cx="3520440" cy="64008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1943100" y="4379976"/>
            <a:ext cx="914400" cy="914400"/>
          </a:xfrm>
          <a:prstGeom prst="ellipse">
            <a:avLst/>
          </a:prstGeom>
          <a:solidFill>
            <a:srgbClr val="D5F5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2180844" y="4507992"/>
            <a:ext cx="438912" cy="640080"/>
          </a:xfrm>
          <a:prstGeom prst="round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2180844" y="4764024"/>
            <a:ext cx="438912" cy="365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2519172" y="4581144"/>
            <a:ext cx="36576" cy="12801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2519172" y="4837176"/>
            <a:ext cx="36576" cy="1645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9" name="8-Point Star 38"/>
          <p:cNvSpPr/>
          <p:nvPr/>
        </p:nvSpPr>
        <p:spPr>
          <a:xfrm>
            <a:off x="2253996" y="4855464"/>
            <a:ext cx="201168" cy="201168"/>
          </a:xfrm>
          <a:prstGeom prst="star8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777240" y="5385816"/>
            <a:ext cx="324612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</a:pPr>
            <a:r>
              <a:rPr sz="1350" b="1">
                <a:solidFill>
                  <a:srgbClr val="1E293B"/>
                </a:solidFill>
                <a:latin typeface="Segoe UI"/>
              </a:rPr>
              <a:t>Dairies and milking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22960" y="5733288"/>
            <a:ext cx="315468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6000"/>
              </a:lnSpc>
            </a:pPr>
            <a:r>
              <a:rPr sz="1050" b="0">
                <a:solidFill>
                  <a:srgbClr val="5B677D"/>
                </a:solidFill>
                <a:latin typeface="Segoe UI"/>
              </a:rPr>
              <a:t>Milk cooling, wash cycles and tank temperature: never ship a batch after a missed wash.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4343400" y="4178808"/>
            <a:ext cx="3520440" cy="205740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E4E9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4343400" y="4178808"/>
            <a:ext cx="3520440" cy="64008"/>
          </a:xfrm>
          <a:prstGeom prst="rect">
            <a:avLst/>
          </a:prstGeom>
          <a:solidFill>
            <a:srgbClr val="6C4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4" name="Oval 43"/>
          <p:cNvSpPr/>
          <p:nvPr/>
        </p:nvSpPr>
        <p:spPr>
          <a:xfrm>
            <a:off x="5646420" y="4379976"/>
            <a:ext cx="914400" cy="914400"/>
          </a:xfrm>
          <a:prstGeom prst="ellipse">
            <a:avLst/>
          </a:prstGeom>
          <a:solidFill>
            <a:srgbClr val="EAE4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6076188" y="4745736"/>
            <a:ext cx="54864" cy="384048"/>
          </a:xfrm>
          <a:prstGeom prst="rect">
            <a:avLst/>
          </a:prstGeom>
          <a:solidFill>
            <a:srgbClr val="9240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6" name="Oval 45"/>
          <p:cNvSpPr/>
          <p:nvPr/>
        </p:nvSpPr>
        <p:spPr>
          <a:xfrm rot="19800000">
            <a:off x="5829300" y="4544568"/>
            <a:ext cx="274320" cy="164592"/>
          </a:xfrm>
          <a:prstGeom prst="ellipse">
            <a:avLst/>
          </a:prstGeom>
          <a:solidFill>
            <a:srgbClr val="6C4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7" name="Oval 46"/>
          <p:cNvSpPr/>
          <p:nvPr/>
        </p:nvSpPr>
        <p:spPr>
          <a:xfrm rot="1800000">
            <a:off x="6103620" y="4672584"/>
            <a:ext cx="274320" cy="164592"/>
          </a:xfrm>
          <a:prstGeom prst="ellipse">
            <a:avLst/>
          </a:prstGeom>
          <a:solidFill>
            <a:srgbClr val="6C4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8" name="Wave 47"/>
          <p:cNvSpPr/>
          <p:nvPr/>
        </p:nvSpPr>
        <p:spPr>
          <a:xfrm>
            <a:off x="5756148" y="5038344"/>
            <a:ext cx="694944" cy="128016"/>
          </a:xfrm>
          <a:prstGeom prst="wave">
            <a:avLst/>
          </a:prstGeom>
          <a:solidFill>
            <a:srgbClr val="2E8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4480560" y="5385816"/>
            <a:ext cx="324612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</a:pPr>
            <a:r>
              <a:rPr sz="1350" b="1">
                <a:solidFill>
                  <a:srgbClr val="1E293B"/>
                </a:solidFill>
                <a:latin typeface="Segoe UI"/>
              </a:rPr>
              <a:t>Grain silos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526280" y="5733288"/>
            <a:ext cx="315468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6000"/>
              </a:lnSpc>
            </a:pPr>
            <a:r>
              <a:rPr sz="1050" b="0">
                <a:solidFill>
                  <a:srgbClr val="5B677D"/>
                </a:solidFill>
                <a:latin typeface="Segoe UI"/>
              </a:rPr>
              <a:t>Temperature cables, moisture and fans: catch spoiling grain early, and the dust risk before it builds.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8046719" y="4178808"/>
            <a:ext cx="3520440" cy="205740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E4E9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8046719" y="4178808"/>
            <a:ext cx="3520440" cy="64008"/>
          </a:xfrm>
          <a:prstGeom prst="rect">
            <a:avLst/>
          </a:prstGeom>
          <a:solidFill>
            <a:srgbClr val="E11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3" name="Oval 52"/>
          <p:cNvSpPr/>
          <p:nvPr/>
        </p:nvSpPr>
        <p:spPr>
          <a:xfrm>
            <a:off x="9349739" y="4379976"/>
            <a:ext cx="914400" cy="914400"/>
          </a:xfrm>
          <a:prstGeom prst="ellipse">
            <a:avLst/>
          </a:prstGeom>
          <a:solidFill>
            <a:srgbClr val="FCE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4" name="Folded Corner 53"/>
          <p:cNvSpPr/>
          <p:nvPr/>
        </p:nvSpPr>
        <p:spPr>
          <a:xfrm>
            <a:off x="9587483" y="4507992"/>
            <a:ext cx="438912" cy="603504"/>
          </a:xfrm>
          <a:prstGeom prst="foldedCorner">
            <a:avLst/>
          </a:prstGeom>
          <a:solidFill>
            <a:srgbClr val="FFFFFF"/>
          </a:solidFill>
          <a:ln w="25400">
            <a:solidFill>
              <a:srgbClr val="E11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9669779" y="4636008"/>
            <a:ext cx="274320" cy="36576"/>
          </a:xfrm>
          <a:prstGeom prst="rect">
            <a:avLst/>
          </a:prstGeom>
          <a:solidFill>
            <a:srgbClr val="E11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9669779" y="4745736"/>
            <a:ext cx="274320" cy="36576"/>
          </a:xfrm>
          <a:prstGeom prst="rect">
            <a:avLst/>
          </a:prstGeom>
          <a:solidFill>
            <a:srgbClr val="E11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9669779" y="4855464"/>
            <a:ext cx="274320" cy="36576"/>
          </a:xfrm>
          <a:prstGeom prst="rect">
            <a:avLst/>
          </a:prstGeom>
          <a:solidFill>
            <a:srgbClr val="E11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9669779" y="4965192"/>
            <a:ext cx="274320" cy="36576"/>
          </a:xfrm>
          <a:prstGeom prst="rect">
            <a:avLst/>
          </a:prstGeom>
          <a:solidFill>
            <a:srgbClr val="E11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8183879" y="5385816"/>
            <a:ext cx="324612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</a:pPr>
            <a:r>
              <a:rPr sz="1350" b="1">
                <a:solidFill>
                  <a:srgbClr val="1E293B"/>
                </a:solidFill>
                <a:latin typeface="Segoe UI"/>
              </a:rPr>
              <a:t>Food-safety plans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229599" y="5733288"/>
            <a:ext cx="315468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6000"/>
              </a:lnSpc>
            </a:pPr>
            <a:r>
              <a:rPr sz="1050" b="0">
                <a:solidFill>
                  <a:srgbClr val="5B677D"/>
                </a:solidFill>
                <a:latin typeface="Segoe UI"/>
              </a:rPr>
              <a:t>Check a kitchen or factory's food-safety rules: every hazard has a control, nothing contradicts.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98448"/>
          </a:xfrm>
          <a:prstGeom prst="rect">
            <a:avLst/>
          </a:prstGeom>
          <a:solidFill>
            <a:srgbClr val="141B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298448"/>
            <a:ext cx="12191695" cy="50292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237744"/>
            <a:ext cx="108813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4B8A6"/>
                </a:solidFill>
                <a:latin typeface="Segoe UI"/>
              </a:rPr>
              <a:t>BEYOND FACTORIES (5 OF 5)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12064"/>
            <a:ext cx="10881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FFFFFF"/>
                </a:solidFill>
                <a:latin typeface="Segoe UI"/>
              </a:rPr>
              <a:t>Everyday services and rulebooks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463040"/>
            <a:ext cx="10881360" cy="475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0">
                <a:solidFill>
                  <a:srgbClr val="5B677D"/>
                </a:solidFill>
                <a:latin typeface="Segoe UI"/>
              </a:rPr>
              <a:t>Where people need a clear answer and a reason. Possibilities, not yet proven in the field.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B677D"/>
                </a:solidFill>
                <a:latin typeface="Segoe UI"/>
              </a:rPr>
              <a:t>quorum  ·  BioDream LLC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64240" y="6419088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1">
                <a:solidFill>
                  <a:srgbClr val="5B677D"/>
                </a:solidFill>
                <a:latin typeface="Segoe UI"/>
              </a:rPr>
              <a:t>30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1965960"/>
            <a:ext cx="3520440" cy="205740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E4E9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0080" y="1965960"/>
            <a:ext cx="3520440" cy="64008"/>
          </a:xfrm>
          <a:prstGeom prst="rect">
            <a:avLst/>
          </a:prstGeom>
          <a:solidFill>
            <a:srgbClr val="2E8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943100" y="2167128"/>
            <a:ext cx="914400" cy="914400"/>
          </a:xfrm>
          <a:prstGeom prst="ellipse">
            <a:avLst/>
          </a:prstGeom>
          <a:solidFill>
            <a:srgbClr val="DBEA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ardrop 12"/>
          <p:cNvSpPr/>
          <p:nvPr/>
        </p:nvSpPr>
        <p:spPr>
          <a:xfrm rot="18900000">
            <a:off x="2199132" y="2350008"/>
            <a:ext cx="402336" cy="548640"/>
          </a:xfrm>
          <a:prstGeom prst="teardrop">
            <a:avLst/>
          </a:prstGeom>
          <a:solidFill>
            <a:srgbClr val="2E8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7240" y="3172968"/>
            <a:ext cx="324612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</a:pPr>
            <a:r>
              <a:rPr sz="1350" b="1">
                <a:solidFill>
                  <a:srgbClr val="1E293B"/>
                </a:solidFill>
                <a:latin typeface="Segoe UI"/>
              </a:rPr>
              <a:t>Pools and water parks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" y="3520440"/>
            <a:ext cx="315468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6000"/>
              </a:lnSpc>
            </a:pPr>
            <a:r>
              <a:rPr sz="1050" b="0">
                <a:solidFill>
                  <a:srgbClr val="5B677D"/>
                </a:solidFill>
                <a:latin typeface="Segoe UI"/>
              </a:rPr>
              <a:t>Chlorine and acid dosing: never dose when the flow sensor is dead or the pump has stopped.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343400" y="1965960"/>
            <a:ext cx="3520440" cy="205740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E4E9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343400" y="1965960"/>
            <a:ext cx="3520440" cy="64008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5646420" y="2167128"/>
            <a:ext cx="914400" cy="914400"/>
          </a:xfrm>
          <a:prstGeom prst="ellipse">
            <a:avLst/>
          </a:prstGeom>
          <a:solidFill>
            <a:srgbClr val="D5F5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Gear 6 18"/>
          <p:cNvSpPr/>
          <p:nvPr/>
        </p:nvSpPr>
        <p:spPr>
          <a:xfrm>
            <a:off x="5811012" y="2331720"/>
            <a:ext cx="585216" cy="585216"/>
          </a:xfrm>
          <a:prstGeom prst="gear6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6012180" y="2532888"/>
            <a:ext cx="182880" cy="18288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480560" y="3172968"/>
            <a:ext cx="324612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</a:pPr>
            <a:r>
              <a:rPr sz="1350" b="1">
                <a:solidFill>
                  <a:srgbClr val="1E293B"/>
                </a:solidFill>
                <a:latin typeface="Segoe UI"/>
              </a:rPr>
              <a:t>Wind and solar farms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26280" y="3520440"/>
            <a:ext cx="315468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6000"/>
              </a:lnSpc>
            </a:pPr>
            <a:r>
              <a:rPr sz="1050" b="0">
                <a:solidFill>
                  <a:srgbClr val="5B677D"/>
                </a:solidFill>
                <a:latin typeface="Segoe UI"/>
              </a:rPr>
              <a:t>Icing, vibration and grid faults: keep turning, slow down or stop, with the reason for the crew.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046719" y="1965960"/>
            <a:ext cx="3520440" cy="205740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E4E9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8046719" y="1965960"/>
            <a:ext cx="3520440" cy="64008"/>
          </a:xfrm>
          <a:prstGeom prst="rect">
            <a:avLst/>
          </a:prstGeom>
          <a:solidFill>
            <a:srgbClr val="22A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9349739" y="2167128"/>
            <a:ext cx="914400" cy="914400"/>
          </a:xfrm>
          <a:prstGeom prst="ellipse">
            <a:avLst/>
          </a:prstGeom>
          <a:solidFill>
            <a:srgbClr val="DCF5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9477755" y="2441448"/>
            <a:ext cx="603504" cy="365760"/>
          </a:xfrm>
          <a:prstGeom prst="roundRect">
            <a:avLst/>
          </a:prstGeom>
          <a:solidFill>
            <a:srgbClr val="FFFFFF"/>
          </a:solidFill>
          <a:ln w="38100">
            <a:solidFill>
              <a:srgbClr val="22A5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10081259" y="2551176"/>
            <a:ext cx="64008" cy="146304"/>
          </a:xfrm>
          <a:prstGeom prst="rect">
            <a:avLst/>
          </a:prstGeom>
          <a:solidFill>
            <a:srgbClr val="22A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Lightning Bolt 27"/>
          <p:cNvSpPr/>
          <p:nvPr/>
        </p:nvSpPr>
        <p:spPr>
          <a:xfrm>
            <a:off x="9660635" y="2468880"/>
            <a:ext cx="274320" cy="310896"/>
          </a:xfrm>
          <a:prstGeom prst="lightningBol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183879" y="3172968"/>
            <a:ext cx="324612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</a:pPr>
            <a:r>
              <a:rPr sz="1350" b="1">
                <a:solidFill>
                  <a:srgbClr val="1E293B"/>
                </a:solidFill>
                <a:latin typeface="Segoe UI"/>
              </a:rPr>
              <a:t>Electric-vehicle chargers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229599" y="3520440"/>
            <a:ext cx="315468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6000"/>
              </a:lnSpc>
            </a:pPr>
            <a:r>
              <a:rPr sz="1050" b="0">
                <a:solidFill>
                  <a:srgbClr val="5B677D"/>
                </a:solidFill>
                <a:latin typeface="Segoe UI"/>
              </a:rPr>
              <a:t>Cable heat, ground faults and battery limits: charge, slow down or stop, explained.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40080" y="4178808"/>
            <a:ext cx="3520440" cy="205740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E4E9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640080" y="4178808"/>
            <a:ext cx="3520440" cy="6400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1943100" y="4379976"/>
            <a:ext cx="914400" cy="914400"/>
          </a:xfrm>
          <a:prstGeom prst="ellipse">
            <a:avLst/>
          </a:prstGeom>
          <a:solidFill>
            <a:srgbClr val="FEF3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2052828" y="4654296"/>
            <a:ext cx="438912" cy="29260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2510028" y="4764024"/>
            <a:ext cx="237744" cy="182880"/>
          </a:xfrm>
          <a:prstGeom prst="round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2125980" y="4928616"/>
            <a:ext cx="146304" cy="146304"/>
          </a:xfrm>
          <a:prstGeom prst="ellipse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2546604" y="4928616"/>
            <a:ext cx="146304" cy="146304"/>
          </a:xfrm>
          <a:prstGeom prst="ellipse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777240" y="5385816"/>
            <a:ext cx="324612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</a:pPr>
            <a:r>
              <a:rPr sz="1350" b="1">
                <a:solidFill>
                  <a:srgbClr val="1E293B"/>
                </a:solidFill>
                <a:latin typeface="Segoe UI"/>
              </a:rPr>
              <a:t>Aircraft and fleet upkeep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22960" y="5733288"/>
            <a:ext cx="315468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6000"/>
              </a:lnSpc>
            </a:pPr>
            <a:r>
              <a:rPr sz="1050" b="0">
                <a:solidFill>
                  <a:srgbClr val="5B677D"/>
                </a:solidFill>
                <a:latin typeface="Segoe UI"/>
              </a:rPr>
              <a:t>Maintenance checklists with exceptions: find the case where two rules disagree, before a mechanic does.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4343400" y="4178808"/>
            <a:ext cx="3520440" cy="205740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E4E9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4343400" y="4178808"/>
            <a:ext cx="3520440" cy="64008"/>
          </a:xfrm>
          <a:prstGeom prst="rect">
            <a:avLst/>
          </a:prstGeom>
          <a:solidFill>
            <a:srgbClr val="6C4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2" name="Oval 41"/>
          <p:cNvSpPr/>
          <p:nvPr/>
        </p:nvSpPr>
        <p:spPr>
          <a:xfrm>
            <a:off x="5646420" y="4379976"/>
            <a:ext cx="914400" cy="914400"/>
          </a:xfrm>
          <a:prstGeom prst="ellipse">
            <a:avLst/>
          </a:prstGeom>
          <a:solidFill>
            <a:srgbClr val="EAE4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6076188" y="4526280"/>
            <a:ext cx="54864" cy="566928"/>
          </a:xfrm>
          <a:prstGeom prst="rect">
            <a:avLst/>
          </a:prstGeom>
          <a:solidFill>
            <a:srgbClr val="6C4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5774436" y="4562856"/>
            <a:ext cx="658368" cy="45720"/>
          </a:xfrm>
          <a:prstGeom prst="rect">
            <a:avLst/>
          </a:prstGeom>
          <a:solidFill>
            <a:srgbClr val="6C4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5" name="Chord 44"/>
          <p:cNvSpPr/>
          <p:nvPr/>
        </p:nvSpPr>
        <p:spPr>
          <a:xfrm rot="10800000">
            <a:off x="5719572" y="4672584"/>
            <a:ext cx="237744" cy="182880"/>
          </a:xfrm>
          <a:prstGeom prst="chord">
            <a:avLst/>
          </a:prstGeom>
          <a:solidFill>
            <a:srgbClr val="6C4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6" name="Chord 45"/>
          <p:cNvSpPr/>
          <p:nvPr/>
        </p:nvSpPr>
        <p:spPr>
          <a:xfrm rot="10800000">
            <a:off x="6249924" y="4672584"/>
            <a:ext cx="237744" cy="182880"/>
          </a:xfrm>
          <a:prstGeom prst="chord">
            <a:avLst/>
          </a:prstGeom>
          <a:solidFill>
            <a:srgbClr val="6C4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5939028" y="5074920"/>
            <a:ext cx="329184" cy="64008"/>
          </a:xfrm>
          <a:prstGeom prst="rect">
            <a:avLst/>
          </a:prstGeom>
          <a:solidFill>
            <a:srgbClr val="6C4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4480560" y="5385816"/>
            <a:ext cx="324612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</a:pPr>
            <a:r>
              <a:rPr sz="1350" b="1">
                <a:solidFill>
                  <a:srgbClr val="1E293B"/>
                </a:solidFill>
                <a:latin typeface="Segoe UI"/>
              </a:rPr>
              <a:t>Benefits and grants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526280" y="5733288"/>
            <a:ext cx="315468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6000"/>
              </a:lnSpc>
            </a:pPr>
            <a:r>
              <a:rPr sz="1050" b="0">
                <a:solidFill>
                  <a:srgbClr val="5B677D"/>
                </a:solidFill>
                <a:latin typeface="Segoe UI"/>
              </a:rPr>
              <a:t>Eligibility rules with exceptions: a missing document is "not yet known", never quietly "no".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8046719" y="4178808"/>
            <a:ext cx="3520440" cy="205740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E4E9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8046719" y="4178808"/>
            <a:ext cx="3520440" cy="64008"/>
          </a:xfrm>
          <a:prstGeom prst="rect">
            <a:avLst/>
          </a:prstGeom>
          <a:solidFill>
            <a:srgbClr val="E11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2" name="Oval 51"/>
          <p:cNvSpPr/>
          <p:nvPr/>
        </p:nvSpPr>
        <p:spPr>
          <a:xfrm>
            <a:off x="9349739" y="4379976"/>
            <a:ext cx="914400" cy="914400"/>
          </a:xfrm>
          <a:prstGeom prst="ellipse">
            <a:avLst/>
          </a:prstGeom>
          <a:solidFill>
            <a:srgbClr val="FCE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3" name="Isosceles Triangle 52"/>
          <p:cNvSpPr/>
          <p:nvPr/>
        </p:nvSpPr>
        <p:spPr>
          <a:xfrm>
            <a:off x="9477755" y="4489704"/>
            <a:ext cx="658368" cy="310896"/>
          </a:xfrm>
          <a:prstGeom prst="triangle">
            <a:avLst/>
          </a:prstGeom>
          <a:solidFill>
            <a:srgbClr val="E11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9560051" y="4791456"/>
            <a:ext cx="493776" cy="347472"/>
          </a:xfrm>
          <a:prstGeom prst="rect">
            <a:avLst/>
          </a:prstGeom>
          <a:solidFill>
            <a:srgbClr val="E11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9742931" y="4928616"/>
            <a:ext cx="128016" cy="21031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8183879" y="5385816"/>
            <a:ext cx="324612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</a:pPr>
            <a:r>
              <a:rPr sz="1350" b="1">
                <a:solidFill>
                  <a:srgbClr val="1E293B"/>
                </a:solidFill>
                <a:latin typeface="Segoe UI"/>
              </a:rPr>
              <a:t>Smart homes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8229599" y="5733288"/>
            <a:ext cx="315468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6000"/>
              </a:lnSpc>
            </a:pPr>
            <a:r>
              <a:rPr sz="1050" b="0">
                <a:solidFill>
                  <a:srgbClr val="5B677D"/>
                </a:solidFill>
                <a:latin typeface="Segoe UI"/>
              </a:rPr>
              <a:t>Leak sensors and water shut-off valves: close the main before the basement floods, and say why.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98448"/>
          </a:xfrm>
          <a:prstGeom prst="rect">
            <a:avLst/>
          </a:prstGeom>
          <a:solidFill>
            <a:srgbClr val="141B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298448"/>
            <a:ext cx="12191695" cy="50292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237744"/>
            <a:ext cx="108813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4B8A6"/>
                </a:solidFill>
                <a:latin typeface="Segoe UI"/>
              </a:rPr>
              <a:t>A CLOSER LOOK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12064"/>
            <a:ext cx="10881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FFFFFF"/>
                </a:solidFill>
                <a:latin typeface="Segoe UI"/>
              </a:rPr>
              <a:t>Example: checking a pharmacy's patient-flagging rules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463040"/>
            <a:ext cx="10881360" cy="475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0">
                <a:solidFill>
                  <a:srgbClr val="5B677D"/>
                </a:solidFill>
                <a:latin typeface="Segoe UI"/>
              </a:rPr>
              <a:t>A pharmacy system flags patients for review. quorum could check those rules, the way it checks a pump's.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B677D"/>
                </a:solidFill>
                <a:latin typeface="Segoe UI"/>
              </a:rPr>
              <a:t>quorum  ·  BioDream LLC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64240" y="6419088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1">
                <a:solidFill>
                  <a:srgbClr val="5B677D"/>
                </a:solidFill>
                <a:latin typeface="Segoe UI"/>
              </a:rPr>
              <a:t>31</a:t>
            </a:r>
          </a:p>
        </p:txBody>
      </p:sp>
      <p:sp>
        <p:nvSpPr>
          <p:cNvPr id="10" name="Rounded Rectangular Callout 9"/>
          <p:cNvSpPr/>
          <p:nvPr/>
        </p:nvSpPr>
        <p:spPr>
          <a:xfrm>
            <a:off x="731520" y="2057400"/>
            <a:ext cx="3840480" cy="960120"/>
          </a:xfrm>
          <a:prstGeom prst="wedgeRoundRectCallout">
            <a:avLst/>
          </a:prstGeom>
          <a:solidFill>
            <a:srgbClr val="E11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050" b="1">
                <a:solidFill>
                  <a:srgbClr val="FFFFFF"/>
                </a:solidFill>
                <a:latin typeface="Segoe UI"/>
              </a:rPr>
              <a:t>RULE</a:t>
            </a:r>
          </a:p>
          <a:p>
            <a:pPr algn="ctr"/>
            <a:r>
              <a:rPr sz="1200">
                <a:solidFill>
                  <a:srgbClr val="FFFFFF"/>
                </a:solidFill>
                <a:latin typeface="Segoe UI"/>
              </a:rPr>
              <a:t>"Flag for kidney dosing if clearance is under 30."</a:t>
            </a:r>
          </a:p>
        </p:txBody>
      </p:sp>
      <p:sp>
        <p:nvSpPr>
          <p:cNvPr id="11" name="Rounded Rectangular Callout 10"/>
          <p:cNvSpPr/>
          <p:nvPr/>
        </p:nvSpPr>
        <p:spPr>
          <a:xfrm>
            <a:off x="731520" y="3246120"/>
            <a:ext cx="3840480" cy="960120"/>
          </a:xfrm>
          <a:prstGeom prst="wedgeRoundRectCallou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050" b="1">
                <a:solidFill>
                  <a:srgbClr val="FFFFFF"/>
                </a:solidFill>
                <a:latin typeface="Segoe UI"/>
              </a:rPr>
              <a:t>EXCEPTION</a:t>
            </a:r>
          </a:p>
          <a:p>
            <a:pPr algn="ctr"/>
            <a:r>
              <a:rPr sz="1200">
                <a:solidFill>
                  <a:srgbClr val="FFFFFF"/>
                </a:solidFill>
                <a:latin typeface="Segoe UI"/>
              </a:rPr>
              <a:t>"...unless the patient is on dialysis."</a:t>
            </a:r>
          </a:p>
        </p:txBody>
      </p:sp>
      <p:sp>
        <p:nvSpPr>
          <p:cNvPr id="12" name="Rounded Rectangular Callout 11"/>
          <p:cNvSpPr/>
          <p:nvPr/>
        </p:nvSpPr>
        <p:spPr>
          <a:xfrm>
            <a:off x="731520" y="4434840"/>
            <a:ext cx="3840480" cy="960120"/>
          </a:xfrm>
          <a:prstGeom prst="wedgeRoundRectCallout">
            <a:avLst/>
          </a:prstGeom>
          <a:solidFill>
            <a:srgbClr val="6C4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050" b="1">
                <a:solidFill>
                  <a:srgbClr val="FFFFFF"/>
                </a:solidFill>
                <a:latin typeface="Segoe UI"/>
              </a:rPr>
              <a:t>MISSING DATA</a:t>
            </a:r>
          </a:p>
          <a:p>
            <a:pPr algn="ctr"/>
            <a:r>
              <a:rPr sz="1200">
                <a:solidFill>
                  <a:srgbClr val="FFFFFF"/>
                </a:solidFill>
                <a:latin typeface="Segoe UI"/>
              </a:rPr>
              <a:t>"No lab result received yet."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4709160" y="3429000"/>
            <a:ext cx="731520" cy="0"/>
          </a:xfrm>
          <a:prstGeom prst="line">
            <a:avLst/>
          </a:prstGeom>
          <a:ln w="38100">
            <a:solidFill>
              <a:srgbClr val="5B677D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Cross 13"/>
          <p:cNvSpPr/>
          <p:nvPr/>
        </p:nvSpPr>
        <p:spPr>
          <a:xfrm>
            <a:off x="5788152" y="3136392"/>
            <a:ext cx="585216" cy="585216"/>
          </a:xfrm>
          <a:prstGeom prst="plus">
            <a:avLst/>
          </a:prstGeom>
          <a:solidFill>
            <a:srgbClr val="E11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949440" y="2011680"/>
            <a:ext cx="4572000" cy="109728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E4E9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949440" y="2011680"/>
            <a:ext cx="68580" cy="109728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7223760" y="2267712"/>
            <a:ext cx="475488" cy="475488"/>
          </a:xfrm>
          <a:prstGeom prst="round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223760" y="2331720"/>
            <a:ext cx="47548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700" b="1">
                <a:solidFill>
                  <a:srgbClr val="FFFFFF"/>
                </a:solidFill>
                <a:latin typeface="Segoe UI"/>
              </a:rPr>
              <a:t>✓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845552" y="2267712"/>
            <a:ext cx="338328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>
                <a:solidFill>
                  <a:srgbClr val="1E293B"/>
                </a:solidFill>
                <a:latin typeface="Segoe UI"/>
              </a:rPr>
              <a:t>Gaps and overlaps found before go-live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242048" y="2926080"/>
            <a:ext cx="3968496" cy="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200" b="0">
                <a:solidFill>
                  <a:srgbClr val="5B677D"/>
                </a:solidFill>
                <a:latin typeface="Segoe UI"/>
              </a:rPr>
              <a:t/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949440" y="3246120"/>
            <a:ext cx="4572000" cy="109728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E4E9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949440" y="3246120"/>
            <a:ext cx="68580" cy="109728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7223760" y="3502152"/>
            <a:ext cx="475488" cy="475488"/>
          </a:xfrm>
          <a:prstGeom prst="round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223760" y="3566160"/>
            <a:ext cx="47548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700" b="1">
                <a:solidFill>
                  <a:srgbClr val="FFFFFF"/>
                </a:solidFill>
                <a:latin typeface="Segoe UI"/>
              </a:rPr>
              <a:t>?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845552" y="3502152"/>
            <a:ext cx="338328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>
                <a:solidFill>
                  <a:srgbClr val="1E293B"/>
                </a:solidFill>
                <a:latin typeface="Segoe UI"/>
              </a:rPr>
              <a:t>"Assumed normal: no result received"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42048" y="4160520"/>
            <a:ext cx="3968496" cy="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200" b="0">
                <a:solidFill>
                  <a:srgbClr val="5B677D"/>
                </a:solidFill>
                <a:latin typeface="Segoe UI"/>
              </a:rPr>
              <a:t/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949440" y="4480560"/>
            <a:ext cx="4572000" cy="109728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E4E9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949440" y="4480560"/>
            <a:ext cx="68580" cy="1097280"/>
          </a:xfrm>
          <a:prstGeom prst="rect">
            <a:avLst/>
          </a:prstGeom>
          <a:solidFill>
            <a:srgbClr val="6C4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7223760" y="4736592"/>
            <a:ext cx="475488" cy="475488"/>
          </a:xfrm>
          <a:prstGeom prst="roundRect">
            <a:avLst/>
          </a:prstGeom>
          <a:solidFill>
            <a:srgbClr val="6C4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223760" y="4800600"/>
            <a:ext cx="47548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700" b="1">
                <a:solidFill>
                  <a:srgbClr val="FFFFFF"/>
                </a:solidFill>
                <a:latin typeface="Segoe UI"/>
              </a:rPr>
              <a:t>⚑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845552" y="4736592"/>
            <a:ext cx="338328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>
                <a:solidFill>
                  <a:srgbClr val="1E293B"/>
                </a:solidFill>
                <a:latin typeface="Segoe UI"/>
              </a:rPr>
              <a:t>Every flag explained, for audits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242048" y="5394960"/>
            <a:ext cx="3968496" cy="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200" b="0">
                <a:solidFill>
                  <a:srgbClr val="5B677D"/>
                </a:solidFill>
                <a:latin typeface="Segoe UI"/>
              </a:rPr>
              <a:t/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40080" y="5669280"/>
            <a:ext cx="10908792" cy="640080"/>
          </a:xfrm>
          <a:prstGeom prst="roundRect">
            <a:avLst/>
          </a:prstGeom>
          <a:solidFill>
            <a:srgbClr val="141B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640080" y="5669280"/>
            <a:ext cx="82296" cy="64008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987552" y="5833872"/>
            <a:ext cx="10241280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250" b="0">
                <a:solidFill>
                  <a:srgbClr val="FFFFFF"/>
                </a:solidFill>
                <a:latin typeface="Segoe UI"/>
              </a:rPr>
              <a:t>It would only flag patients for a pharmacist to review, never decide treatment. Patient data stays inside the hospital.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98448"/>
          </a:xfrm>
          <a:prstGeom prst="rect">
            <a:avLst/>
          </a:prstGeom>
          <a:solidFill>
            <a:srgbClr val="141B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298448"/>
            <a:ext cx="12191695" cy="50292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237744"/>
            <a:ext cx="108813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4B8A6"/>
                </a:solidFill>
                <a:latin typeface="Segoe UI"/>
              </a:rPr>
              <a:t>HONEST LIMITS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12064"/>
            <a:ext cx="10881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FFFFFF"/>
                </a:solidFill>
                <a:latin typeface="Segoe UI"/>
              </a:rPr>
              <a:t>What quorum is not, and what it has not done yet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463040"/>
            <a:ext cx="10881360" cy="475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0">
                <a:solidFill>
                  <a:srgbClr val="5B677D"/>
                </a:solidFill>
                <a:latin typeface="Segoe UI"/>
              </a:rPr>
              <a:t>Saying this up front is part of what makes the rest believable.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B677D"/>
                </a:solidFill>
                <a:latin typeface="Segoe UI"/>
              </a:rPr>
              <a:t>quorum  ·  BioDream LLC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64240" y="6419088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1">
                <a:solidFill>
                  <a:srgbClr val="5B677D"/>
                </a:solidFill>
                <a:latin typeface="Segoe UI"/>
              </a:rPr>
              <a:t>32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2011680"/>
            <a:ext cx="5349240" cy="164592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E4E9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0080" y="2011680"/>
            <a:ext cx="68580" cy="1645920"/>
          </a:xfrm>
          <a:prstGeom prst="rect">
            <a:avLst/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914400" y="2267712"/>
            <a:ext cx="475488" cy="475488"/>
          </a:xfrm>
          <a:prstGeom prst="roundRect">
            <a:avLst/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14400" y="2331720"/>
            <a:ext cx="47548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700" b="1">
                <a:solidFill>
                  <a:srgbClr val="FFFFFF"/>
                </a:solidFill>
                <a:latin typeface="Segoe UI"/>
              </a:rPr>
              <a:t>✕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36192" y="2267712"/>
            <a:ext cx="416052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>
                <a:solidFill>
                  <a:srgbClr val="1E293B"/>
                </a:solidFill>
                <a:latin typeface="Segoe UI"/>
              </a:rPr>
              <a:t>It does not predict the future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32688" y="2926080"/>
            <a:ext cx="4745736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200" b="0">
                <a:solidFill>
                  <a:srgbClr val="5B677D"/>
                </a:solidFill>
                <a:latin typeface="Segoe UI"/>
              </a:rPr>
              <a:t>It applies agreed rules to what it sees now. "Heart attack in 48 hours" needs a trained, proven model.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72200" y="2011680"/>
            <a:ext cx="5349240" cy="164592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E4E9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172200" y="2011680"/>
            <a:ext cx="68580" cy="164592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446520" y="2267712"/>
            <a:ext cx="475488" cy="475488"/>
          </a:xfrm>
          <a:prstGeom prst="round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46520" y="2331720"/>
            <a:ext cx="47548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700" b="1">
                <a:solidFill>
                  <a:srgbClr val="FFFFFF"/>
                </a:solidFill>
                <a:latin typeface="Segoe UI"/>
              </a:rPr>
              <a:t>!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068312" y="2267712"/>
            <a:ext cx="416052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>
                <a:solidFill>
                  <a:srgbClr val="1E293B"/>
                </a:solidFill>
                <a:latin typeface="Segoe UI"/>
              </a:rPr>
              <a:t>Not certified for safety-critical use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64808" y="2926080"/>
            <a:ext cx="4745736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200" b="0">
                <a:solidFill>
                  <a:srgbClr val="5B677D"/>
                </a:solidFill>
                <a:latin typeface="Segoe UI"/>
              </a:rPr>
              <a:t>Medical devices, cars or anything that could hurt someone would need formal certification first.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40080" y="3794760"/>
            <a:ext cx="5349240" cy="164592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E4E9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40080" y="3794760"/>
            <a:ext cx="68580" cy="1645920"/>
          </a:xfrm>
          <a:prstGeom prst="rect">
            <a:avLst/>
          </a:prstGeom>
          <a:solidFill>
            <a:srgbClr val="6C4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914400" y="4050792"/>
            <a:ext cx="475488" cy="475488"/>
          </a:xfrm>
          <a:prstGeom prst="roundRect">
            <a:avLst/>
          </a:prstGeom>
          <a:solidFill>
            <a:srgbClr val="6C4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14400" y="4114800"/>
            <a:ext cx="47548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700" b="1">
                <a:solidFill>
                  <a:srgbClr val="FFFFFF"/>
                </a:solidFill>
                <a:latin typeface="Segoe UI"/>
              </a:rPr>
              <a:t>≈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536192" y="4050792"/>
            <a:ext cx="416052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>
                <a:solidFill>
                  <a:srgbClr val="1E293B"/>
                </a:solidFill>
                <a:latin typeface="Segoe UI"/>
              </a:rPr>
              <a:t>Learning is not proven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32688" y="4709160"/>
            <a:ext cx="4745736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200" b="0">
                <a:solidFill>
                  <a:srgbClr val="5B677D"/>
                </a:solidFill>
                <a:latin typeface="Segoe UI"/>
              </a:rPr>
              <a:t>Pre-registered tests showed real average gains, but not enough to clear every bar set in advance.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172200" y="3794760"/>
            <a:ext cx="5349240" cy="164592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E4E9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172200" y="3794760"/>
            <a:ext cx="68580" cy="1645920"/>
          </a:xfrm>
          <a:prstGeom prst="rect">
            <a:avLst/>
          </a:prstGeom>
          <a:solidFill>
            <a:srgbClr val="2E8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6446520" y="4050792"/>
            <a:ext cx="475488" cy="475488"/>
          </a:xfrm>
          <a:prstGeom prst="roundRect">
            <a:avLst/>
          </a:prstGeom>
          <a:solidFill>
            <a:srgbClr val="2E8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446520" y="4114800"/>
            <a:ext cx="47548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700" b="1">
                <a:solidFill>
                  <a:srgbClr val="FFFFFF"/>
                </a:solidFill>
                <a:latin typeface="Segoe UI"/>
              </a:rPr>
              <a:t>✎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068312" y="4050792"/>
            <a:ext cx="416052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>
                <a:solidFill>
                  <a:srgbClr val="1E293B"/>
                </a:solidFill>
                <a:latin typeface="Segoe UI"/>
              </a:rPr>
              <a:t>AI drafts still need a person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64808" y="4709160"/>
            <a:ext cx="4745736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200" b="0">
                <a:solidFill>
                  <a:srgbClr val="5B677D"/>
                </a:solidFill>
                <a:latin typeface="Segoe UI"/>
              </a:rPr>
              <a:t>On real documents the large AI now gets the rules right in most runs, but not all. An engineer must approve.</a:t>
            </a:r>
          </a:p>
        </p:txBody>
      </p:sp>
      <p:sp>
        <p:nvSpPr>
          <p:cNvPr id="34" name="&quot;No&quot; Symbol 33"/>
          <p:cNvSpPr/>
          <p:nvPr/>
        </p:nvSpPr>
        <p:spPr>
          <a:xfrm>
            <a:off x="10607040" y="274320"/>
            <a:ext cx="777240" cy="777240"/>
          </a:xfrm>
          <a:prstGeom prst="noSmoking">
            <a:avLst/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640080" y="5669280"/>
            <a:ext cx="10908792" cy="594360"/>
          </a:xfrm>
          <a:prstGeom prst="roundRect">
            <a:avLst/>
          </a:prstGeom>
          <a:solidFill>
            <a:srgbClr val="141B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640080" y="5669280"/>
            <a:ext cx="82296" cy="59436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87552" y="5833872"/>
            <a:ext cx="10241280" cy="3566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250" b="0">
                <a:solidFill>
                  <a:srgbClr val="FFFFFF"/>
                </a:solidFill>
                <a:latin typeface="Segoe UI"/>
              </a:rPr>
              <a:t>It advises and decides inside a rulebook a person wrote and approved. It is a careful judge, not a fortune teller.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98448"/>
          </a:xfrm>
          <a:prstGeom prst="rect">
            <a:avLst/>
          </a:prstGeom>
          <a:solidFill>
            <a:srgbClr val="141B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298448"/>
            <a:ext cx="12191695" cy="50292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237744"/>
            <a:ext cx="108813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4B8A6"/>
                </a:solidFill>
                <a:latin typeface="Segoe UI"/>
              </a:rPr>
              <a:t>WHERE IT STANDS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12064"/>
            <a:ext cx="10881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FFFFFF"/>
                </a:solidFill>
                <a:latin typeface="Segoe UI"/>
              </a:rPr>
              <a:t>Built and tested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463040"/>
            <a:ext cx="10881360" cy="475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0">
                <a:solidFill>
                  <a:srgbClr val="5B677D"/>
                </a:solidFill>
                <a:latin typeface="Segoe UI"/>
              </a:rPr>
              <a:t>October 2026.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B677D"/>
                </a:solidFill>
                <a:latin typeface="Segoe UI"/>
              </a:rPr>
              <a:t>quorum  ·  BioDream LLC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64240" y="6419088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1">
                <a:solidFill>
                  <a:srgbClr val="5B677D"/>
                </a:solidFill>
                <a:latin typeface="Segoe UI"/>
              </a:rPr>
              <a:t>33</a:t>
            </a:r>
          </a:p>
        </p:txBody>
      </p:sp>
      <p:sp>
        <p:nvSpPr>
          <p:cNvPr id="10" name="Rectangle 9"/>
          <p:cNvSpPr/>
          <p:nvPr/>
        </p:nvSpPr>
        <p:spPr>
          <a:xfrm>
            <a:off x="1143000" y="2240280"/>
            <a:ext cx="54864" cy="3291840"/>
          </a:xfrm>
          <a:prstGeom prst="rect">
            <a:avLst/>
          </a:prstGeom>
          <a:solidFill>
            <a:srgbClr val="E4E9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896112" y="2048256"/>
            <a:ext cx="548640" cy="548640"/>
          </a:xfrm>
          <a:prstGeom prst="ellipse">
            <a:avLst/>
          </a:prstGeom>
          <a:solidFill>
            <a:srgbClr val="22A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/>
            <a:r>
              <a:rPr sz="1600" b="1">
                <a:solidFill>
                  <a:srgbClr val="FFFFFF"/>
                </a:solidFill>
                <a:latin typeface="Segoe UI"/>
              </a:rPr>
              <a:t>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737360" y="2029968"/>
            <a:ext cx="2926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500" b="1">
                <a:solidFill>
                  <a:srgbClr val="1E293B"/>
                </a:solidFill>
                <a:latin typeface="Segoe UI"/>
              </a:rPr>
              <a:t>Engine and checker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0" y="2084832"/>
            <a:ext cx="69494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250" b="0">
                <a:solidFill>
                  <a:srgbClr val="5B677D"/>
                </a:solidFill>
                <a:latin typeface="Segoe UI"/>
              </a:rPr>
              <a:t>Every-case checking, refusals, explanations, speed limit.</a:t>
            </a:r>
          </a:p>
        </p:txBody>
      </p:sp>
      <p:sp>
        <p:nvSpPr>
          <p:cNvPr id="14" name="Oval 13"/>
          <p:cNvSpPr/>
          <p:nvPr/>
        </p:nvSpPr>
        <p:spPr>
          <a:xfrm>
            <a:off x="896112" y="2688336"/>
            <a:ext cx="548640" cy="548640"/>
          </a:xfrm>
          <a:prstGeom prst="ellipse">
            <a:avLst/>
          </a:prstGeom>
          <a:solidFill>
            <a:srgbClr val="22A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/>
            <a:r>
              <a:rPr sz="1600" b="1">
                <a:solidFill>
                  <a:srgbClr val="FFFFFF"/>
                </a:solidFill>
                <a:latin typeface="Segoe UI"/>
              </a:rPr>
              <a:t>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737360" y="2670048"/>
            <a:ext cx="2926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500" b="1">
                <a:solidFill>
                  <a:srgbClr val="1E293B"/>
                </a:solidFill>
                <a:latin typeface="Segoe UI"/>
              </a:rPr>
              <a:t>Desktop studio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0" y="2724912"/>
            <a:ext cx="69494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250" b="0">
                <a:solidFill>
                  <a:srgbClr val="5B677D"/>
                </a:solidFill>
                <a:latin typeface="Segoe UI"/>
              </a:rPr>
              <a:t>Edit, import worksheets, learn from records, write chip files. Windows installer.</a:t>
            </a:r>
          </a:p>
        </p:txBody>
      </p:sp>
      <p:sp>
        <p:nvSpPr>
          <p:cNvPr id="17" name="Oval 16"/>
          <p:cNvSpPr/>
          <p:nvPr/>
        </p:nvSpPr>
        <p:spPr>
          <a:xfrm>
            <a:off x="896112" y="3328416"/>
            <a:ext cx="548640" cy="548640"/>
          </a:xfrm>
          <a:prstGeom prst="ellipse">
            <a:avLst/>
          </a:prstGeom>
          <a:solidFill>
            <a:srgbClr val="22A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/>
            <a:r>
              <a:rPr sz="1600" b="1">
                <a:solidFill>
                  <a:srgbClr val="FFFFFF"/>
                </a:solidFill>
                <a:latin typeface="Segoe UI"/>
              </a:rPr>
              <a:t>✓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737360" y="3310128"/>
            <a:ext cx="2926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500" b="1">
                <a:solidFill>
                  <a:srgbClr val="1E293B"/>
                </a:solidFill>
                <a:latin typeface="Segoe UI"/>
              </a:rPr>
              <a:t>Three boards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0" y="3364992"/>
            <a:ext cx="69494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250" b="0">
                <a:solidFill>
                  <a:srgbClr val="5B677D"/>
                </a:solidFill>
                <a:latin typeface="Segoe UI"/>
              </a:rPr>
              <a:t>Pico 2 and Uno R4 match the PC exactly; Pi 5 runs everything natively.</a:t>
            </a:r>
          </a:p>
        </p:txBody>
      </p:sp>
      <p:sp>
        <p:nvSpPr>
          <p:cNvPr id="20" name="Oval 19"/>
          <p:cNvSpPr/>
          <p:nvPr/>
        </p:nvSpPr>
        <p:spPr>
          <a:xfrm>
            <a:off x="896112" y="3968496"/>
            <a:ext cx="548640" cy="548640"/>
          </a:xfrm>
          <a:prstGeom prst="ellipse">
            <a:avLst/>
          </a:prstGeom>
          <a:solidFill>
            <a:srgbClr val="22A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/>
            <a:r>
              <a:rPr sz="1600" b="1">
                <a:solidFill>
                  <a:srgbClr val="FFFFFF"/>
                </a:solidFill>
                <a:latin typeface="Segoe UI"/>
              </a:rPr>
              <a:t>✓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37360" y="3950208"/>
            <a:ext cx="2926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500" b="1">
                <a:solidFill>
                  <a:srgbClr val="1E293B"/>
                </a:solidFill>
                <a:latin typeface="Segoe UI"/>
              </a:rPr>
              <a:t>AI guard, Modbus, proofs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0" y="4005072"/>
            <a:ext cx="69494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250" b="0">
                <a:solidFill>
                  <a:srgbClr val="5B677D"/>
                </a:solidFill>
                <a:latin typeface="Segoe UI"/>
              </a:rPr>
              <a:t>Checked on every situation; guard and Modbus reproduced on both chips.</a:t>
            </a:r>
          </a:p>
        </p:txBody>
      </p:sp>
      <p:sp>
        <p:nvSpPr>
          <p:cNvPr id="23" name="Oval 22"/>
          <p:cNvSpPr/>
          <p:nvPr/>
        </p:nvSpPr>
        <p:spPr>
          <a:xfrm>
            <a:off x="896112" y="4608576"/>
            <a:ext cx="548640" cy="548640"/>
          </a:xfrm>
          <a:prstGeom prst="ellipse">
            <a:avLst/>
          </a:prstGeom>
          <a:solidFill>
            <a:srgbClr val="2E8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/>
            <a:r>
              <a:rPr sz="1600" b="1">
                <a:solidFill>
                  <a:srgbClr val="FFFFFF"/>
                </a:solidFill>
                <a:latin typeface="Segoe UI"/>
              </a:rPr>
              <a:t>→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737360" y="4590288"/>
            <a:ext cx="2926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500" b="1">
                <a:solidFill>
                  <a:srgbClr val="1E293B"/>
                </a:solidFill>
                <a:latin typeface="Segoe UI"/>
              </a:rPr>
              <a:t>AI drafting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0" y="4645152"/>
            <a:ext cx="69494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250" b="0">
                <a:solidFill>
                  <a:srgbClr val="5B677D"/>
                </a:solidFill>
                <a:latin typeface="Segoe UI"/>
              </a:rPr>
              <a:t>Large AI models draft rulebooks from manuals; quorum checks them; a person approves.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40080" y="5852160"/>
            <a:ext cx="10908792" cy="457200"/>
          </a:xfrm>
          <a:prstGeom prst="roundRect">
            <a:avLst/>
          </a:prstGeom>
          <a:solidFill>
            <a:srgbClr val="141B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40080" y="5852160"/>
            <a:ext cx="82296" cy="4572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87552" y="6016752"/>
            <a:ext cx="1024128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250" b="0">
                <a:solidFill>
                  <a:srgbClr val="FFFFFF"/>
                </a:solidFill>
                <a:latin typeface="Segoe UI"/>
              </a:rPr>
              <a:t>Source available under the PolyForm Noncommercial licence. Commercial licences from BioDream LLC.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B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9784080" y="822960"/>
            <a:ext cx="2651760" cy="2651760"/>
          </a:xfrm>
          <a:prstGeom prst="ellipse">
            <a:avLst/>
          </a:prstGeom>
          <a:solidFill>
            <a:srgbClr val="222C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0881360" y="3749039"/>
            <a:ext cx="1920240" cy="1920240"/>
          </a:xfrm>
          <a:prstGeom prst="ellipse">
            <a:avLst/>
          </a:prstGeom>
          <a:solidFill>
            <a:srgbClr val="2C2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960120"/>
            <a:ext cx="78638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14B8A6"/>
                </a:solidFill>
                <a:latin typeface="Segoe UI"/>
              </a:rPr>
              <a:t>IN SUMMARY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1371600"/>
            <a:ext cx="859536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3200" b="1">
                <a:solidFill>
                  <a:srgbClr val="FFFFFF"/>
                </a:solidFill>
                <a:latin typeface="Segoe UI"/>
              </a:rPr>
              <a:t>A careful, honest judge</a:t>
            </a:r>
          </a:p>
          <a:p>
            <a:pPr algn="l">
              <a:lnSpc>
                <a:spcPct val="110000"/>
              </a:lnSpc>
            </a:pPr>
            <a:r>
              <a:rPr sz="3200" b="1">
                <a:solidFill>
                  <a:srgbClr val="FFFFFF"/>
                </a:solidFill>
                <a:latin typeface="Segoe UI"/>
              </a:rPr>
              <a:t>for machines and their rules.</a:t>
            </a:r>
          </a:p>
        </p:txBody>
      </p:sp>
      <p:sp>
        <p:nvSpPr>
          <p:cNvPr id="8" name="Oval 7"/>
          <p:cNvSpPr/>
          <p:nvPr/>
        </p:nvSpPr>
        <p:spPr>
          <a:xfrm>
            <a:off x="841248" y="3099816"/>
            <a:ext cx="118872" cy="118872"/>
          </a:xfrm>
          <a:prstGeom prst="ellipse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207008" y="3017520"/>
            <a:ext cx="877824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</a:pPr>
            <a:r>
              <a:rPr sz="1400" b="0">
                <a:solidFill>
                  <a:srgbClr val="E4E9F2"/>
                </a:solidFill>
                <a:latin typeface="Segoe UI"/>
              </a:rPr>
              <a:t>Rules in plain words, checked against every situation before they run.</a:t>
            </a:r>
          </a:p>
        </p:txBody>
      </p:sp>
      <p:sp>
        <p:nvSpPr>
          <p:cNvPr id="10" name="Oval 9"/>
          <p:cNvSpPr/>
          <p:nvPr/>
        </p:nvSpPr>
        <p:spPr>
          <a:xfrm>
            <a:off x="841248" y="3758183"/>
            <a:ext cx="118872" cy="118872"/>
          </a:xfrm>
          <a:prstGeom prst="ellipse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207008" y="3675887"/>
            <a:ext cx="877824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</a:pPr>
            <a:r>
              <a:rPr sz="1400" b="0">
                <a:solidFill>
                  <a:srgbClr val="E4E9F2"/>
                </a:solidFill>
                <a:latin typeface="Segoe UI"/>
              </a:rPr>
              <a:t>One clear answer, on time, with its reasons and its assumptions.</a:t>
            </a:r>
          </a:p>
        </p:txBody>
      </p:sp>
      <p:sp>
        <p:nvSpPr>
          <p:cNvPr id="12" name="Oval 11"/>
          <p:cNvSpPr/>
          <p:nvPr/>
        </p:nvSpPr>
        <p:spPr>
          <a:xfrm>
            <a:off x="841248" y="4416552"/>
            <a:ext cx="118872" cy="118872"/>
          </a:xfrm>
          <a:prstGeom prst="ellipse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207008" y="4334256"/>
            <a:ext cx="877824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</a:pPr>
            <a:r>
              <a:rPr sz="1400" b="0">
                <a:solidFill>
                  <a:srgbClr val="E4E9F2"/>
                </a:solidFill>
                <a:latin typeface="Segoe UI"/>
              </a:rPr>
              <a:t>Small enough for an $11 chip; refuses anything it cannot trust.</a:t>
            </a:r>
          </a:p>
        </p:txBody>
      </p:sp>
      <p:sp>
        <p:nvSpPr>
          <p:cNvPr id="14" name="Oval 13"/>
          <p:cNvSpPr/>
          <p:nvPr/>
        </p:nvSpPr>
        <p:spPr>
          <a:xfrm>
            <a:off x="841248" y="5074920"/>
            <a:ext cx="118872" cy="118872"/>
          </a:xfrm>
          <a:prstGeom prst="ellipse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207008" y="4992624"/>
            <a:ext cx="877824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</a:pPr>
            <a:r>
              <a:rPr sz="1400" b="0">
                <a:solidFill>
                  <a:srgbClr val="E4E9F2"/>
                </a:solidFill>
                <a:latin typeface="Segoe UI"/>
              </a:rPr>
              <a:t>Useful well beyond factories: lifts, rail, farms, food, water, energy, healthcare rules.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2960" y="5760720"/>
            <a:ext cx="6035040" cy="566928"/>
          </a:xfrm>
          <a:prstGeom prst="round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2960" y="5925312"/>
            <a:ext cx="603504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50" b="1">
                <a:solidFill>
                  <a:srgbClr val="141B34"/>
                </a:solidFill>
                <a:latin typeface="Segoe UI"/>
              </a:rPr>
              <a:t>quorum  ·  BioDream LLC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0065433" y="2084832"/>
            <a:ext cx="98473" cy="109728"/>
          </a:xfrm>
          <a:prstGeom prst="rect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0065433" y="3474720"/>
            <a:ext cx="98473" cy="109728"/>
          </a:xfrm>
          <a:prstGeom prst="rect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10262381" y="2084832"/>
            <a:ext cx="98473" cy="109728"/>
          </a:xfrm>
          <a:prstGeom prst="rect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10262381" y="3474720"/>
            <a:ext cx="98473" cy="109728"/>
          </a:xfrm>
          <a:prstGeom prst="rect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10459329" y="2084832"/>
            <a:ext cx="98473" cy="109728"/>
          </a:xfrm>
          <a:prstGeom prst="rect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10459329" y="3474720"/>
            <a:ext cx="98473" cy="109728"/>
          </a:xfrm>
          <a:prstGeom prst="rect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10656276" y="2084832"/>
            <a:ext cx="98473" cy="109728"/>
          </a:xfrm>
          <a:prstGeom prst="rect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10656276" y="3474720"/>
            <a:ext cx="98473" cy="109728"/>
          </a:xfrm>
          <a:prstGeom prst="rect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10853224" y="2084832"/>
            <a:ext cx="98473" cy="109728"/>
          </a:xfrm>
          <a:prstGeom prst="rect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10853224" y="3474720"/>
            <a:ext cx="98473" cy="109728"/>
          </a:xfrm>
          <a:prstGeom prst="rect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11050172" y="2084832"/>
            <a:ext cx="98473" cy="109728"/>
          </a:xfrm>
          <a:prstGeom prst="rect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11050172" y="3474720"/>
            <a:ext cx="98473" cy="109728"/>
          </a:xfrm>
          <a:prstGeom prst="rect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9857232" y="2293033"/>
            <a:ext cx="109728" cy="98473"/>
          </a:xfrm>
          <a:prstGeom prst="rect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11247120" y="2293033"/>
            <a:ext cx="109728" cy="98473"/>
          </a:xfrm>
          <a:prstGeom prst="rect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9857232" y="2489981"/>
            <a:ext cx="109728" cy="98473"/>
          </a:xfrm>
          <a:prstGeom prst="rect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11247120" y="2489981"/>
            <a:ext cx="109728" cy="98473"/>
          </a:xfrm>
          <a:prstGeom prst="rect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9857232" y="2686929"/>
            <a:ext cx="109728" cy="98473"/>
          </a:xfrm>
          <a:prstGeom prst="rect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11247120" y="2686929"/>
            <a:ext cx="109728" cy="98473"/>
          </a:xfrm>
          <a:prstGeom prst="rect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9857232" y="2883876"/>
            <a:ext cx="109728" cy="98473"/>
          </a:xfrm>
          <a:prstGeom prst="rect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11247120" y="2883876"/>
            <a:ext cx="109728" cy="98473"/>
          </a:xfrm>
          <a:prstGeom prst="rect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9857232" y="3080824"/>
            <a:ext cx="109728" cy="98473"/>
          </a:xfrm>
          <a:prstGeom prst="rect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11247120" y="3080824"/>
            <a:ext cx="109728" cy="98473"/>
          </a:xfrm>
          <a:prstGeom prst="rect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9857232" y="3277772"/>
            <a:ext cx="109728" cy="98473"/>
          </a:xfrm>
          <a:prstGeom prst="rect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11247120" y="3277772"/>
            <a:ext cx="109728" cy="98473"/>
          </a:xfrm>
          <a:prstGeom prst="rect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2" name="Rounded Rectangle 41"/>
          <p:cNvSpPr/>
          <p:nvPr/>
        </p:nvSpPr>
        <p:spPr>
          <a:xfrm>
            <a:off x="9966960" y="2194560"/>
            <a:ext cx="1280160" cy="1280160"/>
          </a:xfrm>
          <a:prstGeom prst="roundRect">
            <a:avLst/>
          </a:prstGeom>
          <a:solidFill>
            <a:srgbClr val="1F29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3" name="Oval 42"/>
          <p:cNvSpPr/>
          <p:nvPr/>
        </p:nvSpPr>
        <p:spPr>
          <a:xfrm>
            <a:off x="10049256" y="2276856"/>
            <a:ext cx="100584" cy="100584"/>
          </a:xfrm>
          <a:prstGeom prst="ellipse">
            <a:avLst/>
          </a:prstGeom>
          <a:solidFill>
            <a:srgbClr val="3741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9966960" y="2514600"/>
            <a:ext cx="12801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</a:pPr>
            <a:r>
              <a:rPr sz="1500" b="1">
                <a:solidFill>
                  <a:srgbClr val="FFFFFF"/>
                </a:solidFill>
                <a:latin typeface="Segoe UI"/>
              </a:rPr>
              <a:t>quorum</a:t>
            </a:r>
          </a:p>
        </p:txBody>
      </p:sp>
      <p:sp>
        <p:nvSpPr>
          <p:cNvPr id="45" name="Off-page Connector 44"/>
          <p:cNvSpPr/>
          <p:nvPr/>
        </p:nvSpPr>
        <p:spPr>
          <a:xfrm>
            <a:off x="10351008" y="4261104"/>
            <a:ext cx="512064" cy="621792"/>
          </a:xfrm>
          <a:prstGeom prst="flowChartOffpageConnector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10351008" y="4389120"/>
            <a:ext cx="51206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</a:pPr>
            <a:r>
              <a:rPr sz="2000" b="1">
                <a:solidFill>
                  <a:srgbClr val="FFFFFF"/>
                </a:solidFill>
                <a:latin typeface="Segoe UI"/>
              </a:rPr>
              <a:t>✓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