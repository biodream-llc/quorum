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38160" y="-822960"/>
            <a:ext cx="5120640" cy="5120640"/>
          </a:xfrm>
          <a:prstGeom prst="ellipse">
            <a:avLst/>
          </a:prstGeom>
          <a:solidFill>
            <a:srgbClr val="22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92640" y="3566160"/>
            <a:ext cx="3108960" cy="3108960"/>
          </a:xfrm>
          <a:prstGeom prst="ellipse">
            <a:avLst/>
          </a:prstGeom>
          <a:solidFill>
            <a:srgbClr val="2C2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51560"/>
            <a:ext cx="7132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BIODREAM LLC  ·  FINAL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71323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66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40"/>
            <a:ext cx="6949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E4E9F2"/>
                </a:solidFill>
                <a:latin typeface="Segoe UI"/>
              </a:rPr>
              <a:t>A tiny, honest judge for machines.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500" b="0">
                <a:solidFill>
                  <a:srgbClr val="94A3B8"/>
                </a:solidFill>
                <a:latin typeface="Segoe UI"/>
              </a:rPr>
              <a:t>It reads a machine's sensors, weighs the evidence like a courtroom, gives one clear answer with its reasons, and was checked against every situation before it was allowed to run.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17720"/>
            <a:ext cx="1645920" cy="40233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Plain-English rules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40" y="4617720"/>
            <a:ext cx="1645920" cy="402336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7919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Checks every case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617720"/>
            <a:ext cx="1645920" cy="40233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6227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Explains itself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17720"/>
            <a:ext cx="1645920" cy="402336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4713732"/>
            <a:ext cx="14996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Runs on an $11 chip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0644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94A3B8"/>
                </a:solidFill>
                <a:latin typeface="Segoe UI"/>
              </a:rPr>
              <a:t>What it is  ·  what it does  ·  the problems it solves  ·  where else it fits  ·  where it stands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98744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98744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516793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6793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734843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34843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2892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952892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170941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170941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388990" y="2221992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388990" y="3749040"/>
            <a:ext cx="10902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79992" y="2440744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2440744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79992" y="265879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07040" y="265879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79992" y="287684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07040" y="2876843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79992" y="3094892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07040" y="3094892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079992" y="3312941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607040" y="3312941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079992" y="3530990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07040" y="3530990"/>
            <a:ext cx="109728" cy="109024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189720" y="2331720"/>
            <a:ext cx="1417320" cy="14173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272016" y="24140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89720" y="268605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9720" y="3153765"/>
            <a:ext cx="1417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on a chip</a:t>
            </a:r>
          </a:p>
        </p:txBody>
      </p:sp>
      <p:sp>
        <p:nvSpPr>
          <p:cNvPr id="46" name="Oval 45"/>
          <p:cNvSpPr/>
          <p:nvPr/>
        </p:nvSpPr>
        <p:spPr>
          <a:xfrm>
            <a:off x="8001000" y="1325880"/>
            <a:ext cx="530352" cy="530352"/>
          </a:xfrm>
          <a:prstGeom prst="ellips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8165592" y="14904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8549640" y="1591056"/>
            <a:ext cx="502920" cy="1444752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8001000" y="269748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165592" y="28620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549640" y="2962656"/>
            <a:ext cx="502920" cy="73152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8001000" y="4069080"/>
            <a:ext cx="530352" cy="53035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165592" y="42336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8549640" y="3035808"/>
            <a:ext cx="502920" cy="1298448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ular Callout 54"/>
          <p:cNvSpPr/>
          <p:nvPr/>
        </p:nvSpPr>
        <p:spPr>
          <a:xfrm>
            <a:off x="9144000" y="4251960"/>
            <a:ext cx="2377440" cy="96012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ANSWER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"Stop the pump: bearing wear."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quorum in six pictures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The whole idea on one page. Each of these gets its own slide.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21284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Folded Corner 12"/>
          <p:cNvSpPr/>
          <p:nvPr/>
        </p:nvSpPr>
        <p:spPr>
          <a:xfrm>
            <a:off x="2180844" y="2340864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63140" y="2468880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63140" y="2578608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63140" y="2688336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63140" y="2798064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Rules in plain words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Engineers write what they already know. No programming.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011680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46420" y="2212848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76188" y="2359152"/>
            <a:ext cx="54864" cy="56692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74436" y="2395728"/>
            <a:ext cx="658368" cy="457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ord 24"/>
          <p:cNvSpPr/>
          <p:nvPr/>
        </p:nvSpPr>
        <p:spPr>
          <a:xfrm rot="10800000">
            <a:off x="5719572" y="2505456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Chord 25"/>
          <p:cNvSpPr/>
          <p:nvPr/>
        </p:nvSpPr>
        <p:spPr>
          <a:xfrm rot="10800000">
            <a:off x="6249924" y="2505456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39028" y="2907792"/>
            <a:ext cx="329184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Rules argue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Like a courtroom: evidence, excuses and doubts knock each other down.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46719" y="201168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19" y="201168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9739" y="221284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Gear 6 32"/>
          <p:cNvSpPr/>
          <p:nvPr/>
        </p:nvSpPr>
        <p:spPr>
          <a:xfrm>
            <a:off x="9514331" y="2377440"/>
            <a:ext cx="585216" cy="585216"/>
          </a:xfrm>
          <a:prstGeom prst="gear6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15499" y="2578608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3879" y="321868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Every case checked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9" y="356616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Every possible combination of readings is tried before it runs.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420624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943100" y="440740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2071116" y="468172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8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674620" y="4791456"/>
            <a:ext cx="64008" cy="146304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Lightning Bolt 41"/>
          <p:cNvSpPr/>
          <p:nvPr/>
        </p:nvSpPr>
        <p:spPr>
          <a:xfrm>
            <a:off x="2253996" y="470916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Tiny and on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Fits an $11 chip and always answers within a proven time.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206240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46420" y="440740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Chord 47"/>
          <p:cNvSpPr/>
          <p:nvPr/>
        </p:nvSpPr>
        <p:spPr>
          <a:xfrm rot="10800000">
            <a:off x="5847588" y="4553712"/>
            <a:ext cx="512064" cy="585216"/>
          </a:xfrm>
          <a:prstGeom prst="chord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801868" y="4956048"/>
            <a:ext cx="603504" cy="73152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39612" y="5029200"/>
            <a:ext cx="128016" cy="109728"/>
          </a:xfrm>
          <a:prstGeom prst="ellipse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80560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Says why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26280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Every answer lists what it relied on, and what it had to assume.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046719" y="4206240"/>
            <a:ext cx="3520440" cy="20116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046719" y="420624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9739" y="440740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ff-page Connector 55"/>
          <p:cNvSpPr/>
          <p:nvPr/>
        </p:nvSpPr>
        <p:spPr>
          <a:xfrm>
            <a:off x="9550907" y="4553712"/>
            <a:ext cx="512064" cy="621792"/>
          </a:xfrm>
          <a:prstGeom prst="flowChartOffpageConnector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0907" y="4681728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83879" y="541324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Refuses bad input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599" y="5760720"/>
            <a:ext cx="3154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 rulebook with a hole, or a damaged file, is rejected outright.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Machines cry wolf, and people stop listening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Plants, buildings and utilities are full of alarms. Most are noise, and none of them explain themselves.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</a:t>
            </a:r>
          </a:p>
        </p:txBody>
      </p:sp>
      <p:sp>
        <p:nvSpPr>
          <p:cNvPr id="10" name="Chord 9"/>
          <p:cNvSpPr/>
          <p:nvPr/>
        </p:nvSpPr>
        <p:spPr>
          <a:xfrm rot="10800000">
            <a:off x="841248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33272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Chord 12"/>
          <p:cNvSpPr/>
          <p:nvPr/>
        </p:nvSpPr>
        <p:spPr>
          <a:xfrm rot="10800000">
            <a:off x="1499616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53896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91640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Chord 15"/>
          <p:cNvSpPr/>
          <p:nvPr/>
        </p:nvSpPr>
        <p:spPr>
          <a:xfrm rot="10800000">
            <a:off x="2157984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112264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350008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Chord 18"/>
          <p:cNvSpPr/>
          <p:nvPr/>
        </p:nvSpPr>
        <p:spPr>
          <a:xfrm rot="10800000">
            <a:off x="2816352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70632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08376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Chord 21"/>
          <p:cNvSpPr/>
          <p:nvPr/>
        </p:nvSpPr>
        <p:spPr>
          <a:xfrm rot="10800000">
            <a:off x="3474720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29000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666744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Chord 24"/>
          <p:cNvSpPr/>
          <p:nvPr/>
        </p:nvSpPr>
        <p:spPr>
          <a:xfrm rot="10800000">
            <a:off x="4133088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7368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25112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Chord 27"/>
          <p:cNvSpPr/>
          <p:nvPr/>
        </p:nvSpPr>
        <p:spPr>
          <a:xfrm rot="10800000">
            <a:off x="4791456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45736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983480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Chord 30"/>
          <p:cNvSpPr/>
          <p:nvPr/>
        </p:nvSpPr>
        <p:spPr>
          <a:xfrm rot="10800000">
            <a:off x="5449824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04104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41848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ord 33"/>
          <p:cNvSpPr/>
          <p:nvPr/>
        </p:nvSpPr>
        <p:spPr>
          <a:xfrm rot="10800000">
            <a:off x="6108192" y="206654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062472" y="246888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00216" y="254203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ord 36"/>
          <p:cNvSpPr/>
          <p:nvPr/>
        </p:nvSpPr>
        <p:spPr>
          <a:xfrm rot="10800000">
            <a:off x="841248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5528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ord 39"/>
          <p:cNvSpPr/>
          <p:nvPr/>
        </p:nvSpPr>
        <p:spPr>
          <a:xfrm rot="10800000">
            <a:off x="1499616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453896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691640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ord 42"/>
          <p:cNvSpPr/>
          <p:nvPr/>
        </p:nvSpPr>
        <p:spPr>
          <a:xfrm rot="10800000">
            <a:off x="2157984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112264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350008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ord 45"/>
          <p:cNvSpPr/>
          <p:nvPr/>
        </p:nvSpPr>
        <p:spPr>
          <a:xfrm rot="10800000">
            <a:off x="2816352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70632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08376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ord 48"/>
          <p:cNvSpPr/>
          <p:nvPr/>
        </p:nvSpPr>
        <p:spPr>
          <a:xfrm rot="10800000">
            <a:off x="3474720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29000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66744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Chord 51"/>
          <p:cNvSpPr/>
          <p:nvPr/>
        </p:nvSpPr>
        <p:spPr>
          <a:xfrm rot="10800000">
            <a:off x="4133088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87368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325112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Chord 54"/>
          <p:cNvSpPr/>
          <p:nvPr/>
        </p:nvSpPr>
        <p:spPr>
          <a:xfrm rot="10800000">
            <a:off x="4791456" y="2615184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745736" y="3017520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3090672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Chord 57"/>
          <p:cNvSpPr/>
          <p:nvPr/>
        </p:nvSpPr>
        <p:spPr>
          <a:xfrm rot="10800000">
            <a:off x="5449824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04104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641848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Chord 60"/>
          <p:cNvSpPr/>
          <p:nvPr/>
        </p:nvSpPr>
        <p:spPr>
          <a:xfrm rot="10800000">
            <a:off x="6108192" y="261518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2472" y="301752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300216" y="309067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Chord 63"/>
          <p:cNvSpPr/>
          <p:nvPr/>
        </p:nvSpPr>
        <p:spPr>
          <a:xfrm rot="10800000">
            <a:off x="841248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5528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033272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Chord 66"/>
          <p:cNvSpPr/>
          <p:nvPr/>
        </p:nvSpPr>
        <p:spPr>
          <a:xfrm rot="10800000">
            <a:off x="1499616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453896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691640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Chord 69"/>
          <p:cNvSpPr/>
          <p:nvPr/>
        </p:nvSpPr>
        <p:spPr>
          <a:xfrm rot="10800000">
            <a:off x="2157984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12264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50008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Chord 72"/>
          <p:cNvSpPr/>
          <p:nvPr/>
        </p:nvSpPr>
        <p:spPr>
          <a:xfrm rot="10800000">
            <a:off x="2816352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2770632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008376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Chord 75"/>
          <p:cNvSpPr/>
          <p:nvPr/>
        </p:nvSpPr>
        <p:spPr>
          <a:xfrm rot="10800000">
            <a:off x="3474720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429000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3666744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Chord 78"/>
          <p:cNvSpPr/>
          <p:nvPr/>
        </p:nvSpPr>
        <p:spPr>
          <a:xfrm rot="10800000">
            <a:off x="4133088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087368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325112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Chord 81"/>
          <p:cNvSpPr/>
          <p:nvPr/>
        </p:nvSpPr>
        <p:spPr>
          <a:xfrm rot="10800000">
            <a:off x="4791456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745736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83480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Chord 84"/>
          <p:cNvSpPr/>
          <p:nvPr/>
        </p:nvSpPr>
        <p:spPr>
          <a:xfrm rot="10800000">
            <a:off x="5449824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404104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641848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Chord 87"/>
          <p:cNvSpPr/>
          <p:nvPr/>
        </p:nvSpPr>
        <p:spPr>
          <a:xfrm rot="10800000">
            <a:off x="6108192" y="316382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62472" y="356616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300216" y="363931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Chord 90"/>
          <p:cNvSpPr/>
          <p:nvPr/>
        </p:nvSpPr>
        <p:spPr>
          <a:xfrm rot="10800000">
            <a:off x="841248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95528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33272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Chord 93"/>
          <p:cNvSpPr/>
          <p:nvPr/>
        </p:nvSpPr>
        <p:spPr>
          <a:xfrm rot="10800000">
            <a:off x="1499616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453896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691640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Chord 96"/>
          <p:cNvSpPr/>
          <p:nvPr/>
        </p:nvSpPr>
        <p:spPr>
          <a:xfrm rot="10800000">
            <a:off x="2157984" y="3712464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2112264" y="4114800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350008" y="4187952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Chord 99"/>
          <p:cNvSpPr/>
          <p:nvPr/>
        </p:nvSpPr>
        <p:spPr>
          <a:xfrm rot="10800000">
            <a:off x="2816352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770632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3008376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Chord 102"/>
          <p:cNvSpPr/>
          <p:nvPr/>
        </p:nvSpPr>
        <p:spPr>
          <a:xfrm rot="10800000">
            <a:off x="3474720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429000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666744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Chord 105"/>
          <p:cNvSpPr/>
          <p:nvPr/>
        </p:nvSpPr>
        <p:spPr>
          <a:xfrm rot="10800000">
            <a:off x="4133088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087368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325112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Chord 108"/>
          <p:cNvSpPr/>
          <p:nvPr/>
        </p:nvSpPr>
        <p:spPr>
          <a:xfrm rot="10800000">
            <a:off x="4791456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745736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83480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Chord 111"/>
          <p:cNvSpPr/>
          <p:nvPr/>
        </p:nvSpPr>
        <p:spPr>
          <a:xfrm rot="10800000">
            <a:off x="5449824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5404104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5641848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Chord 114"/>
          <p:cNvSpPr/>
          <p:nvPr/>
        </p:nvSpPr>
        <p:spPr>
          <a:xfrm rot="10800000">
            <a:off x="6108192" y="3712464"/>
            <a:ext cx="512064" cy="585216"/>
          </a:xfrm>
          <a:prstGeom prst="chord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062472" y="4114800"/>
            <a:ext cx="603504" cy="73152"/>
          </a:xfrm>
          <a:prstGeom prst="rect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300216" y="4187952"/>
            <a:ext cx="128016" cy="109728"/>
          </a:xfrm>
          <a:prstGeom prst="ellipse">
            <a:avLst/>
          </a:prstGeom>
          <a:solidFill>
            <a:srgbClr val="F8B4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22960" y="443484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Pale: nuisance alarms.  Dark: the two that mattered.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086600" y="2057400"/>
            <a:ext cx="44805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086600" y="2057400"/>
            <a:ext cx="68580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7360920" y="231343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3609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982712" y="231343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Alarm fatigue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379208" y="2971800"/>
            <a:ext cx="3877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When most alarms are wrong, people learn to ignore them, including the one that is right.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7086600" y="3611880"/>
            <a:ext cx="44805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086600" y="3611880"/>
            <a:ext cx="68580" cy="14173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736092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36092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982712" y="3867912"/>
            <a:ext cx="3291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reasons given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379208" y="4526280"/>
            <a:ext cx="38770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"The model scored 0.83" tells an operator nothing they can check or argue with.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640080" y="5074920"/>
            <a:ext cx="10908792" cy="10515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40080" y="507492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87552" y="5239512"/>
            <a:ext cx="1024128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What people actually need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One clear answer, the reasons behind it, and an honest note of anything it could not see. That is what quorum is built to give.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TRAP NOBODY SEES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dead sensor looks exactly like a healthy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Silence from a broken gauge reads as "all is well". Most systems cannot tell the difference.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4</a:t>
            </a:r>
          </a:p>
        </p:txBody>
      </p:sp>
      <p:sp>
        <p:nvSpPr>
          <p:cNvPr id="10" name="Can 9"/>
          <p:cNvSpPr/>
          <p:nvPr/>
        </p:nvSpPr>
        <p:spPr>
          <a:xfrm>
            <a:off x="822960" y="2194560"/>
            <a:ext cx="1920240" cy="2468880"/>
          </a:xfrm>
          <a:prstGeom prst="can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" y="2606040"/>
            <a:ext cx="1810512" cy="192024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Wave 11"/>
          <p:cNvSpPr/>
          <p:nvPr/>
        </p:nvSpPr>
        <p:spPr>
          <a:xfrm>
            <a:off x="731520" y="2029968"/>
            <a:ext cx="2103120" cy="274320"/>
          </a:xfrm>
          <a:prstGeom prst="wav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75488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DC2626"/>
                </a:solidFill>
                <a:latin typeface="Segoe UI"/>
              </a:rPr>
              <a:t>Tank: actually FULL, overflowing</a:t>
            </a:r>
          </a:p>
        </p:txBody>
      </p:sp>
      <p:sp>
        <p:nvSpPr>
          <p:cNvPr id="14" name="Oval 13"/>
          <p:cNvSpPr/>
          <p:nvPr/>
        </p:nvSpPr>
        <p:spPr>
          <a:xfrm>
            <a:off x="3017520" y="2468880"/>
            <a:ext cx="530352" cy="53035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82112" y="26334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3063240"/>
            <a:ext cx="1051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>
                <a:solidFill>
                  <a:srgbClr val="DC2626"/>
                </a:solidFill>
                <a:latin typeface="Segoe UI"/>
              </a:rPr>
              <a:t>gauge:
DEAD</a:t>
            </a:r>
          </a:p>
        </p:txBody>
      </p:sp>
      <p:sp>
        <p:nvSpPr>
          <p:cNvPr id="17" name="Oval 16"/>
          <p:cNvSpPr/>
          <p:nvPr/>
        </p:nvSpPr>
        <p:spPr>
          <a:xfrm>
            <a:off x="3429000" y="2286000"/>
            <a:ext cx="274320" cy="27432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31920" y="2743200"/>
            <a:ext cx="914400" cy="54864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931920" y="3291840"/>
            <a:ext cx="914400" cy="914400"/>
          </a:xfrm>
          <a:prstGeom prst="line">
            <a:avLst/>
          </a:prstGeom>
          <a:ln w="2540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ular Callout 19"/>
          <p:cNvSpPr/>
          <p:nvPr/>
        </p:nvSpPr>
        <p:spPr>
          <a:xfrm>
            <a:off x="4937760" y="2148840"/>
            <a:ext cx="3108960" cy="1143000"/>
          </a:xfrm>
          <a:prstGeom prst="wedgeRoundRectCallou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ORDINARY SYSTEM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 high-level signal. Tank is fine."</a:t>
            </a:r>
          </a:p>
        </p:txBody>
      </p:sp>
      <p:sp>
        <p:nvSpPr>
          <p:cNvPr id="21" name="Rounded Rectangular Callout 20"/>
          <p:cNvSpPr/>
          <p:nvPr/>
        </p:nvSpPr>
        <p:spPr>
          <a:xfrm>
            <a:off x="4937760" y="3611880"/>
            <a:ext cx="3108960" cy="132588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QUORUM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"I am ASSUMING the level is not high, because the gauge said nothing. Check it."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66760" y="2148840"/>
            <a:ext cx="3200400" cy="2788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66760" y="2148840"/>
            <a:ext cx="68580" cy="2788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641080" y="240487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41080" y="246888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62872" y="2404872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Real history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59368" y="3063240"/>
            <a:ext cx="2596896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2009 CAPECO tank-farm explosion in Puerto Rico began with a tank overfilling while its level gauge was not working. quorum names what it assumed, so a dead gauge shows up in the explanation.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49240"/>
            <a:ext cx="10908792" cy="7772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349240"/>
            <a:ext cx="82296" cy="777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513832"/>
            <a:ext cx="10241280" cy="5394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quorum also checks the rulebook itself: it warns when nothing in it can tell a dead sensor from a quiet one, before it ever goes near a machine.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IN ONE SENTENCE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quorum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1E293B"/>
                </a:solidFill>
                <a:latin typeface="Segoe UI"/>
              </a:rPr>
              <a:t>A rulebook for a machine that is allowed to argue with itself, checked against every situation that could ever happen, small enough to run on a chip that costs less than lunch.</a:t>
            </a:r>
          </a:p>
        </p:txBody>
      </p:sp>
      <p:sp>
        <p:nvSpPr>
          <p:cNvPr id="10" name="Pentagon 9"/>
          <p:cNvSpPr/>
          <p:nvPr/>
        </p:nvSpPr>
        <p:spPr>
          <a:xfrm>
            <a:off x="640080" y="2971800"/>
            <a:ext cx="2697480" cy="731520"/>
          </a:xfrm>
          <a:prstGeom prst="homePlat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1  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An engineer writes rules in plain words, or imports a safety worksheet.</a:t>
            </a:r>
          </a:p>
        </p:txBody>
      </p:sp>
      <p:sp>
        <p:nvSpPr>
          <p:cNvPr id="12" name="Chevron 11"/>
          <p:cNvSpPr/>
          <p:nvPr/>
        </p:nvSpPr>
        <p:spPr>
          <a:xfrm>
            <a:off x="3474720" y="2971800"/>
            <a:ext cx="2697480" cy="731520"/>
          </a:xfrm>
          <a:prstGeom prst="chevron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2 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computer tries every combination of readings and refuses if any fails.</a:t>
            </a:r>
          </a:p>
        </p:txBody>
      </p:sp>
      <p:sp>
        <p:nvSpPr>
          <p:cNvPr id="14" name="Chevron 13"/>
          <p:cNvSpPr/>
          <p:nvPr/>
        </p:nvSpPr>
        <p:spPr>
          <a:xfrm>
            <a:off x="6309360" y="2971800"/>
            <a:ext cx="2697480" cy="731520"/>
          </a:xfrm>
          <a:prstGeom prst="chevron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3  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One click turns the checked rulebook into a file for the chip.</a:t>
            </a:r>
          </a:p>
        </p:txBody>
      </p:sp>
      <p:sp>
        <p:nvSpPr>
          <p:cNvPr id="16" name="Chevron 15"/>
          <p:cNvSpPr/>
          <p:nvPr/>
        </p:nvSpPr>
        <p:spPr>
          <a:xfrm>
            <a:off x="9144000" y="2971800"/>
            <a:ext cx="2697480" cy="731520"/>
          </a:xfrm>
          <a:prstGeom prst="chevron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"/>
              </a:rPr>
              <a:t>4  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60" y="3840480"/>
            <a:ext cx="2423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chip answers in well under a millisecond, with its reasons.</a:t>
            </a:r>
          </a:p>
        </p:txBody>
      </p:sp>
      <p:sp>
        <p:nvSpPr>
          <p:cNvPr id="18" name="Folded Corner 17"/>
          <p:cNvSpPr/>
          <p:nvPr/>
        </p:nvSpPr>
        <p:spPr>
          <a:xfrm>
            <a:off x="868680" y="4800600"/>
            <a:ext cx="685800" cy="86868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5840" y="4946904"/>
            <a:ext cx="30861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5840" y="5148072"/>
            <a:ext cx="28803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520141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5840" y="525475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05840" y="5308092"/>
            <a:ext cx="28803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" y="536143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5414772"/>
            <a:ext cx="39090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703320" y="4983480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23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64104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104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90713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90713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17323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17323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43932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43932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70541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70541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097150" y="4736592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097150" y="5577840"/>
            <a:ext cx="63304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91072" y="4902590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4902590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91072" y="5015132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5015132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91072" y="5127673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223760" y="5127673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91072" y="5240215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3760" y="5240215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5352756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223760" y="5352756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91072" y="5465298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223760" y="5465298"/>
            <a:ext cx="109728" cy="5627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400800" y="4846320"/>
            <a:ext cx="822960" cy="7315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83096" y="49286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ular Callout 52"/>
          <p:cNvSpPr/>
          <p:nvPr/>
        </p:nvSpPr>
        <p:spPr>
          <a:xfrm>
            <a:off x="9052560" y="4709160"/>
            <a:ext cx="2377440" cy="868680"/>
          </a:xfrm>
          <a:prstGeom prst="wedgeRoundRectCallou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CHIP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"Carry on: maintenance today."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83080" y="502920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the rulebook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89120" y="5074920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every case passed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507492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loaded on a chip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HOW IT THINKS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Like a courtroom, not a calculator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Every rule is an argument. Arguments can knock each other down. Whatever survives decides.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6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731520" y="2103120"/>
            <a:ext cx="3291840" cy="914400"/>
          </a:xfrm>
          <a:prstGeom prst="wedgeRoundRectCallou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ACCUSATION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"Vibration is high: bearing wear!"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731520" y="3337560"/>
            <a:ext cx="3291840" cy="91440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EXCUSE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"No: it's from today's maintenance."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731520" y="4572000"/>
            <a:ext cx="3291840" cy="91440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THE DOUBT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"Don't trust that vibration reading."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4114800" y="2743200"/>
            <a:ext cx="822960" cy="1051560"/>
          </a:xfrm>
          <a:prstGeom prst="line">
            <a:avLst/>
          </a:prstGeom>
          <a:ln w="381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114800" y="2926080"/>
            <a:ext cx="822960" cy="2103120"/>
          </a:xfrm>
          <a:prstGeom prst="line">
            <a:avLst/>
          </a:prstGeom>
          <a:ln w="38100">
            <a:solidFill>
              <a:srgbClr val="6C4B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5596128" y="2386584"/>
            <a:ext cx="54864" cy="56692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94376" y="2423160"/>
            <a:ext cx="658368" cy="457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Chord 16"/>
          <p:cNvSpPr/>
          <p:nvPr/>
        </p:nvSpPr>
        <p:spPr>
          <a:xfrm rot="10800000">
            <a:off x="5239512" y="2532888"/>
            <a:ext cx="237744" cy="182880"/>
          </a:xfrm>
          <a:prstGeom prst="chord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Chord 17"/>
          <p:cNvSpPr/>
          <p:nvPr/>
        </p:nvSpPr>
        <p:spPr>
          <a:xfrm rot="10800000">
            <a:off x="5769864" y="2532888"/>
            <a:ext cx="237744" cy="182880"/>
          </a:xfrm>
          <a:prstGeom prst="chord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58968" y="2935224"/>
            <a:ext cx="329184" cy="640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0" y="3246120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the judge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103120"/>
            <a:ext cx="47548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93B"/>
                </a:solidFill>
                <a:latin typeface="Segoe UI"/>
              </a:rPr>
              <a:t>How a case plays out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alone: the accusation stands. Stop the pump.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+ maintenance today: the excuse knocks it down. Carry on.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Vibration + loose sensor mount: the reading itself is in doubt. Fix the sensor first.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300" b="1">
                <a:solidFill>
                  <a:srgbClr val="14B8A6"/>
                </a:solidFill>
                <a:latin typeface="Segoe UI"/>
              </a:rPr>
              <a:t>Exactly one answer every time, and the reason is the chain of arguments that survived.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71500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71500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587959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style of reasoning ("argumentation") has decades of research behind it. quorum's contribution is making it small, checked and on time enough for real machines.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RULEBOOK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Engineers write it in plain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short, readable file. An expert can read it, argue with it and sign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035040" cy="342900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14B8A6"/>
                </a:solidFill>
                <a:latin typeface="Segoe UI"/>
              </a:rPr>
              <a:t>casebook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2402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centrifugal-pump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7919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E8BE8"/>
                </a:solidFill>
                <a:latin typeface="Segoe UI"/>
              </a:rPr>
              <a:t>observe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67919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vibration_high, bearing_temp_high, 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1810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F59E0B"/>
                </a:solidFill>
                <a:latin typeface="Segoe UI"/>
              </a:rPr>
              <a:t>argument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311810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bearing_wear  "wear in the bearing"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5701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E11D6B"/>
                </a:solidFill>
                <a:latin typeface="Segoe UI"/>
              </a:rPr>
              <a:t>attacks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55701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maintenance_today -&gt; bearing_wear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99592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22A55A"/>
                </a:solidFill>
                <a:latin typeface="Segoe U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9959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stop_pump  when bearing_wear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43484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6C4BE8"/>
                </a:solidFill>
                <a:latin typeface="Segoe UI"/>
              </a:rPr>
              <a:t>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44348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stop_pump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87375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94A3B8"/>
                </a:solidFill>
                <a:latin typeface="Segoe UI"/>
              </a:rPr>
              <a:t>source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87375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E4E9F2"/>
                </a:solidFill>
                <a:latin typeface="Segoe UI"/>
              </a:rPr>
              <a:t>FMEA-PUMP-001 rev C, J. Okafor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9440" y="2011680"/>
            <a:ext cx="457200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49440" y="2011680"/>
            <a:ext cx="68580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2237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226771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programming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2048" y="2926080"/>
            <a:ext cx="39684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handful of keywords. The computer writes all the fiddly wiring for the chip itself.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49440" y="3749039"/>
            <a:ext cx="457200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949440" y="3749039"/>
            <a:ext cx="68580" cy="16916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223760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4005071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Or start from paperwork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42048" y="4663439"/>
            <a:ext cx="39684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Import the safety worksheets a plant already keeps (HAZOP, LOPA, FMEA) and get a draft rulebook to finish.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66928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66928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83387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Every rulebook carries its source: which document, which revision, who wrote it. The chip reports it back, so you always know which rules it is running.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SUPERPOWER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checks every situation that could ever happen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Not the scenarios someone thought of. All of them, before anything goes near a machine.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103120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2471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2646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2821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3347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3522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3697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3872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4223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4398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45736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49240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50992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52744" y="210312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2471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42646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2821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02996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2359152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3347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3522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3697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3872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4223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44398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745736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47488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349240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650992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52744" y="235915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2471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42646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72821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02996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33172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3347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93522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3697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53872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840480" y="2615184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14223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44398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745736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047488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49240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650992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52744" y="261518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2471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42646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72821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2996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33172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63347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93522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23697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53872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840480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14223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44398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4745736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047488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349240" y="2871216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50992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5952744" y="287121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82296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2471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2646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72821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996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3172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63347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93522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23697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53872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84048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14223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44398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745736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047488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349240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650992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952744" y="312724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2296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12471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426464" y="3383280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72821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02996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233172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263347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93522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23697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3872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84048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414223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44398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745736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047488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5349240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650992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5952744" y="3383280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82296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12471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42646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72821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202996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33172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3347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2935224" y="3639312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323697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353872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384048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414223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444398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745736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5047488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349240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5650992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952744" y="3639312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82296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12471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142646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72821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02996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233172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263347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293522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23697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353872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384048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414223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443984" y="3895344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745736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5047488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5349240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5650992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5952744" y="3895344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96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112471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42646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72821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02996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233172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263347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93522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323697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353872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84048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14223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4443984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4745736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5047488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5349240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5650992" y="4151376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952744" y="4151376"/>
            <a:ext cx="265176" cy="21945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82296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112471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42646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72821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202996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233172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63347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293522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323697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353872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384048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414223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44398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4745736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5047488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5349240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5650992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5952744" y="4407408"/>
            <a:ext cx="265176" cy="219456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822960" y="475488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Each square stands for combinations of sensor readings.</a:t>
            </a:r>
          </a:p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The pump rulebook has 14 sensors: 16,384 combinations, every one solved and checked.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6675120" y="2103120"/>
            <a:ext cx="233172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6675120" y="2103120"/>
            <a:ext cx="2331720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6675120" y="237744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14B8A6"/>
                </a:solidFill>
                <a:latin typeface="Segoe UI"/>
              </a:rPr>
              <a:t>16,384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821424" y="3035808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pump situations, all checked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9189720" y="2103120"/>
            <a:ext cx="233172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9189720" y="2103120"/>
            <a:ext cx="2331720" cy="54864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189720" y="2377440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6C4BE8"/>
                </a:solidFill>
                <a:latin typeface="Segoe UI"/>
              </a:rPr>
              <a:t>491,520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9336024" y="3035808"/>
            <a:ext cx="2039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situations checked for two rulebooks sharing one chip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6675120" y="3749039"/>
            <a:ext cx="484632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6675120" y="3749039"/>
            <a:ext cx="68580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1" name="Rounded Rectangle 200"/>
          <p:cNvSpPr/>
          <p:nvPr/>
        </p:nvSpPr>
        <p:spPr>
          <a:xfrm>
            <a:off x="6949440" y="4005071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94944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571232" y="4005071"/>
            <a:ext cx="3657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this is unusual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967728" y="4663439"/>
            <a:ext cx="42428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Testing finds the problems you looked for. Trying every case finds the ones nobody imagined.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640080" y="553212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640080" y="553212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987552" y="569671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The check is the price of admission: no rulebook reaches a chip without passing all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SAYS 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If anything is wrong, it refuses to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safety tool that ships with a hole in it is worse than none. Refusing is the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9</a:t>
            </a:r>
          </a:p>
        </p:txBody>
      </p:sp>
      <p:sp>
        <p:nvSpPr>
          <p:cNvPr id="10" name="Octagon 9"/>
          <p:cNvSpPr/>
          <p:nvPr/>
        </p:nvSpPr>
        <p:spPr>
          <a:xfrm>
            <a:off x="822960" y="2148840"/>
            <a:ext cx="2377440" cy="2377440"/>
          </a:xfrm>
          <a:prstGeom prst="octagon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</a:rPr>
              <a:t>STOP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2743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No chip file is written. Nothing reaches the machine.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20574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0" y="2057400"/>
            <a:ext cx="68580" cy="14630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31920" y="231343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134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Two answers at 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8" y="29718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situation where the rules say both "stop" and "carry on".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35240" y="20574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2057400"/>
            <a:ext cx="68580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0956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956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1352" y="23134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 answer at 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29718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situation where every option is knocked down.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0" y="36576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0" y="365760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31920" y="39136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3192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39136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Too slow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50208" y="45720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Any situation that would take longer than the proven limit.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3657600"/>
            <a:ext cx="3794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35240" y="3657600"/>
            <a:ext cx="68580" cy="14630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909560" y="39136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31352" y="3913632"/>
            <a:ext cx="2606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 dead 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7848" y="4572000"/>
            <a:ext cx="3191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response the rulebook names but can never actually choose.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And it says why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Each refusal names the exact situation and the rules involved, so the author can fix the rulebook rather than guess.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THE SURPRISE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finds holes in safety paperwork people already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Plants keep long safety studies. quorum reads them and checks them the way it checks a rulebook.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10</a:t>
            </a:r>
          </a:p>
        </p:txBody>
      </p:sp>
      <p:sp>
        <p:nvSpPr>
          <p:cNvPr id="10" name="Folded Corner 9"/>
          <p:cNvSpPr/>
          <p:nvPr/>
        </p:nvSpPr>
        <p:spPr>
          <a:xfrm>
            <a:off x="822960" y="2103120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2249424"/>
            <a:ext cx="781812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2450592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272491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0120" y="299923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0120" y="3273552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354787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" y="3822192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Folded Corner 17"/>
          <p:cNvSpPr/>
          <p:nvPr/>
        </p:nvSpPr>
        <p:spPr>
          <a:xfrm>
            <a:off x="1097280" y="2304288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34440" y="2450592"/>
            <a:ext cx="781812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34440" y="2651760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34440" y="292608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34440" y="320040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34440" y="3474720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34440" y="374904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34440" y="4023360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Folded Corner 25"/>
          <p:cNvSpPr/>
          <p:nvPr/>
        </p:nvSpPr>
        <p:spPr>
          <a:xfrm>
            <a:off x="1371600" y="2505456"/>
            <a:ext cx="1737360" cy="219456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08760" y="2651760"/>
            <a:ext cx="781812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08760" y="2852928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08760" y="312724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08760" y="340156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508760" y="3675888"/>
            <a:ext cx="1024127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508760" y="395020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508760" y="4224528"/>
            <a:ext cx="1389888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00600"/>
            <a:ext cx="2560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HAZOP · LOPA · FMEA worksheets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291840" y="3291840"/>
            <a:ext cx="91440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onut 35"/>
          <p:cNvSpPr/>
          <p:nvPr/>
        </p:nvSpPr>
        <p:spPr>
          <a:xfrm>
            <a:off x="4297680" y="2514600"/>
            <a:ext cx="1280160" cy="1280160"/>
          </a:xfrm>
          <a:prstGeom prst="don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 rot="2700000">
            <a:off x="5349240" y="3657600"/>
            <a:ext cx="868680" cy="21945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0" y="42519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quorum checks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766560" y="2057400"/>
            <a:ext cx="475488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66560" y="2057400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040880" y="23134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8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2313432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"Independent" protections that aren't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59168" y="2971800"/>
            <a:ext cx="41513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Safety rules say backups must not share a weak point. quorum checks whether every route to a safety action really is separate.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66560" y="3749039"/>
            <a:ext cx="4754880" cy="1554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66560" y="3749039"/>
            <a:ext cx="68580" cy="15544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040880" y="4005071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4088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4005071"/>
            <a:ext cx="3566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found a real one, first 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59168" y="4663439"/>
            <a:ext cx="41513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In our own pump rulebook, emergency shutdown only worked if BOTH of two sensors spoke up.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This could be the first business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Consultants charge thousands a day to review these by hand. A list of gaps needs no hardware and no certification.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ALWAYS ON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promise about speed, proven before it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For a machine, a late answer is a wrong answer. quorum works out its worst case in advance.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Pump rulebook: the most it can ever need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5486400" cy="384048"/>
          </a:xfrm>
          <a:prstGeom prst="round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248 steps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Pump rulebook: the most it ever took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410712"/>
            <a:ext cx="3097161" cy="38404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140 steps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5760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both chips, every situation finished inside the proven limit.</a:t>
            </a:r>
          </a:p>
        </p:txBody>
      </p:sp>
      <p:sp>
        <p:nvSpPr>
          <p:cNvPr id="15" name="Oval 14"/>
          <p:cNvSpPr/>
          <p:nvPr/>
        </p:nvSpPr>
        <p:spPr>
          <a:xfrm>
            <a:off x="7498079" y="2103120"/>
            <a:ext cx="2011680" cy="2011680"/>
          </a:xfrm>
          <a:prstGeom prst="ellipse">
            <a:avLst/>
          </a:prstGeom>
          <a:solidFill>
            <a:srgbClr val="FFFFFF"/>
          </a:solidFill>
          <a:ln w="762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76488" y="2377440"/>
            <a:ext cx="64008" cy="77724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800000">
            <a:off x="8476488" y="3072384"/>
            <a:ext cx="640080" cy="640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1874519"/>
            <a:ext cx="365760" cy="20116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38360" y="2103120"/>
            <a:ext cx="178308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38360" y="2103120"/>
            <a:ext cx="1783080" cy="54864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377440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2E8BE8"/>
                </a:solidFill>
                <a:latin typeface="Segoe UI"/>
              </a:rPr>
              <a:t>156 µs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84664" y="3035808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slowest pump decision, Pico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738360" y="3703320"/>
            <a:ext cx="1783080" cy="14813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38360" y="3703320"/>
            <a:ext cx="17830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38360" y="3977640"/>
            <a:ext cx="1783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F59E0B"/>
                </a:solidFill>
                <a:latin typeface="Segoe UI"/>
              </a:rPr>
              <a:t>350 µs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84664" y="4636008"/>
            <a:ext cx="14904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same on the slower Uno R4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526280"/>
            <a:ext cx="8686800" cy="12344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526280"/>
            <a:ext cx="68580" cy="12344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97280" y="47823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8463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19072" y="4782312"/>
            <a:ext cx="7498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smarter systems often can't promise this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5440680"/>
            <a:ext cx="808329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Reasoning by search can, in bad cases, take practically forever. quorum's never can.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4B8A6"/>
                </a:solidFill>
                <a:latin typeface="Segoe UI"/>
              </a:rPr>
              <a:t>µs = millionths of a second. A blink of an eye is about 100,000 µs.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TINY HARDWARE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Runs on chips that cost less than lunch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 cloud, no internet, no graphics card. Tested on three real boards from three different makers.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240280"/>
            <a:ext cx="2926080" cy="1234440"/>
          </a:xfrm>
          <a:prstGeom prst="round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6012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012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2471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2471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8930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8930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5389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5389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1848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1848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8308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8308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4767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4767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226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11226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7685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7685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44144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44144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60604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60604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7063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7063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935224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935224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099816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099816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264408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64408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429000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429000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3593592" y="229514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93592" y="334670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52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83428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35478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Raspberry Pi Pico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382219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About $11 · 150 MHz
Same answers as the PC in every situation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17720" y="2057400"/>
            <a:ext cx="2926080" cy="16002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470916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0916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7375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7375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3834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3834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20293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20293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6752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6752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553212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53212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569671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69671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86130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86130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02589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602589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619048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619048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35508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5508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1967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51967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684264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6684264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848856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848856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013448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7013448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178040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178040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7342632" y="2112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7342632" y="35295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54456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558332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17720" y="373075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Arduino Uno R4 Minima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400507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About $20 · 48 MHz
Same answers as the PC in every situation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366760" y="2103120"/>
            <a:ext cx="2926080" cy="1508760"/>
          </a:xfrm>
          <a:prstGeom prst="roundRect">
            <a:avLst/>
          </a:prstGeom>
          <a:solidFill>
            <a:srgbClr val="0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5820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45820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279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279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78738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78738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5197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5197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11656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911656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928116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928116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944575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944575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961034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961034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977493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977493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93952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993952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010412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010412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6871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6871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0433304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0433304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0597896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597896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762488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0762488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10927080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0927080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1091672" y="215798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1091672" y="34838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293608" y="273862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9332366" y="2360066"/>
            <a:ext cx="994867" cy="994867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366760" y="368503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Raspberry Pi 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183880" y="3959352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The "bigger computer" · runs the second
opinion and the full test suite natively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640080" y="4572000"/>
            <a:ext cx="10908792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640080" y="457200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60120" y="4736592"/>
            <a:ext cx="1033272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Same answer everywhere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The same rulebook was run on the PC, the Pico 2 and the Uno R4. Every situation got the same answer and took the same number of steps on all three. That is evidence the answers come from quorum, not from a quirk of one chip.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640080" y="5715000"/>
            <a:ext cx="10908792" cy="566928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640080" y="5715000"/>
            <a:ext cx="82296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87552" y="5879592"/>
            <a:ext cx="102412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On the Pi 5, all 73 of quorum's automatic tests pass, built from scratch on the board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QUORUM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One chip program. Any rulebook. One click.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desktop app turns rules, worksheets or past records into a checked file the chip loads.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03120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Folded Corner 10"/>
          <p:cNvSpPr/>
          <p:nvPr/>
        </p:nvSpPr>
        <p:spPr>
          <a:xfrm>
            <a:off x="969264" y="2212848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51560" y="2340864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2450592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51560" y="2560320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2670048"/>
            <a:ext cx="274320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237744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Rules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2542032"/>
            <a:ext cx="777240" cy="841248"/>
          </a:xfrm>
          <a:prstGeom prst="line">
            <a:avLst/>
          </a:prstGeom>
          <a:ln w="31750">
            <a:solidFill>
              <a:srgbClr val="14B8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1520" y="3200400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Folded Corner 18"/>
          <p:cNvSpPr/>
          <p:nvPr/>
        </p:nvSpPr>
        <p:spPr>
          <a:xfrm>
            <a:off x="969264" y="3310128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1560" y="3438144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3547872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51560" y="3657600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1560" y="3767328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00200" y="347472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Worksheet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880360" y="3383280"/>
            <a:ext cx="777240" cy="256032"/>
          </a:xfrm>
          <a:prstGeom prst="line">
            <a:avLst/>
          </a:prstGeom>
          <a:ln w="31750">
            <a:solidFill>
              <a:srgbClr val="6C4B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" y="4297679"/>
            <a:ext cx="2103120" cy="868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96112" y="44074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335024" y="44622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2" y="46360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35024" y="46908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" y="4864607"/>
            <a:ext cx="585216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35024" y="4919471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00200" y="4571999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Past records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2880360" y="3383280"/>
            <a:ext cx="777240" cy="1353311"/>
          </a:xfrm>
          <a:prstGeom prst="line">
            <a:avLst/>
          </a:prstGeom>
          <a:ln w="3175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749039" y="2377440"/>
            <a:ext cx="2926080" cy="210312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49039" y="2377440"/>
            <a:ext cx="2926080" cy="32918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85876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04164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224528" y="2478024"/>
            <a:ext cx="118872" cy="11887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49039" y="28163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quorum studio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977639" y="3291840"/>
            <a:ext cx="2468880" cy="310896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50791" y="3342132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edit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977639" y="3675888"/>
            <a:ext cx="2468880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50791" y="3726180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check every case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977639" y="4059936"/>
            <a:ext cx="2468880" cy="310896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50791" y="4110228"/>
            <a:ext cx="23225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write chip file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766560" y="3429000"/>
            <a:ext cx="82296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77240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528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95528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3816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13816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32104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32104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0392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50392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686800" y="2679192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686800" y="3977640"/>
            <a:ext cx="91440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571232" y="28803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869680" y="28803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71232" y="306324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869680" y="306324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71232" y="324612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869680" y="324612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571232" y="342900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869680" y="342900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571232" y="361188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69680" y="361188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571232" y="37947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869680" y="3794760"/>
            <a:ext cx="109728" cy="91440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7680960" y="2788920"/>
            <a:ext cx="1188720" cy="11887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63256" y="287121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80960" y="30861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80960" y="3478377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loads it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098280" y="2103120"/>
            <a:ext cx="2468880" cy="26517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098280" y="2103120"/>
            <a:ext cx="68580" cy="265176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372600" y="235915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72600" y="2423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94392" y="2359152"/>
            <a:ext cx="1280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program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90888" y="3017520"/>
            <a:ext cx="1865376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chip's program stays the same. Only the rulebook file changes, like swapping a cartridge.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" y="544068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40080" y="544068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87552" y="560527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Runs on Windows or Linux, installs without administrator rights, and works entirely offline. It writes files for both the Pico 2 and the Uno R4.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ROOM FOR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Several rulebooks can share one chip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pump and its tank on one board, each still deciding exactly as it would on its 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03120"/>
            <a:ext cx="4937760" cy="301752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630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630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202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3774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346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39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9039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062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062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634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634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0" y="1993392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20640" y="5120640"/>
            <a:ext cx="201168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97280" y="2423160"/>
            <a:ext cx="2103120" cy="237744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PUMP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rulebook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16,384 situations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2423160"/>
            <a:ext cx="2103120" cy="237744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TANK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rulebook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32,768 situations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26480" y="2103120"/>
            <a:ext cx="539496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2103120"/>
            <a:ext cx="68580" cy="14173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0" y="235915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2423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22592" y="2359152"/>
            <a:ext cx="4206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Checked for interference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3017520"/>
            <a:ext cx="4791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Before they share a chip, quorum proves neither can change the other's answers.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657600"/>
            <a:ext cx="53949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80" y="365760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0" y="39136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9776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22592" y="3913632"/>
            <a:ext cx="4206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Proved on real chips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19088" y="4572000"/>
            <a:ext cx="47914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both the Pico 2 and the Uno R4, each rulebook gave exactly its stand-alone answers in every situation.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44068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" y="544068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60527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Up to four rulebooks fit on one chip. One small board can watch a whole skid of equipment.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CAN'T BE FOOLED BY A BAD 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 damaged or altered rulebook file is refused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Before it decides anything, the chip checks the file three ways. Any doubt and it stays silent.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15</a:t>
            </a:r>
          </a:p>
        </p:txBody>
      </p:sp>
      <p:sp>
        <p:nvSpPr>
          <p:cNvPr id="10" name="Oval 9"/>
          <p:cNvSpPr/>
          <p:nvPr/>
        </p:nvSpPr>
        <p:spPr>
          <a:xfrm>
            <a:off x="1188720" y="2286000"/>
            <a:ext cx="1554480" cy="155448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ff-page Connector 10"/>
          <p:cNvSpPr/>
          <p:nvPr/>
        </p:nvSpPr>
        <p:spPr>
          <a:xfrm>
            <a:off x="1709928" y="2752344"/>
            <a:ext cx="512064" cy="621792"/>
          </a:xfrm>
          <a:prstGeom prst="flowChartOffpageConnector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09928" y="288036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Three checks at start-up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66160" y="2057400"/>
            <a:ext cx="68580" cy="19202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40480" y="23134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Arrived intact?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5876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checksum catches a single flipped bit.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2057400"/>
            <a:ext cx="68580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6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975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Makes sense?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count and cross-reference is in range.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1120" y="2057400"/>
            <a:ext cx="2560320" cy="1920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2057400"/>
            <a:ext cx="68580" cy="19202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35440" y="231343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7232" y="2313432"/>
            <a:ext cx="13716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right rules?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53728" y="2971800"/>
            <a:ext cx="19568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fingerprint of the rules must match the one the checker signed off.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251960"/>
            <a:ext cx="10908792" cy="10515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251960"/>
            <a:ext cx="82296" cy="10515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4416552"/>
            <a:ext cx="1033272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Tried for real, on the chips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One flipped bit: refused. Two rules swapped, checksum faked: refused. A bearing alarm limit quietly raised from 90 to 95 °C, checksum faked: refused (Uno R4). Each time the chip made no decision at all.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53212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53212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69671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 machine with no trustworthy rulebook must not act on one. quorum fails safe.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EXPLAINS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 decision comes with its reasons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Not a score. A short, readable account an operator can check, and argue with.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11680"/>
            <a:ext cx="6035040" cy="3429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011680"/>
            <a:ext cx="603504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DECISION:  stop the pump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51760"/>
            <a:ext cx="5669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E293B"/>
                </a:solidFill>
                <a:latin typeface="Segoe UI"/>
              </a:rPr>
              <a:t>Because: bearing wear is the explanation that survived.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Relied on: vibration high, bearing temperature high.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0">
                <a:solidFill>
                  <a:srgbClr val="1E293B"/>
                </a:solidFill>
                <a:latin typeface="Segoe UI"/>
              </a:rPr>
              <a:t>Ruled out: structural resonance (bearing temperature contradicts it).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00" b="1">
                <a:solidFill>
                  <a:srgbClr val="F59E0B"/>
                </a:solidFill>
                <a:latin typeface="Segoe UI"/>
              </a:rPr>
              <a:t>Assumed absent: loose mount, overdue calibration.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>
                <a:solidFill>
                  <a:srgbClr val="5B677D"/>
                </a:solidFill>
                <a:latin typeface="Segoe UI"/>
              </a:rPr>
              <a:t>No sensor reported those, so quorum says it assumed them.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2011680"/>
            <a:ext cx="434340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78040" y="2011680"/>
            <a:ext cx="68580" cy="1600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5236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4152" y="22677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Why that last line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2926080"/>
            <a:ext cx="373989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Other systems treat "no news" as good news, silently. quorum writes the assumption down.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78040" y="3749039"/>
            <a:ext cx="4343400" cy="16916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78040" y="3749039"/>
            <a:ext cx="68580" cy="16916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52360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52360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4005071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Built for audits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663439"/>
            <a:ext cx="3739896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Which rulebook, which revision, which facts, which rules. Enough to answer "why did it do that?" later.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66928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583387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If a sensor is dead, the explanation shows the decision rested on something nobody actually measured.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CAN LEARN, WITH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can draft a rulebook from past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Give it a maintenance or incident history. It writes rules in the same plain language, for an expert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54880"/>
            <a:ext cx="512064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54480" y="3429000"/>
            <a:ext cx="1371600" cy="13258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50.0%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guessing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49040" y="2994111"/>
            <a:ext cx="1371600" cy="176076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66.4%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8280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learned
rulebook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057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E293B"/>
                </a:solidFill>
                <a:latin typeface="Segoe UI"/>
              </a:rPr>
              <a:t>Spotting machine failures in a public dataset of 10,000 records (AI4I)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057400"/>
            <a:ext cx="512064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057400"/>
            <a:ext cx="68580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75120" y="23134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23774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231343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catches cheating columns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93408" y="2971800"/>
            <a:ext cx="4517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warns when a column is only filled in after a failure, which would make it look 98.5% accurate and useless in real life.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566160"/>
            <a:ext cx="512064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0" y="3566160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75120" y="38221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5120" y="38862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822192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we can honestly say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93408" y="4480560"/>
            <a:ext cx="45171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In four tests set up in advance, learning added 8 to 20 points on average, but never cleared every bar.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4068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44068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560527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So: drafts, not decisions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Learning happens on a computer and only produces a draft. A person approves it, and it must pass the same every-case check.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TWO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The chip decides. A bigger computer double-checks.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And mathematically, the two can never contradict each other.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18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2011680"/>
            <a:ext cx="4023360" cy="329184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00200" y="2697480"/>
            <a:ext cx="2468880" cy="19202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what the chip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is sure 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4884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>
                <a:solidFill>
                  <a:srgbClr val="6C4BE8"/>
                </a:solidFill>
                <a:latin typeface="Segoe UI"/>
              </a:rPr>
              <a:t>what the Pi 5 considers possible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4323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4323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50169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50169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26015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26015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01861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01861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7707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7707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3553" y="217627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3553" y="342900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376672" y="237392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629400" y="237392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76672" y="254976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29400" y="254976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376672" y="272561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29400" y="272561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76672" y="290146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29400" y="290146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376672" y="307730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29400" y="307730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376672" y="325315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29400" y="325315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486400" y="2286000"/>
            <a:ext cx="11430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568696" y="236829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257175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chip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57800" y="3977639"/>
            <a:ext cx="1645920" cy="777240"/>
          </a:xfrm>
          <a:prstGeom prst="roundRect">
            <a:avLst/>
          </a:prstGeom>
          <a:solidFill>
            <a:srgbClr val="0B5E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349240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49240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13832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513832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678424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678424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843016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43016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007608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007608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72200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72200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36792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336792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501384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01384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665976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665976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830568" y="403250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30568" y="4626863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184648" y="4247387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751576" y="4037075"/>
            <a:ext cx="658368" cy="658368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57800" y="4828031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Pi 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74920" y="5102351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98079" y="2011680"/>
            <a:ext cx="402336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498079" y="2011680"/>
            <a:ext cx="68580" cy="1600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772399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772399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94191" y="2267712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chip: fast and certain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790687" y="2926080"/>
            <a:ext cx="3419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Gives the one cautious answer, on time, every time, on the machine itself.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498079" y="3749039"/>
            <a:ext cx="4023360" cy="1600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498079" y="3749039"/>
            <a:ext cx="68580" cy="160020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72399" y="4005071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399" y="4069079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☰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94191" y="4005071"/>
            <a:ext cx="2834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Pi 5: every other reading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90687" y="4663439"/>
            <a:ext cx="341985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Lists every other reasonable way to read the same facts, for a person to look at. It only advises.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0080" y="5623560"/>
            <a:ext cx="10908792" cy="6858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40080" y="5623560"/>
            <a:ext cx="82296" cy="685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87552" y="5788152"/>
            <a:ext cx="10241280" cy="44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Checked: across every situation of three rulebooks, 50,432 comparisons, the bigger computer never disagreed with anything the chip was sure of.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 SAFETY NET FOR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Another system can propose; quorum has the last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An AI model or an ordinary controller suggests an action. quorum lets it through only if it is at least as cautious as the rulebook's own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19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822960" y="2103120"/>
            <a:ext cx="2743200" cy="91440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AI SUGGESTS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"Keep the pump running."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611880" y="2560320"/>
            <a:ext cx="10515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842803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2803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18649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18649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94495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94495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70341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70341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46187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46187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22033" y="1901952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722033" y="3154680"/>
            <a:ext cx="8792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2" y="209960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7880" y="209960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45152" y="227544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897880" y="2275449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645152" y="245129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97880" y="2451295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45152" y="262714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97880" y="2627141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45152" y="280298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97880" y="2802987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45152" y="297883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897880" y="2978833"/>
            <a:ext cx="109728" cy="8792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0" y="2011680"/>
            <a:ext cx="1143000" cy="114300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837176" y="209397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2297430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2674620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>
                <a:solidFill>
                  <a:srgbClr val="E4E9F2"/>
                </a:solidFill>
                <a:latin typeface="Segoe UI"/>
              </a:rPr>
              <a:t>guard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989320" y="2560320"/>
            <a:ext cx="10515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ular Callout 40"/>
          <p:cNvSpPr/>
          <p:nvPr/>
        </p:nvSpPr>
        <p:spPr>
          <a:xfrm>
            <a:off x="7132320" y="2103120"/>
            <a:ext cx="4389120" cy="914400"/>
          </a:xfrm>
          <a:prstGeom prst="wedgeRoundRectCallou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QUORUM ANSWERS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"No: bearing too hot. Stop the pump."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" y="3429000"/>
            <a:ext cx="68580" cy="178308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4400" y="368503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3619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Checked every pairing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situation times every possible suggestion: 49,152 for the pump, 131,072 for the tank. Never once less cautious than the rulebook.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34340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43400" y="3429000"/>
            <a:ext cx="68580" cy="17830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617720" y="368503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⚙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3951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on the chips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600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The same result was reproduced on the Uno R4 and the Pico 2, not just on the PC.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46720" y="3429000"/>
            <a:ext cx="3520440" cy="17830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0" y="3429000"/>
            <a:ext cx="68580" cy="1783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321040" y="368503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74904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42832" y="368503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Only as good as the rulebook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39328" y="4343400"/>
            <a:ext cx="2916936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enforces the rulebook a person approved, including its ranking of actions. A wrong rulebook is enforced too.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548640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" y="548640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7552" y="56509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is a possibility for AI in control rooms, not yet proven in the field.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TALKS TO PLANT EQUIPMENT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speaks Modbus, the language most factory controllers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PLC writes sensor values into quorum's registers and reads back the decision and the reason.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94560"/>
            <a:ext cx="2194560" cy="1188720"/>
          </a:xfrm>
          <a:prstGeom prst="round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99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4358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4358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08176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08176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72768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72768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3736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73736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0195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90195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06654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6654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231136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231136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395728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395728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560320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560320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24912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24912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889504" y="224942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889504" y="3255264"/>
            <a:ext cx="73152" cy="73152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49808" y="2670048"/>
            <a:ext cx="274320" cy="237744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47164" y="2415844"/>
            <a:ext cx="746150" cy="74615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3456432"/>
            <a:ext cx="2194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>
                <a:solidFill>
                  <a:srgbClr val="1E293B"/>
                </a:solidFill>
                <a:latin typeface="Segoe UI"/>
              </a:rPr>
              <a:t>PLC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3075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plant controller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108960" y="2606040"/>
            <a:ext cx="146304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3108960" y="3017520"/>
            <a:ext cx="146304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017520" y="214884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5B677D"/>
                </a:solidFill>
                <a:latin typeface="Segoe UI"/>
              </a:rPr>
              <a:t>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3108960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5B677D"/>
                </a:solidFill>
                <a:latin typeface="Segoe UI"/>
              </a:rPr>
              <a:t>decision + why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7633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07633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04581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04581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201529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01529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98476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398476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595424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595424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792372" y="203911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792372" y="342900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99432" y="224731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224731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99432" y="244426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989320" y="244426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99432" y="264120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89320" y="264120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99432" y="283815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89320" y="283815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99432" y="303510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89320" y="303510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599432" y="323205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89320" y="323205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709160" y="2148840"/>
            <a:ext cx="128016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91456" y="223113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09160" y="24688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83680" y="20116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0" y="2011680"/>
            <a:ext cx="68580" cy="1463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85800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580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=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479792" y="22677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Same answer either way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76288" y="29260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All 16,384 pump situations, sent through the registers, got exactly the decision the chip makes directly. On the Uno R4 and the Pico 2.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583680" y="36118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0" y="361188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85800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5800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79792" y="38679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Ignores garbage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76288" y="45262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damaged message is dropped. A command it does not know is refused. It changes nothing unless a request is valid.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" y="5349240"/>
            <a:ext cx="10908792" cy="86868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40080" y="534924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87552" y="551383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Important limit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Modbus has no password. Anyone on the same wire can send it readings. It must sit on a closed, trusted network, as Modbus devices always should.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PROOF YOU CAN CHECK YOURSELF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 situation checked at once, with a receipt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No need to trust quorum's own checker. It hands over a proof that a separate small program verifies.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68580" cy="21031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677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All at once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second checker reasons about every situation together. Two rulebooks sharing one chip: all 536,870,912 combinations, with no rulebook affecting the other.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011680"/>
            <a:ext cx="68580" cy="210312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1772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951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 certificate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600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file listing, for every situation, what quorum decided and why. Tied to the exact rulebook by its fingerprint.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2011680"/>
            <a:ext cx="3520440" cy="2103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2011680"/>
            <a:ext cx="68580" cy="210312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21040" y="226771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2267712"/>
            <a:ext cx="23317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An independent check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8" y="2926080"/>
            <a:ext cx="291693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About 200 lines of separate code re-check the certificate. Every forgery we tried was caught: a changed answer, a moved rule, a nudged alarm limit.</a:t>
            </a:r>
          </a:p>
        </p:txBody>
      </p:sp>
      <p:sp>
        <p:nvSpPr>
          <p:cNvPr id="28" name="Folded Corner 27"/>
          <p:cNvSpPr/>
          <p:nvPr/>
        </p:nvSpPr>
        <p:spPr>
          <a:xfrm>
            <a:off x="5394960" y="4343400"/>
            <a:ext cx="1371600" cy="914400"/>
          </a:xfrm>
          <a:prstGeom prst="foldedCorner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32120" y="4489704"/>
            <a:ext cx="61722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32120" y="4690872"/>
            <a:ext cx="76809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32120" y="475183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532120" y="481279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32120" y="4873752"/>
            <a:ext cx="76809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32120" y="493471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532120" y="4995672"/>
            <a:ext cx="1042416" cy="41148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5312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>
                <a:solidFill>
                  <a:srgbClr val="1E293B"/>
                </a:solidFill>
                <a:latin typeface="Segoe UI"/>
              </a:rPr>
              <a:t>CERT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48640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48640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6509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An auditor can confirm the rulebook was checked without trusting us or our software.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IT WAITS BEFORE IT ACTS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"Hot for 5 seconds", not "hot for a moment"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spike should not stop a plant. Rules can say a reading must last before it counts.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572000"/>
            <a:ext cx="585216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926080"/>
            <a:ext cx="5852160" cy="1828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26060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</a:pPr>
            <a:r>
              <a:rPr sz="1050" b="1">
                <a:solidFill>
                  <a:srgbClr val="DC2626"/>
                </a:solidFill>
                <a:latin typeface="Segoe UI"/>
              </a:rPr>
              <a:t>alarm limit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4114800"/>
            <a:ext cx="292608" cy="45720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08760" y="4023360"/>
            <a:ext cx="292608" cy="5486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659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4023360"/>
            <a:ext cx="292608" cy="54864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0360" y="3931920"/>
            <a:ext cx="292608" cy="6400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3840480"/>
            <a:ext cx="292608" cy="73152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94760" y="2834640"/>
            <a:ext cx="292608" cy="17373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2743200"/>
            <a:ext cx="292608" cy="18288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60" y="2651760"/>
            <a:ext cx="2926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23560" y="2651760"/>
            <a:ext cx="292608" cy="1920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80760" y="2560320"/>
            <a:ext cx="292608" cy="20116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45920" y="4645152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spike: ignored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40" y="4645152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lasts 5 s: counts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78040" y="2011680"/>
            <a:ext cx="434340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78040" y="2011680"/>
            <a:ext cx="68580" cy="14630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523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523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74152" y="22677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Waits only in the safe direction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0648" y="2926080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Turning an alarm ON waits. Turning it OFF never does, because delaying that is the dangerous way.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78040" y="3611880"/>
            <a:ext cx="434340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178040" y="3611880"/>
            <a:ext cx="68580" cy="146304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52360" y="386791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74152" y="3867912"/>
            <a:ext cx="3154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Still every case checked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0648" y="4526280"/>
            <a:ext cx="373989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Time only decides when a reading becomes true, so the every-situation check stays complete.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349240"/>
            <a:ext cx="10908792" cy="54864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349240"/>
            <a:ext cx="82296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551383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This is how alarm standards are already written (ISA-18.2), now in plain words.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DRAFTING FROM A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 AI can write a first draft. A person must approve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Tried with a small AI on our own computer, and with large ones through a service that keeps no copy.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480560"/>
            <a:ext cx="5303520" cy="2743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8720" y="3200400"/>
            <a:ext cx="1188720" cy="128016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7 / 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small AI,
first try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2468880"/>
            <a:ext cx="1188720" cy="201168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11 /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small AI,
best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2103120"/>
            <a:ext cx="1188720" cy="2377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12-13 / 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553712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1">
                <a:solidFill>
                  <a:srgbClr val="1E293B"/>
                </a:solidFill>
                <a:latin typeface="Segoe UI"/>
              </a:rPr>
              <a:t>large AI
(Claude)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0116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>
                <a:solidFill>
                  <a:srgbClr val="1E293B"/>
                </a:solidFill>
                <a:latin typeface="Segoe UI"/>
              </a:rPr>
              <a:t>Rules right, on a short manual we wrote for the 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20116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2011680"/>
            <a:ext cx="68580" cy="1463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2677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On a real manual: partly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260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A US Army Corps of Engineers standard: small AI about 1 of 12 rules, large AI about 8 to 9 of 12.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3611880"/>
            <a:ext cx="4937760" cy="14630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3611880"/>
            <a:ext cx="68580" cy="14630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0" y="38679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9319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79792" y="3867912"/>
            <a:ext cx="3749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The worst mistake sounded reasonable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26280"/>
            <a:ext cx="43342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One draft let a power blip cancel real shutdowns. The review flagged it; only a person can judge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349240"/>
            <a:ext cx="10908792" cy="8686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349240"/>
            <a:ext cx="82296" cy="8686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5513832"/>
            <a:ext cx="10241280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So: a helper, not an author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Single runs, and two identical runs differed. Every rule must quote the manual, and an unapproved draft can never reach a chip.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AI-drafted, machine-checked, engineer-approved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AI is fast but makes mistakes. quorum's checks catch most of them. A person makes the final call.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240280"/>
            <a:ext cx="548640" cy="548640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Folded Corner 12"/>
          <p:cNvSpPr/>
          <p:nvPr/>
        </p:nvSpPr>
        <p:spPr>
          <a:xfrm>
            <a:off x="3346704" y="2185416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6C4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2313432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2423160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29000" y="2532888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2642616"/>
            <a:ext cx="274320" cy="36576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Reads the manual and writes every rule, each with the exact sentence it came from. Minutes, not weeks.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187952" y="3154680"/>
            <a:ext cx="1371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43400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43400" y="201168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572000" y="2240280"/>
            <a:ext cx="548640" cy="54864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Gear 6 23"/>
          <p:cNvSpPr/>
          <p:nvPr/>
        </p:nvSpPr>
        <p:spPr>
          <a:xfrm>
            <a:off x="6976872" y="2221992"/>
            <a:ext cx="585216" cy="585216"/>
          </a:xfrm>
          <a:prstGeom prst="gear6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78040" y="2423160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quorum checks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Throws out any rule that misquotes the manual, sends every refusal back to the AI to fix, and checks every possible situation.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91272" y="3154680"/>
            <a:ext cx="137160" cy="0"/>
          </a:xfrm>
          <a:prstGeom prst="line">
            <a:avLst/>
          </a:prstGeom>
          <a:ln w="285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046719" y="2011680"/>
            <a:ext cx="3520440" cy="21488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201168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75319" y="224028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2" name="Off-page Connector 31"/>
          <p:cNvSpPr/>
          <p:nvPr/>
        </p:nvSpPr>
        <p:spPr>
          <a:xfrm>
            <a:off x="10716767" y="2203704"/>
            <a:ext cx="512064" cy="621792"/>
          </a:xfrm>
          <a:prstGeom prst="flowChartOffpageConnector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16767" y="233172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292608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An engineer approves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310128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B677D"/>
                </a:solidFill>
                <a:latin typeface="Segoe UI"/>
              </a:rPr>
              <a:t>Reviews a short list of flagged items instead of writing from scratch. Nothing reaches a chip without this.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297680"/>
            <a:ext cx="544068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297680"/>
            <a:ext cx="68580" cy="1417320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14400" y="4553712"/>
            <a:ext cx="475488" cy="475488"/>
          </a:xfrm>
          <a:prstGeom prst="round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4617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36192" y="4553712"/>
            <a:ext cx="42519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the checks guarantee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2688" y="5212080"/>
            <a:ext cx="483717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Every rule traces to the manual, every situation gets exactly one answer, nothing contradicts itself.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4297680"/>
            <a:ext cx="5303520" cy="1417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4297680"/>
            <a:ext cx="68580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537960" y="45537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4617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59752" y="4553712"/>
            <a:ext cx="4114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What they cannot guarantee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56248" y="5212080"/>
            <a:ext cx="470001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That a rule means what the manual meant. A tidy but wrong rule still needs the engineer.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5852160"/>
            <a:ext cx="10908792" cy="4572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5852160"/>
            <a:ext cx="82296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7552" y="6016752"/>
            <a:ext cx="10241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The AI never has the last word. That is what lets it near a machine.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WHY IT'S DIFFERENT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other approaches can't do all at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fair comparison: each alternative does some of this well. Doing all of it together is the unusual part.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Simple alarm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thresholds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AI / machine-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learning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011680"/>
            <a:ext cx="1920240" cy="566928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Classic rules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66960" y="2011680"/>
            <a:ext cx="192024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67004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779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Says why it decided</a:t>
            </a:r>
          </a:p>
        </p:txBody>
      </p:sp>
      <p:sp>
        <p:nvSpPr>
          <p:cNvPr id="16" name="Oval 15"/>
          <p:cNvSpPr/>
          <p:nvPr/>
        </p:nvSpPr>
        <p:spPr>
          <a:xfrm>
            <a:off x="4754880" y="271576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17" name="Oval 16"/>
          <p:cNvSpPr/>
          <p:nvPr/>
        </p:nvSpPr>
        <p:spPr>
          <a:xfrm>
            <a:off x="6766560" y="27157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8" name="Oval 17"/>
          <p:cNvSpPr/>
          <p:nvPr/>
        </p:nvSpPr>
        <p:spPr>
          <a:xfrm>
            <a:off x="8778240" y="27157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Oval 18"/>
          <p:cNvSpPr/>
          <p:nvPr/>
        </p:nvSpPr>
        <p:spPr>
          <a:xfrm>
            <a:off x="10789920" y="27157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17296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28269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Says what it had to assume</a:t>
            </a:r>
          </a:p>
        </p:txBody>
      </p:sp>
      <p:sp>
        <p:nvSpPr>
          <p:cNvPr id="22" name="Oval 21"/>
          <p:cNvSpPr/>
          <p:nvPr/>
        </p:nvSpPr>
        <p:spPr>
          <a:xfrm>
            <a:off x="475488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4" name="Oval 23"/>
          <p:cNvSpPr/>
          <p:nvPr/>
        </p:nvSpPr>
        <p:spPr>
          <a:xfrm>
            <a:off x="8778240" y="321868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5" name="Oval 24"/>
          <p:cNvSpPr/>
          <p:nvPr/>
        </p:nvSpPr>
        <p:spPr>
          <a:xfrm>
            <a:off x="10789920" y="321868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67588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78561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Checked against every case first</a:t>
            </a:r>
          </a:p>
        </p:txBody>
      </p:sp>
      <p:sp>
        <p:nvSpPr>
          <p:cNvPr id="28" name="Oval 27"/>
          <p:cNvSpPr/>
          <p:nvPr/>
        </p:nvSpPr>
        <p:spPr>
          <a:xfrm>
            <a:off x="475488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29" name="Oval 28"/>
          <p:cNvSpPr/>
          <p:nvPr/>
        </p:nvSpPr>
        <p:spPr>
          <a:xfrm>
            <a:off x="676656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0" name="Oval 29"/>
          <p:cNvSpPr/>
          <p:nvPr/>
        </p:nvSpPr>
        <p:spPr>
          <a:xfrm>
            <a:off x="8778240" y="372160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1" name="Oval 30"/>
          <p:cNvSpPr/>
          <p:nvPr/>
        </p:nvSpPr>
        <p:spPr>
          <a:xfrm>
            <a:off x="10789920" y="372160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17880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428853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Proven time limit</a:t>
            </a:r>
          </a:p>
        </p:txBody>
      </p:sp>
      <p:sp>
        <p:nvSpPr>
          <p:cNvPr id="34" name="Oval 33"/>
          <p:cNvSpPr/>
          <p:nvPr/>
        </p:nvSpPr>
        <p:spPr>
          <a:xfrm>
            <a:off x="475488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5" name="Oval 34"/>
          <p:cNvSpPr/>
          <p:nvPr/>
        </p:nvSpPr>
        <p:spPr>
          <a:xfrm>
            <a:off x="676656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6" name="Oval 35"/>
          <p:cNvSpPr/>
          <p:nvPr/>
        </p:nvSpPr>
        <p:spPr>
          <a:xfrm>
            <a:off x="8778240" y="422452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37" name="Oval 36"/>
          <p:cNvSpPr/>
          <p:nvPr/>
        </p:nvSpPr>
        <p:spPr>
          <a:xfrm>
            <a:off x="10789920" y="422452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4681728"/>
            <a:ext cx="10972800" cy="448056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479145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Fits a very small chip</a:t>
            </a:r>
          </a:p>
        </p:txBody>
      </p:sp>
      <p:sp>
        <p:nvSpPr>
          <p:cNvPr id="40" name="Oval 39"/>
          <p:cNvSpPr/>
          <p:nvPr/>
        </p:nvSpPr>
        <p:spPr>
          <a:xfrm>
            <a:off x="4754880" y="472744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1" name="Oval 40"/>
          <p:cNvSpPr/>
          <p:nvPr/>
        </p:nvSpPr>
        <p:spPr>
          <a:xfrm>
            <a:off x="6766560" y="472744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42" name="Oval 41"/>
          <p:cNvSpPr/>
          <p:nvPr/>
        </p:nvSpPr>
        <p:spPr>
          <a:xfrm>
            <a:off x="8778240" y="472744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3" name="Oval 42"/>
          <p:cNvSpPr/>
          <p:nvPr/>
        </p:nvSpPr>
        <p:spPr>
          <a:xfrm>
            <a:off x="10789920" y="472744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184648"/>
            <a:ext cx="10972800" cy="4480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0120" y="52943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1E293B"/>
                </a:solidFill>
                <a:latin typeface="Segoe UI"/>
              </a:rPr>
              <a:t>Learns from data</a:t>
            </a:r>
          </a:p>
        </p:txBody>
      </p:sp>
      <p:sp>
        <p:nvSpPr>
          <p:cNvPr id="46" name="Oval 45"/>
          <p:cNvSpPr/>
          <p:nvPr/>
        </p:nvSpPr>
        <p:spPr>
          <a:xfrm>
            <a:off x="4754880" y="52303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7" name="Oval 46"/>
          <p:cNvSpPr/>
          <p:nvPr/>
        </p:nvSpPr>
        <p:spPr>
          <a:xfrm>
            <a:off x="6766560" y="5230368"/>
            <a:ext cx="347472" cy="34747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8" name="Oval 47"/>
          <p:cNvSpPr/>
          <p:nvPr/>
        </p:nvSpPr>
        <p:spPr>
          <a:xfrm>
            <a:off x="8778240" y="5230368"/>
            <a:ext cx="347472" cy="347472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49" name="Oval 48"/>
          <p:cNvSpPr/>
          <p:nvPr/>
        </p:nvSpPr>
        <p:spPr>
          <a:xfrm>
            <a:off x="10789920" y="5230368"/>
            <a:ext cx="347472" cy="3474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~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B677D"/>
                </a:solidFill>
                <a:latin typeface="Segoe UI"/>
              </a:rPr>
              <a:t>✓ yes   ~ partly   ✕ not usually.  quorum's learning is "partly" because it only drafts rules for a person to approve. Small AI models can fit on chips, but cannot be checked case by case.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(1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Anywhere a few sensors drive a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The same idea fits many everyday places. These are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26060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85900" y="221284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>
            <a:off x="1613916" y="2322576"/>
            <a:ext cx="658368" cy="310896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6212" y="2624328"/>
            <a:ext cx="493776" cy="3474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79092" y="2761488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Buildings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Boilers, heating and cooling, sump pumps: "run, shut down, or call someone" with the reason.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29000" y="2011680"/>
            <a:ext cx="26060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74820" y="221284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4588" y="2578608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 rot="19800000">
            <a:off x="4457700" y="2377440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800000">
            <a:off x="4732020" y="2505456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Wave 23"/>
          <p:cNvSpPr/>
          <p:nvPr/>
        </p:nvSpPr>
        <p:spPr>
          <a:xfrm>
            <a:off x="4384548" y="2871216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6616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Farms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Irrigation pumps, barn ventilation and grain dryers, often far from help and the internet.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011680"/>
            <a:ext cx="26060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063740" y="221284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ardrop 29"/>
          <p:cNvSpPr/>
          <p:nvPr/>
        </p:nvSpPr>
        <p:spPr>
          <a:xfrm rot="18900000">
            <a:off x="7319772" y="239572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Water and sewer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A town's lift stations and pumps: catch the dead float switch before the overflow.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39" y="2011680"/>
            <a:ext cx="2606040" cy="26974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006839" y="2011680"/>
            <a:ext cx="26060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52659" y="2212848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090403" y="2340864"/>
            <a:ext cx="438912" cy="6400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90403" y="2596896"/>
            <a:ext cx="43891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28731" y="2414016"/>
            <a:ext cx="3657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428731" y="2670048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8-Point Star 39"/>
          <p:cNvSpPr/>
          <p:nvPr/>
        </p:nvSpPr>
        <p:spPr>
          <a:xfrm>
            <a:off x="10163555" y="2688336"/>
            <a:ext cx="201168" cy="201168"/>
          </a:xfrm>
          <a:prstGeom prst="star8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3999" y="3218688"/>
            <a:ext cx="23317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Labs and cold storage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9719" y="3566160"/>
            <a:ext cx="22402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Freezers holding samples or vaccines: a door, a compressor and a thermometer that can lie.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983480"/>
            <a:ext cx="10908792" cy="11430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" y="4983480"/>
            <a:ext cx="82296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552" y="5148072"/>
            <a:ext cx="10241280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1">
                <a:solidFill>
                  <a:srgbClr val="14B8A6"/>
                </a:solidFill>
                <a:latin typeface="Segoe UI"/>
              </a:rPr>
              <a:t>What these have in common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>
                <a:solidFill>
                  <a:srgbClr val="FFFFFF"/>
                </a:solidFill>
                <a:latin typeface="Segoe UI"/>
              </a:rPr>
              <a:t>A handful of sensors, a few possible actions, a cost to getting it wrong, and a person who will later ask "why did it do that?". That is exactly the shape of problem quorum was built for.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(2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It also works where the "machine" is a set of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quorum checks any rulebook with exceptions. It does not have to run on a chip at 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 rot="19800000">
            <a:off x="2071116" y="2505456"/>
            <a:ext cx="658368" cy="237744"/>
          </a:xfrm>
          <a:prstGeom prst="round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9800000">
            <a:off x="2382012" y="2340864"/>
            <a:ext cx="329184" cy="237744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Hospital pharmacy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the rules that flag patients for a pharmacist to review, with their exceptions.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74436" y="244144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2A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7940" y="2551176"/>
            <a:ext cx="64008" cy="146304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Lightning Bolt 21"/>
          <p:cNvSpPr/>
          <p:nvPr/>
        </p:nvSpPr>
        <p:spPr>
          <a:xfrm>
            <a:off x="5957316" y="246888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Batteries and solar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Home batteries, EV chargers and solar inverters: charge, hold or disconnect, with reasons.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rapezoid 27"/>
          <p:cNvSpPr/>
          <p:nvPr/>
        </p:nvSpPr>
        <p:spPr>
          <a:xfrm rot="10800000">
            <a:off x="9459467" y="2660904"/>
            <a:ext cx="694944" cy="182880"/>
          </a:xfrm>
          <a:prstGeom prst="trapezoid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ight Triangle 28"/>
          <p:cNvSpPr/>
          <p:nvPr/>
        </p:nvSpPr>
        <p:spPr>
          <a:xfrm>
            <a:off x="9788651" y="2276856"/>
            <a:ext cx="274320" cy="34747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79507" y="2258568"/>
            <a:ext cx="36576" cy="420624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Wave 30"/>
          <p:cNvSpPr/>
          <p:nvPr/>
        </p:nvSpPr>
        <p:spPr>
          <a:xfrm>
            <a:off x="9422891" y="2852928"/>
            <a:ext cx="768096" cy="109728"/>
          </a:xfrm>
          <a:prstGeom prst="wave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Boats and RVs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Bilge pumps, generators and fridges on boats and RVs, where a silent sensor is common.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07692" y="45079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546604" y="45628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107692" y="47365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546604" y="47914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107692" y="4965192"/>
            <a:ext cx="585216" cy="182880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546604" y="5020056"/>
            <a:ext cx="73152" cy="7315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Computer systems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IT and data-centre alerts: cut the alarm flood and say which alert actually matters.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Folded Corner 47"/>
          <p:cNvSpPr/>
          <p:nvPr/>
        </p:nvSpPr>
        <p:spPr>
          <a:xfrm>
            <a:off x="5884164" y="4507992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66460" y="4636008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966460" y="4745736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66460" y="4855464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966460" y="4965192"/>
            <a:ext cx="27432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Business rules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Insurance, lending or compliance checklists: find the case no rule covers, before a customer does.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459467" y="4654296"/>
            <a:ext cx="438912" cy="2926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916667" y="4764024"/>
            <a:ext cx="237744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532619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9953243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Fleets and logistics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Refrigerated trucks and delivery fleets: one small box per vehicle, no signal needed.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(3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Machines people trust with their lives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a dead sensor must never look like "all clear".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ff-page Connector 12"/>
          <p:cNvSpPr/>
          <p:nvPr/>
        </p:nvSpPr>
        <p:spPr>
          <a:xfrm>
            <a:off x="2144268" y="2313432"/>
            <a:ext cx="512064" cy="621792"/>
          </a:xfrm>
          <a:prstGeom prst="flowChartOffpageConnector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4268" y="2441448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Elevators and escalators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Door, brake and overspeed sensors: take it out of service, and tell the technician exactly why.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Chord 19"/>
          <p:cNvSpPr/>
          <p:nvPr/>
        </p:nvSpPr>
        <p:spPr>
          <a:xfrm rot="10800000">
            <a:off x="5847588" y="2313432"/>
            <a:ext cx="512064" cy="585216"/>
          </a:xfrm>
          <a:prstGeom prst="chord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1868" y="2715768"/>
            <a:ext cx="603504" cy="7315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39612" y="2788920"/>
            <a:ext cx="128016" cy="109728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Railway level crossings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Gates, lights and train detectors: a silent detector must never read as "no train coming".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ardrop 27"/>
          <p:cNvSpPr/>
          <p:nvPr/>
        </p:nvSpPr>
        <p:spPr>
          <a:xfrm rot="18900000">
            <a:off x="9624059" y="2313432"/>
            <a:ext cx="365760" cy="502920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2619" y="2843784"/>
            <a:ext cx="548640" cy="7315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Mines and road tunnels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Gas, airflow and fan sensors: when to ventilate, when to evacuate, and when the gas sensor is lying.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Gear 6 34"/>
          <p:cNvSpPr/>
          <p:nvPr/>
        </p:nvSpPr>
        <p:spPr>
          <a:xfrm>
            <a:off x="2107692" y="4544568"/>
            <a:ext cx="585216" cy="585216"/>
          </a:xfrm>
          <a:prstGeom prst="gear6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08860" y="4745736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Theme-park rides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Restraints, brakes and position sensors: the ride only starts when every check has positively passed.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Isosceles Triangle 41"/>
          <p:cNvSpPr/>
          <p:nvPr/>
        </p:nvSpPr>
        <p:spPr>
          <a:xfrm>
            <a:off x="5774436" y="4489704"/>
            <a:ext cx="658368" cy="310896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856732" y="4791456"/>
            <a:ext cx="493776" cy="34747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9612" y="4928616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Fire alarms in buildings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the cause-and-effect rules: every alarm zone opens the right doors and starts the right fans.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477755" y="4654296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11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081259" y="4764024"/>
            <a:ext cx="64008" cy="146304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Lightning Bolt 51"/>
          <p:cNvSpPr/>
          <p:nvPr/>
        </p:nvSpPr>
        <p:spPr>
          <a:xfrm>
            <a:off x="9660635" y="4681728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Hospital backup power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Generator start, fuel level and transfer switch: is the hospital really ready for a blackout?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(4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Food, farms and living things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a wrong call costs a harvest, a batch or a herd.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 rot="18900000">
            <a:off x="2199132" y="235000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Fish farms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Oxygen, temperature and aerators: a stuck oxygen probe can lose a whole pen overnight.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76188" y="2532888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 rot="19800000">
            <a:off x="5829300" y="2331720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 rot="1800000">
            <a:off x="6103620" y="2459736"/>
            <a:ext cx="274320" cy="164592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Wave 21"/>
          <p:cNvSpPr/>
          <p:nvPr/>
        </p:nvSpPr>
        <p:spPr>
          <a:xfrm>
            <a:off x="5756148" y="2825496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Greenhouses and vertical farms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Heat, humidity, CO2 and watering: act on the plants, not on a sensor that has dried out.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ardrop 27"/>
          <p:cNvSpPr/>
          <p:nvPr/>
        </p:nvSpPr>
        <p:spPr>
          <a:xfrm rot="18900000">
            <a:off x="9624059" y="2313432"/>
            <a:ext cx="365760" cy="502920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532619" y="2843784"/>
            <a:ext cx="548640" cy="73152"/>
          </a:xfrm>
          <a:prstGeom prst="rect">
            <a:avLst/>
          </a:prstGeom>
          <a:solidFill>
            <a:srgbClr val="5B6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Breweries and wineries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Fermentation temperature and pressure: cool, vent or hold the tank, with a record for every batch.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180844" y="4507992"/>
            <a:ext cx="438912" cy="640080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180844" y="4764024"/>
            <a:ext cx="43891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519172" y="4581144"/>
            <a:ext cx="36576" cy="1280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19172" y="4837176"/>
            <a:ext cx="36576" cy="1645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8-Point Star 38"/>
          <p:cNvSpPr/>
          <p:nvPr/>
        </p:nvSpPr>
        <p:spPr>
          <a:xfrm>
            <a:off x="2253996" y="4855464"/>
            <a:ext cx="201168" cy="201168"/>
          </a:xfrm>
          <a:prstGeom prst="star8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Dairies and milking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Milk cooling, wash cycles and tank temperature: never ship a batch after a missed wash.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076188" y="4745736"/>
            <a:ext cx="54864" cy="384048"/>
          </a:xfrm>
          <a:prstGeom prst="rect">
            <a:avLst/>
          </a:prstGeom>
          <a:solidFill>
            <a:srgbClr val="9240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 rot="19800000">
            <a:off x="5829300" y="4544568"/>
            <a:ext cx="274320" cy="16459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 rot="1800000">
            <a:off x="6103620" y="4672584"/>
            <a:ext cx="274320" cy="164592"/>
          </a:xfrm>
          <a:prstGeom prst="ellipse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Wave 47"/>
          <p:cNvSpPr/>
          <p:nvPr/>
        </p:nvSpPr>
        <p:spPr>
          <a:xfrm>
            <a:off x="5756148" y="5038344"/>
            <a:ext cx="694944" cy="128016"/>
          </a:xfrm>
          <a:prstGeom prst="wav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Grain silos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Temperature cables, moisture and fans: catch spoiling grain early, and the dust risk before it builds.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Folded Corner 53"/>
          <p:cNvSpPr/>
          <p:nvPr/>
        </p:nvSpPr>
        <p:spPr>
          <a:xfrm>
            <a:off x="9587483" y="4507992"/>
            <a:ext cx="438912" cy="603504"/>
          </a:xfrm>
          <a:prstGeom prst="foldedCorner">
            <a:avLst/>
          </a:prstGeom>
          <a:solidFill>
            <a:srgbClr val="FFFFFF"/>
          </a:solidFill>
          <a:ln w="25400">
            <a:solidFill>
              <a:srgbClr val="E11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669779" y="4636008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669779" y="4745736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669779" y="4855464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669779" y="4965192"/>
            <a:ext cx="274320" cy="36576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Food-safety plans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Check a kitchen or factory's food-safety rules: every hazard has a control, nothing contradicts.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BEYOND FACTORIES (5 OF 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Everyday services and rulebooks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Where people need a clear answer and a reason. Possibilities, not yet proven in the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965960"/>
            <a:ext cx="3520440" cy="64008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43100" y="2167128"/>
            <a:ext cx="914400" cy="914400"/>
          </a:xfrm>
          <a:prstGeom prst="ellipse">
            <a:avLst/>
          </a:prstGeom>
          <a:solidFill>
            <a:srgbClr val="DBEA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 rot="18900000">
            <a:off x="2199132" y="2350008"/>
            <a:ext cx="402336" cy="548640"/>
          </a:xfrm>
          <a:prstGeom prst="teardrop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Pools and water parks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Chlorine and acid dosing: never dose when the flow sensor is dead or the pump has stopped.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965960"/>
            <a:ext cx="35204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46420" y="2167128"/>
            <a:ext cx="914400" cy="914400"/>
          </a:xfrm>
          <a:prstGeom prst="ellipse">
            <a:avLst/>
          </a:prstGeom>
          <a:solidFill>
            <a:srgbClr val="D5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Gear 6 18"/>
          <p:cNvSpPr/>
          <p:nvPr/>
        </p:nvSpPr>
        <p:spPr>
          <a:xfrm>
            <a:off x="5811012" y="2331720"/>
            <a:ext cx="585216" cy="585216"/>
          </a:xfrm>
          <a:prstGeom prst="gear6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12180" y="2532888"/>
            <a:ext cx="182880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Wind and solar farms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Icing, vibration and grid faults: keep turning, slow down or stop, with the reason for the crew.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19" y="1965960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46719" y="1965960"/>
            <a:ext cx="3520440" cy="64008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49739" y="2167128"/>
            <a:ext cx="914400" cy="914400"/>
          </a:xfrm>
          <a:prstGeom prst="ellipse">
            <a:avLst/>
          </a:prstGeom>
          <a:solidFill>
            <a:srgbClr val="DCF5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477755" y="2441448"/>
            <a:ext cx="603504" cy="3657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2A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81259" y="2551176"/>
            <a:ext cx="64008" cy="146304"/>
          </a:xfrm>
          <a:prstGeom prst="rect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Lightning Bolt 27"/>
          <p:cNvSpPr/>
          <p:nvPr/>
        </p:nvSpPr>
        <p:spPr>
          <a:xfrm>
            <a:off x="9660635" y="2468880"/>
            <a:ext cx="274320" cy="31089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83879" y="3172968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Electric-vehicle chargers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3520440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Cable heat, ground faults and battery limits: charge, slow down or stop, explained.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178808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943100" y="4379976"/>
            <a:ext cx="914400" cy="914400"/>
          </a:xfrm>
          <a:prstGeom prst="ellipse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52828" y="4654296"/>
            <a:ext cx="438912" cy="29260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510028" y="4764024"/>
            <a:ext cx="237744" cy="182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125980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46604" y="4928616"/>
            <a:ext cx="146304" cy="146304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Aircraft and fleet upkeep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Maintenance checklists with exceptions: find the case where two rules disagree, before a mechanic does.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43400" y="4178808"/>
            <a:ext cx="3520440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646420" y="4379976"/>
            <a:ext cx="914400" cy="914400"/>
          </a:xfrm>
          <a:prstGeom prst="ellipse">
            <a:avLst/>
          </a:prstGeom>
          <a:solidFill>
            <a:srgbClr val="EAE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76188" y="4526280"/>
            <a:ext cx="54864" cy="56692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774436" y="4562856"/>
            <a:ext cx="658368" cy="457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Chord 44"/>
          <p:cNvSpPr/>
          <p:nvPr/>
        </p:nvSpPr>
        <p:spPr>
          <a:xfrm rot="10800000">
            <a:off x="5719572" y="4672584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ord 45"/>
          <p:cNvSpPr/>
          <p:nvPr/>
        </p:nvSpPr>
        <p:spPr>
          <a:xfrm rot="10800000">
            <a:off x="6249924" y="4672584"/>
            <a:ext cx="237744" cy="182880"/>
          </a:xfrm>
          <a:prstGeom prst="chord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39028" y="5074920"/>
            <a:ext cx="329184" cy="64008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60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Benefits and grants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80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Eligibility rules with exceptions: a missing document is "not yet known", never quietly "no".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19" y="4178808"/>
            <a:ext cx="3520440" cy="20574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46719" y="4178808"/>
            <a:ext cx="3520440" cy="64008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9739" y="4379976"/>
            <a:ext cx="914400" cy="914400"/>
          </a:xfrm>
          <a:prstGeom prst="ellipse">
            <a:avLst/>
          </a:prstGeom>
          <a:solidFill>
            <a:srgbClr val="FC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Isosceles Triangle 52"/>
          <p:cNvSpPr/>
          <p:nvPr/>
        </p:nvSpPr>
        <p:spPr>
          <a:xfrm>
            <a:off x="9477755" y="4489704"/>
            <a:ext cx="658368" cy="310896"/>
          </a:xfrm>
          <a:prstGeom prst="triangle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560051" y="4791456"/>
            <a:ext cx="493776" cy="347472"/>
          </a:xfrm>
          <a:prstGeom prst="rec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742931" y="4928616"/>
            <a:ext cx="128016" cy="2103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83879" y="5385816"/>
            <a:ext cx="3246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1">
                <a:solidFill>
                  <a:srgbClr val="1E293B"/>
                </a:solidFill>
                <a:latin typeface="Segoe UI"/>
              </a:rPr>
              <a:t>Smart homes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599" y="5733288"/>
            <a:ext cx="3154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</a:pPr>
            <a:r>
              <a:rPr sz="1050" b="0">
                <a:solidFill>
                  <a:srgbClr val="5B677D"/>
                </a:solidFill>
                <a:latin typeface="Segoe UI"/>
              </a:rPr>
              <a:t>Leak sensors and water shut-off valves: close the main before the basement floods, and say why.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A CLOSER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Example: checking a pharmacy's patient-flagging rules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A pharmacy system flags patients for review. quorum could check those rules, the way it checks a pump's.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31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731520" y="2057400"/>
            <a:ext cx="3840480" cy="960120"/>
          </a:xfrm>
          <a:prstGeom prst="wedgeRoundRectCallout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RULE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"Flag for kidney dosing if clearance is under 30."</a:t>
            </a:r>
          </a:p>
        </p:txBody>
      </p:sp>
      <p:sp>
        <p:nvSpPr>
          <p:cNvPr id="11" name="Rounded Rectangular Callout 10"/>
          <p:cNvSpPr/>
          <p:nvPr/>
        </p:nvSpPr>
        <p:spPr>
          <a:xfrm>
            <a:off x="731520" y="3246120"/>
            <a:ext cx="3840480" cy="96012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EXCEPTION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"...unless the patient is on dialysis."</a:t>
            </a:r>
          </a:p>
        </p:txBody>
      </p:sp>
      <p:sp>
        <p:nvSpPr>
          <p:cNvPr id="12" name="Rounded Rectangular Callout 11"/>
          <p:cNvSpPr/>
          <p:nvPr/>
        </p:nvSpPr>
        <p:spPr>
          <a:xfrm>
            <a:off x="731520" y="4434840"/>
            <a:ext cx="3840480" cy="960120"/>
          </a:xfrm>
          <a:prstGeom prst="wedgeRoundRectCallou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MISSING DATA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Segoe UI"/>
              </a:rPr>
              <a:t>"No lab result received yet."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09160" y="3429000"/>
            <a:ext cx="731520" cy="0"/>
          </a:xfrm>
          <a:prstGeom prst="line">
            <a:avLst/>
          </a:prstGeom>
          <a:ln w="38100">
            <a:solidFill>
              <a:srgbClr val="5B67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ross 13"/>
          <p:cNvSpPr/>
          <p:nvPr/>
        </p:nvSpPr>
        <p:spPr>
          <a:xfrm>
            <a:off x="5788152" y="3136392"/>
            <a:ext cx="585216" cy="585216"/>
          </a:xfrm>
          <a:prstGeom prst="plus">
            <a:avLst/>
          </a:prstGeom>
          <a:solidFill>
            <a:srgbClr val="E11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01168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2011680"/>
            <a:ext cx="68580" cy="10972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2267712"/>
            <a:ext cx="475488" cy="47548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226771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Gaps and overlaps found before go-live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292608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324612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9440" y="3246120"/>
            <a:ext cx="68580" cy="10972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23760" y="350215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0" y="356616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50215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"Assumed normal: no result received"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42048" y="416052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4480560"/>
            <a:ext cx="4572000" cy="109728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49440" y="4480560"/>
            <a:ext cx="68580" cy="109728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60" y="47365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0" y="48006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⚑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45552" y="4736592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Every flag explained, for audits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42048" y="5394960"/>
            <a:ext cx="3968496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69280"/>
            <a:ext cx="10908792" cy="64008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669280"/>
            <a:ext cx="82296" cy="64008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7552" y="5833872"/>
            <a:ext cx="1024128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It would only flag patients for a pharmacist to review, never decide treatment. Patient data stays inside the hospital.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HONEST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What quorum is not, and what it has not done yet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Saying this up front is part of what makes the rest believable.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11680"/>
            <a:ext cx="68580" cy="1645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" y="2267712"/>
            <a:ext cx="475488" cy="47548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26771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It does not predict the future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292608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It applies agreed rules to what it sees now. "Heart attack in 48 hours" needs a trained, proven model.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01168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011680"/>
            <a:ext cx="68580" cy="16459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46520" y="2267712"/>
            <a:ext cx="475488" cy="47548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33172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68312" y="226771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Not certified for safety-critical 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8" y="292608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Medical devices, cars or anything that could hurt someone would need formal certification first.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9476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3794760"/>
            <a:ext cx="68580" cy="1645920"/>
          </a:xfrm>
          <a:prstGeom prst="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4050792"/>
            <a:ext cx="475488" cy="475488"/>
          </a:xfrm>
          <a:prstGeom prst="roundRect">
            <a:avLst/>
          </a:prstGeom>
          <a:solidFill>
            <a:srgbClr val="6C4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1148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36192" y="405079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Learning is not proven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470916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Pre-registered tests showed real average gains, but not enough to clear every bar set in advance.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794760"/>
            <a:ext cx="5349240" cy="1645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4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68580" cy="1645920"/>
          </a:xfrm>
          <a:prstGeom prst="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46520" y="4050792"/>
            <a:ext cx="475488" cy="475488"/>
          </a:xfrm>
          <a:prstGeom prst="roundRect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114800"/>
            <a:ext cx="47548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4050792"/>
            <a:ext cx="4160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drafts still need a person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4709160"/>
            <a:ext cx="4745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0">
                <a:solidFill>
                  <a:srgbClr val="5B677D"/>
                </a:solidFill>
                <a:latin typeface="Segoe UI"/>
              </a:rPr>
              <a:t>On a real design standard the best AI draft got about 9 of 12 rules right. An engineer must approve.</a:t>
            </a:r>
          </a:p>
        </p:txBody>
      </p:sp>
      <p:sp>
        <p:nvSpPr>
          <p:cNvPr id="34" name="&quot;No&quot; Symbol 33"/>
          <p:cNvSpPr/>
          <p:nvPr/>
        </p:nvSpPr>
        <p:spPr>
          <a:xfrm>
            <a:off x="10607040" y="274320"/>
            <a:ext cx="777240" cy="777240"/>
          </a:xfrm>
          <a:prstGeom prst="noSmoking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5669280"/>
            <a:ext cx="10908792" cy="59436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669280"/>
            <a:ext cx="82296" cy="59436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5833872"/>
            <a:ext cx="10241280" cy="3566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It advises and decides inside a rulebook a person wrote and approved. It is a careful judge, not a fortune teller.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98448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98448"/>
            <a:ext cx="12191695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3774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Segoe UI"/>
              </a:rPr>
              <a:t>WHERE IT STANDS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Segoe UI"/>
              </a:rPr>
              <a:t>Built and tested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5B677D"/>
                </a:solidFill>
                <a:latin typeface="Segoe UI"/>
              </a:rPr>
              <a:t>October 2026.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B677D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5B677D"/>
                </a:solidFill>
                <a:latin typeface="Segoe UI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240280"/>
            <a:ext cx="54864" cy="3291840"/>
          </a:xfrm>
          <a:prstGeom prst="rect">
            <a:avLst/>
          </a:prstGeom>
          <a:solidFill>
            <a:srgbClr val="E4E9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112" y="204825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02996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Engine and checker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8483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Every-case checking, refusals, explanations, speed limit.</a:t>
            </a:r>
          </a:p>
        </p:txBody>
      </p:sp>
      <p:sp>
        <p:nvSpPr>
          <p:cNvPr id="14" name="Oval 13"/>
          <p:cNvSpPr/>
          <p:nvPr/>
        </p:nvSpPr>
        <p:spPr>
          <a:xfrm>
            <a:off x="896112" y="268833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67004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Desktop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72491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Edit, import worksheets, learn from records, write chip files. Windows installer.</a:t>
            </a:r>
          </a:p>
        </p:txBody>
      </p:sp>
      <p:sp>
        <p:nvSpPr>
          <p:cNvPr id="17" name="Oval 16"/>
          <p:cNvSpPr/>
          <p:nvPr/>
        </p:nvSpPr>
        <p:spPr>
          <a:xfrm>
            <a:off x="896112" y="332841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31012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Three boards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36499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Pico 2 and Uno R4 match the PC exactly; Pi 5 runs everything natively.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" y="3968496"/>
            <a:ext cx="548640" cy="548640"/>
          </a:xfrm>
          <a:prstGeom prst="ellipse">
            <a:avLst/>
          </a:prstGeom>
          <a:solidFill>
            <a:srgbClr val="22A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95020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guard, Modbus, proofs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0507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Checked on every situation; guard and Modbus reproduced on both chips.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608576"/>
            <a:ext cx="548640" cy="548640"/>
          </a:xfrm>
          <a:prstGeom prst="ellipse">
            <a:avLst/>
          </a:prstGeom>
          <a:solidFill>
            <a:srgbClr val="2E8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90288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1E293B"/>
                </a:solidFill>
                <a:latin typeface="Segoe UI"/>
              </a:rPr>
              <a:t>AI drafting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4645152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5B677D"/>
                </a:solidFill>
                <a:latin typeface="Segoe UI"/>
              </a:rPr>
              <a:t>Large AI models draft rulebooks from manuals; quorum checks them; a person approves.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852160"/>
            <a:ext cx="10908792" cy="457200"/>
          </a:xfrm>
          <a:prstGeom prst="round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852160"/>
            <a:ext cx="82296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6016752"/>
            <a:ext cx="10241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FFFFFF"/>
                </a:solidFill>
                <a:latin typeface="Segoe UI"/>
              </a:rPr>
              <a:t>Source available under the PolyForm Noncommercial licence. Commercial licences from BioDream LLC.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822960"/>
            <a:ext cx="2651760" cy="2651760"/>
          </a:xfrm>
          <a:prstGeom prst="ellipse">
            <a:avLst/>
          </a:prstGeom>
          <a:solidFill>
            <a:srgbClr val="222C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3749039"/>
            <a:ext cx="1920240" cy="1920240"/>
          </a:xfrm>
          <a:prstGeom prst="ellipse">
            <a:avLst/>
          </a:prstGeom>
          <a:solidFill>
            <a:srgbClr val="2C2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6012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B8A6"/>
                </a:solidFill>
                <a:latin typeface="Segoe UI"/>
              </a:rPr>
              <a:t>IN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595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A careful, honest judge</a:t>
            </a:r>
          </a:p>
          <a:p>
            <a:pPr algn="l">
              <a:lnSpc>
                <a:spcPct val="110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for machines and their rules.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099816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3017520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Rules in plain words, checked against every situation before they run.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3758183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675887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One clear answer, on time, with its reasons and its assumptions.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4416552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4334256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Small enough for an $11 chip; refuses anything it cannot trust.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5074920"/>
            <a:ext cx="118872" cy="118872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8" y="4992624"/>
            <a:ext cx="8778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400" b="0">
                <a:solidFill>
                  <a:srgbClr val="E4E9F2"/>
                </a:solidFill>
                <a:latin typeface="Segoe UI"/>
              </a:rPr>
              <a:t>Useful well beyond factories: lifts, rail, farms, food, water, energy, healthcare rules.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760720"/>
            <a:ext cx="6035040" cy="566928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925312"/>
            <a:ext cx="6035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41B34"/>
                </a:solidFill>
                <a:latin typeface="Segoe UI"/>
              </a:rPr>
              <a:t>quorum  ·  BioDream LLC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65433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065433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262381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2381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459329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59329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56276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56276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53224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53224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050172" y="2084832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050172" y="3474720"/>
            <a:ext cx="98473" cy="109728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57232" y="229303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247120" y="2293033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57232" y="248998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47120" y="2489981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57232" y="268692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247120" y="2686929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57232" y="288387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247120" y="2883876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57232" y="308082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247120" y="3080824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57232" y="327777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247120" y="3277772"/>
            <a:ext cx="109728" cy="98473"/>
          </a:xfrm>
          <a:prstGeom prst="rect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966960" y="2194560"/>
            <a:ext cx="128016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049256" y="2276856"/>
            <a:ext cx="100584" cy="100584"/>
          </a:xfrm>
          <a:prstGeom prst="ellipse">
            <a:avLst/>
          </a:prstGeom>
          <a:solidFill>
            <a:srgbClr val="374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quorum</a:t>
            </a:r>
          </a:p>
        </p:txBody>
      </p:sp>
      <p:sp>
        <p:nvSpPr>
          <p:cNvPr id="45" name="Off-page Connector 44"/>
          <p:cNvSpPr/>
          <p:nvPr/>
        </p:nvSpPr>
        <p:spPr>
          <a:xfrm>
            <a:off x="10351008" y="4261104"/>
            <a:ext cx="512064" cy="621792"/>
          </a:xfrm>
          <a:prstGeom prst="flowChartOffpageConnector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51008" y="4389120"/>
            <a:ext cx="512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